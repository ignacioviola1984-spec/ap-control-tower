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cfo-office-demo-597507822266.us-central1.run.app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515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SALES PITCH · DE CUENTAS A PAGAR AL CFO OFFICE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Control Tower – Brand Up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" y="260604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primer módulo de un CFO Office con agentes de IA: hoy ordena tus cuentas a pagar; mañana el cierre, la caja y el reporte al directorio.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3794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facturas dispersas en el correo a pagos controlados, trazables y listos para el banco, con cada decisión importante firmada por tu equipo. La misma base se extiende módulo a módulo: cobros, tesorería, cierre mensual y Board Pack.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5029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ejecutable · PoC con facturas reales · evidencia medida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Control Tower · Roadmap → CFO Office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Empezamos por tus facturas. Terminamos con finanzas corriendo sola, con tu equipo al mando.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Control Tower · Roadmap → CFO Office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144475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sistema que crece por módulos: cada módulo paga el siguiente.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783080"/>
            <a:ext cx="5212080" cy="4206240"/>
          </a:xfrm>
          <a:prstGeom prst="roundRect">
            <a:avLst>
              <a:gd name="adj" fmla="val 1957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" y="1929384"/>
            <a:ext cx="4919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· Módulo 1 en marcha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9224" y="2221992"/>
            <a:ext cx="4919472" cy="3675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5800" y="2331720"/>
            <a:ext cx="4846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Control Tower
</a:t>
            </a:r>
            <a:endParaRPr lang="en-US" sz="2000" dirty="0"/>
          </a:p>
          <a:p>
            <a:pPr indent="0" marL="0">
              <a:buNone/>
            </a:pPr>
            <a:r>
              <a:rPr lang="en-US" sz="12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Facturas que llegan por email y salen como pagos aprobados, trazables y listos para importar al ERP.
</a:t>
            </a:r>
            <a:endParaRPr lang="en-US" sz="2000" dirty="0"/>
          </a:p>
          <a:p>
            <a:pPr indent="0" marL="0">
              <a:buNone/>
            </a:pPr>
            <a:r>
              <a:rPr lang="en-US" sz="12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Funcionando con facturas reales del negocio
</a:t>
            </a:r>
            <a:endParaRPr lang="en-US" sz="2000" dirty="0"/>
          </a:p>
          <a:p>
            <a:pPr indent="0" marL="0">
              <a:buNone/>
            </a:pPr>
            <a:r>
              <a:rPr lang="en-US" sz="12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Calidad medida contra 106 documentos etiquetados
</a:t>
            </a:r>
            <a:endParaRPr lang="en-US" sz="2000" dirty="0"/>
          </a:p>
          <a:p>
            <a:pPr indent="0" marL="0">
              <a:buNone/>
            </a:pPr>
            <a:r>
              <a:rPr lang="en-US" sz="12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Integración diseñada con Sage, Zoho y Banco Sabadell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806440" y="3566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6446520" y="1783080"/>
            <a:ext cx="5212080" cy="4206240"/>
          </a:xfrm>
          <a:prstGeom prst="roundRect">
            <a:avLst>
              <a:gd name="adj" fmla="val 1957"/>
            </a:avLst>
          </a:prstGeom>
          <a:solidFill>
            <a:srgbClr val="122740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92824" y="1929384"/>
            <a:ext cx="4919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MAÑANA · La visión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92824" y="2221992"/>
            <a:ext cx="4919472" cy="3675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629400" y="2331720"/>
            <a:ext cx="4846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 Office multi-agente
</a:t>
            </a:r>
            <a:endParaRPr lang="en-US" sz="2000" dirty="0"/>
          </a:p>
          <a:p>
            <a:pPr indent="0" marL="0">
              <a:buNone/>
            </a:pPr>
            <a:r>
              <a:rPr lang="en-US" sz="12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equipo de agentes especialistas que opera el departamento de finanzas de punta a punta, con firma humana en cada gate.
</a:t>
            </a:r>
            <a:endParaRPr lang="en-US" sz="2000" dirty="0"/>
          </a:p>
          <a:p>
            <a:pPr indent="0" marL="0">
              <a:buNone/>
            </a:pPr>
            <a:r>
              <a:rPr lang="en-US" sz="12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Cobros, tesorería, cierre mensual, reporting y Board Pack
</a:t>
            </a:r>
            <a:endParaRPr lang="en-US" sz="2000" dirty="0"/>
          </a:p>
          <a:p>
            <a:pPr indent="0" marL="0">
              <a:buNone/>
            </a:pPr>
            <a:r>
              <a:rPr lang="en-US" sz="12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Ya existe como modelo operativo demo, verificado contra datos auditados reales
</a:t>
            </a:r>
            <a:endParaRPr lang="en-US" sz="2000" dirty="0"/>
          </a:p>
          <a:p>
            <a:pPr indent="0" marL="0">
              <a:buNone/>
            </a:pPr>
            <a:r>
              <a:rPr lang="en-US" sz="12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Misma base, mismos principios: se agrega, no se reconstruye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PARTIDA · OPERACIÓN ACTUAL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proceso hoy: correcto, pero fragmentado en personas y herramientas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volumen es manejable; el costo está en la evidencia dispersa y el control tardío.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Control Tower · Roadmap → CFO Office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3566160" cy="1874520"/>
          </a:xfrm>
          <a:prstGeom prst="roundRect">
            <a:avLst>
              <a:gd name="adj" fmla="val 4390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" y="195681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9224" y="2304288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Facturas por e-mail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9224" y="2596896"/>
            <a:ext cx="327355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principal actual y punto natural para iniciar la integración.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79392" y="1828800"/>
            <a:ext cx="3566160" cy="1874520"/>
          </a:xfrm>
          <a:prstGeom prst="roundRect">
            <a:avLst>
              <a:gd name="adj" fmla="val 4390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25696" y="195681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425696" y="2304288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 y revisión manual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25696" y="2596896"/>
            <a:ext cx="327355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documento exige lectura, búsqueda y clasificación.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55864" y="1828800"/>
            <a:ext cx="3566160" cy="1874520"/>
          </a:xfrm>
          <a:prstGeom prst="roundRect">
            <a:avLst>
              <a:gd name="adj" fmla="val 4390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02168" y="195681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202168" y="2304288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Recarga en Sage y Excel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02168" y="2596896"/>
            <a:ext cx="327355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se trasladan entre herramientas con validaciones manuales.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3931920"/>
            <a:ext cx="3566160" cy="1874520"/>
          </a:xfrm>
          <a:prstGeom prst="roundRect">
            <a:avLst>
              <a:gd name="adj" fmla="val 4390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" y="40599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9224" y="4407408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Aprobaciones por mensajes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9224" y="4700016"/>
            <a:ext cx="327355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Excepciones y decisiones quedan repartidas en conversaciones.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279392" y="3931920"/>
            <a:ext cx="3566160" cy="1874520"/>
          </a:xfrm>
          <a:prstGeom prst="roundRect">
            <a:avLst>
              <a:gd name="adj" fmla="val 4390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25696" y="40599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425696" y="4407408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 para el banco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425696" y="4700016"/>
            <a:ext cx="327355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control final ocurre cerca del pago y la evidencia se reconstruye.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055864" y="3931920"/>
            <a:ext cx="3566160" cy="1874520"/>
          </a:xfrm>
          <a:prstGeom prst="roundRect">
            <a:avLst>
              <a:gd name="adj" fmla="val 4390"/>
            </a:avLst>
          </a:prstGeom>
          <a:solidFill>
            <a:srgbClr val="113048"/>
          </a:solidFill>
          <a:ln w="9525">
            <a:solidFill>
              <a:srgbClr val="2A5B7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02168" y="4078224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oportunidad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202168" y="4370832"/>
            <a:ext cx="3273552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Controlar mejor sin forzar un cambio brusco del circuito ni quitar autoridad al equipo.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CONTROL TOWER · FLUJO END-TO-END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factura a una obligación aprobada y auditable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con evidencia arriba · gobierno y decisión humana abajo.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Control Tower · Roadmap → CFO Office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1874520"/>
            <a:ext cx="2697480" cy="1554480"/>
          </a:xfrm>
          <a:prstGeom prst="roundRect">
            <a:avLst>
              <a:gd name="adj" fmla="val 5294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" y="20025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9224" y="2350008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Recepción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9224" y="2642616"/>
            <a:ext cx="2404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· bandeja AP · PDF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56432" y="1874520"/>
            <a:ext cx="2697480" cy="1554480"/>
          </a:xfrm>
          <a:prstGeom prst="roundRect">
            <a:avLst>
              <a:gd name="adj" fmla="val 5294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02736" y="20025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02736" y="2350008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Extracción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02736" y="2642616"/>
            <a:ext cx="2404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documental + evidencia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9944" y="1874520"/>
            <a:ext cx="2697480" cy="1554480"/>
          </a:xfrm>
          <a:prstGeom prst="roundRect">
            <a:avLst>
              <a:gd name="adj" fmla="val 5294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56248" y="20025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556248" y="2350008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56248" y="2642616"/>
            <a:ext cx="2404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 · sin OC · anticipos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363456" y="1874520"/>
            <a:ext cx="2697480" cy="1554480"/>
          </a:xfrm>
          <a:prstGeom prst="roundRect">
            <a:avLst>
              <a:gd name="adj" fmla="val 5294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09760" y="20025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509760" y="2350008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509760" y="2642616"/>
            <a:ext cx="2404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+ alertas duras/blandas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3703320"/>
            <a:ext cx="2697480" cy="1554480"/>
          </a:xfrm>
          <a:prstGeom prst="roundRect">
            <a:avLst>
              <a:gd name="adj" fmla="val 5294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" y="38313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9224" y="4178808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9224" y="4471416"/>
            <a:ext cx="2404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Obligación + trazabilidad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456432" y="3703320"/>
            <a:ext cx="2697480" cy="1554480"/>
          </a:xfrm>
          <a:prstGeom prst="roundRect">
            <a:avLst>
              <a:gd name="adj" fmla="val 5294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02736" y="38313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602736" y="4178808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Aprobación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602736" y="4471416"/>
            <a:ext cx="2404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humana obligatoria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409944" y="3703320"/>
            <a:ext cx="2697480" cy="1554480"/>
          </a:xfrm>
          <a:prstGeom prst="roundRect">
            <a:avLst>
              <a:gd name="adj" fmla="val 5294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56248" y="38313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556248" y="4178808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Doble control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556248" y="4471416"/>
            <a:ext cx="2404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maker-checker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9363456" y="3703320"/>
            <a:ext cx="2697480" cy="1554480"/>
          </a:xfrm>
          <a:prstGeom prst="roundRect">
            <a:avLst>
              <a:gd name="adj" fmla="val 5294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509760" y="38313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509760" y="4178808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509760" y="4471416"/>
            <a:ext cx="2404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campos inciertos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227832" y="2514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 rot="10800000">
            <a:off x="3227832" y="4343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181344" y="2514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 rot="10800000">
            <a:off x="6181344" y="4343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134856" y="2514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 rot="10800000">
            <a:off x="9134856" y="4343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 rot="5400000">
            <a:off x="11109960" y="3520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502920" y="562356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Integra: maestro de Sage (lectura) · archivo en Zoho WorkDrive · BI en Zoho Analytics · remesa SEPA vía Sage → firma en Banco Sabadell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Medido, no prometido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versión se evalúa contra un banco de pruebas con resultado esperado definido a mano. Ningún cambio se despliega si empeora las métricas.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Control Tower · Roadmap → CFO Office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1874520"/>
            <a:ext cx="5440680" cy="1737360"/>
          </a:xfrm>
          <a:prstGeom prst="roundRect">
            <a:avLst>
              <a:gd name="adj" fmla="val 4737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5740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9,2%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2834640" y="216712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derivado a revisión humana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834640" y="27432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88% en la primera versión: el equipo revisa excepciones, no facturas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0" y="1874520"/>
            <a:ext cx="5440680" cy="1737360"/>
          </a:xfrm>
          <a:prstGeom prst="roundRect">
            <a:avLst>
              <a:gd name="adj" fmla="val 4737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205740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96,2%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8549640" y="216712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exactitud de extracción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549640" y="27432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 campo por campo contra 106 documentos etiquetados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3840480"/>
            <a:ext cx="5440680" cy="1737360"/>
          </a:xfrm>
          <a:prstGeom prst="roundRect">
            <a:avLst>
              <a:gd name="adj" fmla="val 4737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02336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2834640" y="413308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riesgo de pago escapados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2834640" y="47091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documento que debía frenarse, se frenó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17920" y="3840480"/>
            <a:ext cx="5440680" cy="1737360"/>
          </a:xfrm>
          <a:prstGeom prst="roundRect">
            <a:avLst>
              <a:gd name="adj" fmla="val 4737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402336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8549640" y="413308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en el banco de pruebas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549640" y="47091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reales + públicos + casos diseñados para fallar (fraude, duplicados)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" y="580644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evidencia vive dentro del producto: la pestaña “Calidad medida” muestra el método, las métricas y el ciclo de mejora de cada versión.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PRINCIPIOS DE DISEÑO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agente nunca mueve dinero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vendés esto, vendés confianza operativa: cuatro decisiones humanas gobiernan el circuito.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Control Tower · Roadmap → CFO Office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2697480" cy="2286000"/>
          </a:xfrm>
          <a:prstGeom prst="roundRect">
            <a:avLst>
              <a:gd name="adj" fmla="val 3600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" y="2066544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1  Revisión de excepciones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9224" y="2359152"/>
            <a:ext cx="2404872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llegan a una persona los documentos que exigen juicio: el resto fluye.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56432" y="1920240"/>
            <a:ext cx="2697480" cy="2286000"/>
          </a:xfrm>
          <a:prstGeom prst="roundRect">
            <a:avLst>
              <a:gd name="adj" fmla="val 3600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02736" y="2066544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2  Aprobación de pago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602736" y="2359152"/>
            <a:ext cx="2404872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Nombre, decisión y timestamp. Nada entra a una propuesta sin firma.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9944" y="1920240"/>
            <a:ext cx="2697480" cy="2286000"/>
          </a:xfrm>
          <a:prstGeom prst="roundRect">
            <a:avLst>
              <a:gd name="adj" fmla="val 3600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56248" y="2066544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3  Importación al ERP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56248" y="2359152"/>
            <a:ext cx="2404872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propuesta entra a Sage por el canal oficial, operada por el equipo.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363456" y="1920240"/>
            <a:ext cx="2697480" cy="2286000"/>
          </a:xfrm>
          <a:prstGeom prst="roundRect">
            <a:avLst>
              <a:gd name="adj" fmla="val 3600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09760" y="2066544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4  Autorización en el banco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509760" y="2359152"/>
            <a:ext cx="2404872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dinero solo se mueve cuando una persona firma la remesa en Sabadell.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4526280"/>
            <a:ext cx="5486400" cy="1463040"/>
          </a:xfrm>
          <a:prstGeom prst="roundRect">
            <a:avLst>
              <a:gd name="adj" fmla="val 5625"/>
            </a:avLst>
          </a:prstGeom>
          <a:solidFill>
            <a:srgbClr val="122740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" y="4672584"/>
            <a:ext cx="5193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queda registrado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9224" y="4965192"/>
            <a:ext cx="51937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encadenado: cada control, decisión y cambio, reconstruible de punta a punta.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72200" y="4526280"/>
            <a:ext cx="5486400" cy="1463040"/>
          </a:xfrm>
          <a:prstGeom prst="roundRect">
            <a:avLst>
              <a:gd name="adj" fmla="val 5625"/>
            </a:avLst>
          </a:prstGeom>
          <a:solidFill>
            <a:srgbClr val="122740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18504" y="4672584"/>
            <a:ext cx="5193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controles fallan cerrado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18504" y="4965192"/>
            <a:ext cx="51937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 una alerta dura (IBAN distinto del maestro, duplicado, OC sin saldo) el sistema se auto-bloquea.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 OFFICE · SHARED STATE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crea los primeros objetos de un estado financiero compartido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estado se reutiliza en AR, cash, cierre, reporting y Board Pack: por eso no se reconstruye nada.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Control Tower · Roadmap → CFO Office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1874520"/>
            <a:ext cx="3566160" cy="1783080"/>
          </a:xfrm>
          <a:prstGeom prst="roundRect">
            <a:avLst>
              <a:gd name="adj" fmla="val 4615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" y="20025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9224" y="2350008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9224" y="2642616"/>
            <a:ext cx="327355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Identidad, condiciones y maestro vigente.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79392" y="1874520"/>
            <a:ext cx="3566160" cy="1783080"/>
          </a:xfrm>
          <a:prstGeom prst="roundRect">
            <a:avLst>
              <a:gd name="adj" fmla="val 4615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25696" y="20025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425696" y="2350008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25696" y="2642616"/>
            <a:ext cx="327355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Documento, campos, evidencia y estado.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55864" y="1874520"/>
            <a:ext cx="3566160" cy="1783080"/>
          </a:xfrm>
          <a:prstGeom prst="roundRect">
            <a:avLst>
              <a:gd name="adj" fmla="val 4615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02168" y="20025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202168" y="2350008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 o contrato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02168" y="2642616"/>
            <a:ext cx="327355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Compromiso, saldo y autorización.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3886200"/>
            <a:ext cx="3566160" cy="1783080"/>
          </a:xfrm>
          <a:prstGeom prst="roundRect">
            <a:avLst>
              <a:gd name="adj" fmla="val 4615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" y="401421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9224" y="4361688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Excepción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9224" y="4654296"/>
            <a:ext cx="327355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Motivo, responsable, decisión y timestamp.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279392" y="3886200"/>
            <a:ext cx="3566160" cy="1783080"/>
          </a:xfrm>
          <a:prstGeom prst="roundRect">
            <a:avLst>
              <a:gd name="adj" fmla="val 4615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25696" y="401421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425696" y="4361688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Obligación de pago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425696" y="4654296"/>
            <a:ext cx="327355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Importe, vencimiento, aprobación y condición.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055864" y="3886200"/>
            <a:ext cx="3566160" cy="1783080"/>
          </a:xfrm>
          <a:prstGeom prst="roundRect">
            <a:avLst>
              <a:gd name="adj" fmla="val 4615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02168" y="401421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202168" y="4361688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202168" y="4654296"/>
            <a:ext cx="327355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Controles, cambios y sign-offs encadenados.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CFO OFFICE · ROADMAP MODULAR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módulo suma valor sin reconstruir la base financiera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módulos 2 a 7 ya existen como modelo operativo demostrable, verificado contra datos auditados reales.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Control Tower · Roadmap → CFO Office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1874520"/>
            <a:ext cx="2697480" cy="1554480"/>
          </a:xfrm>
          <a:prstGeom prst="roundRect">
            <a:avLst>
              <a:gd name="adj" fmla="val 5294"/>
            </a:avLst>
          </a:prstGeom>
          <a:solidFill>
            <a:srgbClr val="113048"/>
          </a:solidFill>
          <a:ln w="9525">
            <a:solidFill>
              <a:srgbClr val="2A5B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" y="20025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AHORA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9224" y="2350008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Control Tower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9224" y="2642616"/>
            <a:ext cx="2404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→ obligación gobernada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56432" y="1874520"/>
            <a:ext cx="2697480" cy="1554480"/>
          </a:xfrm>
          <a:prstGeom prst="roundRect">
            <a:avLst>
              <a:gd name="adj" fmla="val 5294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02736" y="20025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02736" y="2350008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/ O2C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02736" y="2642616"/>
            <a:ext cx="2404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→ cobro → cash app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9944" y="1874520"/>
            <a:ext cx="2697480" cy="1554480"/>
          </a:xfrm>
          <a:prstGeom prst="roundRect">
            <a:avLst>
              <a:gd name="adj" fmla="val 5294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56248" y="20025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556248" y="2350008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&amp; Treasury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56248" y="2642616"/>
            <a:ext cx="2404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Posición + forecast + propuestas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363456" y="1874520"/>
            <a:ext cx="2697480" cy="1554480"/>
          </a:xfrm>
          <a:prstGeom prst="roundRect">
            <a:avLst>
              <a:gd name="adj" fmla="val 5294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09760" y="20025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509760" y="2350008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Month-End Close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509760" y="2642616"/>
            <a:ext cx="2404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→ close → reconcile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3703320"/>
            <a:ext cx="2697480" cy="1554480"/>
          </a:xfrm>
          <a:prstGeom prst="roundRect">
            <a:avLst>
              <a:gd name="adj" fmla="val 5294"/>
            </a:avLst>
          </a:prstGeom>
          <a:solidFill>
            <a:srgbClr val="113048"/>
          </a:solidFill>
          <a:ln w="9525">
            <a:solidFill>
              <a:srgbClr val="2A5B7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" y="38313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VISIÓN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9224" y="4178808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Finance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9224" y="4471416"/>
            <a:ext cx="2404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state + audit trail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456432" y="3703320"/>
            <a:ext cx="2697480" cy="1554480"/>
          </a:xfrm>
          <a:prstGeom prst="roundRect">
            <a:avLst>
              <a:gd name="adj" fmla="val 5294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02736" y="38313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602736" y="4178808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 Orchestrator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602736" y="4471416"/>
            <a:ext cx="2404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· controla · coordina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409944" y="3703320"/>
            <a:ext cx="2697480" cy="1554480"/>
          </a:xfrm>
          <a:prstGeom prst="roundRect">
            <a:avLst>
              <a:gd name="adj" fmla="val 5294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56248" y="38313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556248" y="4178808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Pack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556248" y="4471416"/>
            <a:ext cx="2404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Narrativa + evidencia gobernada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9363456" y="3703320"/>
            <a:ext cx="2697480" cy="1554480"/>
          </a:xfrm>
          <a:prstGeom prst="roundRect">
            <a:avLst>
              <a:gd name="adj" fmla="val 5294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509760" y="38313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509760" y="4178808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509760" y="4471416"/>
            <a:ext cx="2404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+ management view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227832" y="2514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 rot="10800000">
            <a:off x="3227832" y="4343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181344" y="2514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 rot="10800000">
            <a:off x="6181344" y="4343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134856" y="2514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 rot="10800000">
            <a:off x="9134856" y="4343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 rot="5400000">
            <a:off x="11109960" y="3520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502920" y="562356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del modelo demo: 22/22 números del cierre · 48/48 tests del control tower de cobros · 17/17 contra estados financieros auditados de una empresa listada (SEC).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 COMERCIAL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vende: entrar por AP, crecer por módulos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es la puerta de entrada porque duele en todas las empresas, se implementa en semanas y demuestra el modelo completo.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Control Tower · Roadmap → CFO Office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11155680" cy="1234440"/>
          </a:xfrm>
          <a:prstGeom prst="roundRect">
            <a:avLst>
              <a:gd name="adj" fmla="val 6667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" y="1975104"/>
            <a:ext cx="10863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1-2 · Pilot con lote controlado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9224" y="2267712"/>
            <a:ext cx="1086307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sube SUS facturas al PoC y ve extracción, controles y excepciones sobre su propia operación. Evidencia, no promesas.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3246120"/>
            <a:ext cx="11155680" cy="1234440"/>
          </a:xfrm>
          <a:prstGeom prst="roundRect">
            <a:avLst>
              <a:gd name="adj" fmla="val 6667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" y="3392424"/>
            <a:ext cx="10863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3-6 · Módulo 1 productivo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9224" y="3685032"/>
            <a:ext cx="1086307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Ingesta por email, controles contra su maestro, aprobaciones y propuesta lista para su ERP y su banco.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4663440"/>
            <a:ext cx="11155680" cy="1234440"/>
          </a:xfrm>
          <a:prstGeom prst="roundRect">
            <a:avLst>
              <a:gd name="adj" fmla="val 6667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" y="4809744"/>
            <a:ext cx="10863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2+ · Expansión natural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9224" y="5102352"/>
            <a:ext cx="1086307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estado compartido ya creado, cada módulo siguiente (AR, cash, cierre) se apoya en lo construido y se vende con los resultados del anterior.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612648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necesita un cliente para arrancar: una casilla de email de AP, acceso de lectura a su maestro de proveedores, y un responsable que apruebe. Nada de su ERP se toca.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1887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600200"/>
            <a:ext cx="10789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módulo 1 ya funciona.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visión ya es demostrable.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sigue es elegir el primer cliente.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3977640"/>
            <a:ext cx="3611880" cy="1737360"/>
          </a:xfrm>
          <a:prstGeom prst="roundRect">
            <a:avLst>
              <a:gd name="adj" fmla="val 4737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410565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86384" y="4453128"/>
            <a:ext cx="3319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el primer cliente externo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6384" y="4745736"/>
            <a:ext cx="33192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ideal: 30+ facturas/mes, proceso por email, ERP Sage o similar.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80560" y="3977640"/>
            <a:ext cx="3611880" cy="1737360"/>
          </a:xfrm>
          <a:prstGeom prst="roundRect">
            <a:avLst>
              <a:gd name="adj" fmla="val 4737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26864" y="410565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626864" y="4453128"/>
            <a:ext cx="3319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con sus facturas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26864" y="4745736"/>
            <a:ext cx="33192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lote controlado en el PoC: la decisión se toma viendo su propia operación.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321040" y="3977640"/>
            <a:ext cx="3611880" cy="1737360"/>
          </a:xfrm>
          <a:prstGeom prst="roundRect">
            <a:avLst>
              <a:gd name="adj" fmla="val 4737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67344" y="410565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467344" y="4453128"/>
            <a:ext cx="3319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del Módulo 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467344" y="4745736"/>
            <a:ext cx="33192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4-6 semanas hasta operación asistida, con métricas medidas desde el día uno.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59436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 vivo:  </a:t>
            </a:r>
            <a:pPr indent="0" marL="0">
              <a:buNone/>
            </a:pPr>
            <a:r>
              <a:rPr lang="en-US" sz="1250" b="1" u="sng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CFO Office multi-agente</a:t>
            </a:r>
            <a:pPr indent="0" marL="0">
              <a:buNone/>
            </a:pPr>
            <a:r>
              <a:rPr lang="en-US" sz="1100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La primera carga puede demorar ~30 segundos.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Control Tower · Roadmap → CFO Office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APENDICE A · BRAND 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Control Tower: diagrama de flujo end-to-end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Control Tower · Roadmap → CFO Office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113385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la ingesta de la factura hasta el pago ejecutado y conciliado.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indent="0" marL="0">
              <a:buNone/>
            </a:pPr>
            <a:r>
              <a:rPr lang="en-US" sz="9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Tower (existente)    </a:t>
            </a:r>
            <a:pPr indent="0" marL="0">
              <a:buNone/>
            </a:pPr>
            <a:r>
              <a:rPr lang="en-US" sz="1000" dirty="0">
                <a:solidFill>
                  <a:srgbClr val="35C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indent="0" marL="0">
              <a:buNone/>
            </a:pPr>
            <a:r>
              <a:rPr lang="en-US" sz="9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Zoho (nuevo / propuesto)    </a:t>
            </a:r>
            <a:pPr indent="0" marL="0">
              <a:buNone/>
            </a:pPr>
            <a:r>
              <a:rPr lang="en-US" sz="1000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indent="0" marL="0">
              <a:buNone/>
            </a:pPr>
            <a:r>
              <a:rPr lang="en-US" sz="9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 y banco (externos)    </a:t>
            </a:r>
            <a:pPr indent="0" marL="0">
              <a:buNone/>
            </a:pPr>
            <a:r>
              <a:rPr lang="en-US" sz="10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9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humano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691640"/>
            <a:ext cx="2157984" cy="3200400"/>
          </a:xfrm>
          <a:prstGeom prst="roundRect">
            <a:avLst>
              <a:gd name="adj" fmla="val 3390"/>
            </a:avLst>
          </a:prstGeom>
          <a:solidFill>
            <a:srgbClr val="0E2036"/>
          </a:solidFill>
          <a:ln w="12700">
            <a:solidFill>
              <a:srgbClr val="1C35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88920" y="1691640"/>
            <a:ext cx="2157984" cy="3200400"/>
          </a:xfrm>
          <a:prstGeom prst="roundRect">
            <a:avLst>
              <a:gd name="adj" fmla="val 3390"/>
            </a:avLst>
          </a:prstGeom>
          <a:solidFill>
            <a:srgbClr val="0E2036"/>
          </a:solidFill>
          <a:ln w="12700">
            <a:solidFill>
              <a:srgbClr val="6EC0D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66360" y="1691640"/>
            <a:ext cx="2157984" cy="3200400"/>
          </a:xfrm>
          <a:prstGeom prst="roundRect">
            <a:avLst>
              <a:gd name="adj" fmla="val 3390"/>
            </a:avLst>
          </a:prstGeom>
          <a:solidFill>
            <a:srgbClr val="0E2036"/>
          </a:solidFill>
          <a:ln w="12700">
            <a:solidFill>
              <a:srgbClr val="1C35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543800" y="1691640"/>
            <a:ext cx="2157984" cy="3200400"/>
          </a:xfrm>
          <a:prstGeom prst="roundRect">
            <a:avLst>
              <a:gd name="adj" fmla="val 3390"/>
            </a:avLst>
          </a:prstGeom>
          <a:solidFill>
            <a:srgbClr val="0E2036"/>
          </a:solidFill>
          <a:ln w="12700">
            <a:solidFill>
              <a:srgbClr val="1C35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921240" y="1691640"/>
            <a:ext cx="2157984" cy="3200400"/>
          </a:xfrm>
          <a:prstGeom prst="roundRect">
            <a:avLst>
              <a:gd name="adj" fmla="val 3390"/>
            </a:avLst>
          </a:prstGeom>
          <a:solidFill>
            <a:srgbClr val="0E2036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51176" y="3154680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28616" y="3154680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06056" y="3154680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683496" y="3154680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2920" y="1783080"/>
            <a:ext cx="292608" cy="256032"/>
          </a:xfrm>
          <a:prstGeom prst="roundRect">
            <a:avLst>
              <a:gd name="adj" fmla="val 1785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1783080"/>
            <a:ext cx="1609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INGESTA DE FACTURA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" y="2331720"/>
            <a:ext cx="18836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
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principal de facturas.
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en modo solo lectura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880360" y="1783080"/>
            <a:ext cx="292608" cy="256032"/>
          </a:xfrm>
          <a:prstGeom prst="roundRect">
            <a:avLst>
              <a:gd name="adj" fmla="val 1785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46120" y="1783080"/>
            <a:ext cx="1609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CONTROL TOWER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898648" y="2194560"/>
            <a:ext cx="1938528" cy="429768"/>
          </a:xfrm>
          <a:prstGeom prst="roundRect">
            <a:avLst>
              <a:gd name="adj" fmla="val 10638"/>
            </a:avLst>
          </a:prstGeom>
          <a:solidFill>
            <a:srgbClr val="122740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71800" y="2194560"/>
            <a:ext cx="179222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Extracción
</a:t>
            </a:r>
            <a:endParaRPr lang="en-US" sz="950" dirty="0"/>
          </a:p>
          <a:p>
            <a:pPr indent="0" marL="0">
              <a:buNone/>
            </a:pPr>
            <a:r>
              <a:rPr lang="en-US" sz="8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documental + confianza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898648" y="2670048"/>
            <a:ext cx="1938528" cy="429768"/>
          </a:xfrm>
          <a:prstGeom prst="roundRect">
            <a:avLst>
              <a:gd name="adj" fmla="val 10638"/>
            </a:avLst>
          </a:prstGeom>
          <a:solidFill>
            <a:srgbClr val="122740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71800" y="2670048"/>
            <a:ext cx="179222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
</a:t>
            </a:r>
            <a:endParaRPr lang="en-US" sz="950" dirty="0"/>
          </a:p>
          <a:p>
            <a:pPr indent="0" marL="0">
              <a:buNone/>
            </a:pPr>
            <a:r>
              <a:rPr lang="en-US" sz="8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Validaciones determinísticas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898648" y="3145536"/>
            <a:ext cx="1938528" cy="429768"/>
          </a:xfrm>
          <a:prstGeom prst="roundRect">
            <a:avLst>
              <a:gd name="adj" fmla="val 10638"/>
            </a:avLst>
          </a:prstGeom>
          <a:solidFill>
            <a:srgbClr val="122740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71800" y="3145536"/>
            <a:ext cx="179222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Revisión humana
</a:t>
            </a:r>
            <a:endParaRPr lang="en-US" sz="950" dirty="0"/>
          </a:p>
          <a:p>
            <a:pPr indent="0" marL="0">
              <a:buNone/>
            </a:pPr>
            <a:r>
              <a:rPr lang="en-US" sz="8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excepciones reales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898648" y="3621024"/>
            <a:ext cx="1938528" cy="429768"/>
          </a:xfrm>
          <a:prstGeom prst="roundRect">
            <a:avLst>
              <a:gd name="adj" fmla="val 10638"/>
            </a:avLst>
          </a:prstGeom>
          <a:solidFill>
            <a:srgbClr val="122740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71800" y="3621024"/>
            <a:ext cx="179222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Aprobación de pago
</a:t>
            </a:r>
            <a:endParaRPr lang="en-US" sz="950" dirty="0"/>
          </a:p>
          <a:p>
            <a:pPr indent="0" marL="0">
              <a:buNone/>
            </a:pPr>
            <a:r>
              <a:rPr lang="en-US" sz="8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 + timestamp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898648" y="4096512"/>
            <a:ext cx="1938528" cy="429768"/>
          </a:xfrm>
          <a:prstGeom prst="roundRect">
            <a:avLst>
              <a:gd name="adj" fmla="val 10638"/>
            </a:avLst>
          </a:prstGeom>
          <a:solidFill>
            <a:srgbClr val="122740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71800" y="4096512"/>
            <a:ext cx="179222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pago
</a:t>
            </a:r>
            <a:endParaRPr lang="en-US" sz="950" dirty="0"/>
          </a:p>
          <a:p>
            <a:pPr indent="0" marL="0">
              <a:buNone/>
            </a:pPr>
            <a:r>
              <a:rPr lang="en-US" sz="8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Excel/CSV + audit trail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898648" y="4581144"/>
            <a:ext cx="1938528" cy="219456"/>
          </a:xfrm>
          <a:prstGeom prst="roundRect">
            <a:avLst>
              <a:gd name="adj" fmla="val 41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EJECUCIÓN DE PAGOS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257800" y="1783080"/>
            <a:ext cx="292608" cy="256032"/>
          </a:xfrm>
          <a:prstGeom prst="roundRect">
            <a:avLst>
              <a:gd name="adj" fmla="val 1785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623560" y="1783080"/>
            <a:ext cx="1609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 DESPACHOS CONNECTED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276088" y="2377440"/>
            <a:ext cx="1938528" cy="566928"/>
          </a:xfrm>
          <a:prstGeom prst="roundRect">
            <a:avLst>
              <a:gd name="adj" fmla="val 8065"/>
            </a:avLst>
          </a:prstGeom>
          <a:solidFill>
            <a:srgbClr val="122740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49240" y="2377440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de Importaciones
</a:t>
            </a:r>
            <a:endParaRPr lang="en-US" sz="950" dirty="0"/>
          </a:p>
          <a:p>
            <a:pPr indent="0" marL="0">
              <a:buNone/>
            </a:pPr>
            <a:r>
              <a:rPr lang="en-US" sz="8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 la propuesta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276088" y="3035808"/>
            <a:ext cx="1938528" cy="566928"/>
          </a:xfrm>
          <a:prstGeom prst="roundRect">
            <a:avLst>
              <a:gd name="adj" fmla="val 8065"/>
            </a:avLst>
          </a:prstGeom>
          <a:solidFill>
            <a:srgbClr val="122740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49240" y="3035808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Contabilización
</a:t>
            </a:r>
            <a:endParaRPr lang="en-US" sz="950" dirty="0"/>
          </a:p>
          <a:p>
            <a:pPr indent="0" marL="0">
              <a:buNone/>
            </a:pPr>
            <a:r>
              <a:rPr lang="en-US" sz="8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Asientos + libro de facturas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276088" y="3694176"/>
            <a:ext cx="1938528" cy="566928"/>
          </a:xfrm>
          <a:prstGeom prst="roundRect">
            <a:avLst>
              <a:gd name="adj" fmla="val 8065"/>
            </a:avLst>
          </a:prstGeom>
          <a:solidFill>
            <a:srgbClr val="122740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49240" y="3694176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Remesa SEPA / Norma 34
</a:t>
            </a:r>
            <a:endParaRPr lang="en-US" sz="950" dirty="0"/>
          </a:p>
          <a:p>
            <a:pPr indent="0" marL="0">
              <a:buNone/>
            </a:pPr>
            <a:r>
              <a:rPr lang="en-US" sz="8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 XML ISO 20022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635240" y="1783080"/>
            <a:ext cx="292608" cy="256032"/>
          </a:xfrm>
          <a:prstGeom prst="roundRect">
            <a:avLst>
              <a:gd name="adj" fmla="val 1785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001000" y="1783080"/>
            <a:ext cx="1609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SABADELL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7680960" y="2423160"/>
            <a:ext cx="188366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Sabadell Online
</a:t>
            </a:r>
            <a:endParaRPr lang="en-US" sz="1000" dirty="0"/>
          </a:p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Autorización y firma en banco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0012680" y="1783080"/>
            <a:ext cx="292608" cy="256032"/>
          </a:xfrm>
          <a:prstGeom prst="roundRect">
            <a:avLst>
              <a:gd name="adj" fmla="val 17857"/>
            </a:avLst>
          </a:prstGeom>
          <a:solidFill>
            <a:srgbClr val="3A2E1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0378440" y="1783080"/>
            <a:ext cx="1609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GOBERNADO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10058400" y="2331720"/>
            <a:ext cx="18836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ejecutado
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Extracto + conciliación
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completa del proceso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188720" y="5029200"/>
            <a:ext cx="3108960" cy="566928"/>
          </a:xfrm>
          <a:prstGeom prst="roundRect">
            <a:avLst>
              <a:gd name="adj" fmla="val 8065"/>
            </a:avLst>
          </a:prstGeom>
          <a:solidFill>
            <a:srgbClr val="122740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261872" y="5029200"/>
            <a:ext cx="2962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MAESTRO SAGE
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Proveedores · IBAN · OCs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572000" y="5029200"/>
            <a:ext cx="3108960" cy="566928"/>
          </a:xfrm>
          <a:prstGeom prst="roundRect">
            <a:avLst>
              <a:gd name="adj" fmla="val 8065"/>
            </a:avLst>
          </a:prstGeom>
          <a:solidFill>
            <a:srgbClr val="122740"/>
          </a:solidFill>
          <a:ln w="9525">
            <a:solidFill>
              <a:srgbClr val="35C08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45152" y="5029200"/>
            <a:ext cx="2962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ZOHO ANALYTICS
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de lectura BI · vistas de solo lectura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955280" y="5029200"/>
            <a:ext cx="3108960" cy="566928"/>
          </a:xfrm>
          <a:prstGeom prst="roundRect">
            <a:avLst>
              <a:gd name="adj" fmla="val 8065"/>
            </a:avLst>
          </a:prstGeom>
          <a:solidFill>
            <a:srgbClr val="122740"/>
          </a:solidFill>
          <a:ln w="9525">
            <a:solidFill>
              <a:srgbClr val="35C08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028432" y="5029200"/>
            <a:ext cx="2962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ZOHO WORKDRIVE
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 del proceso · propuesta · aprobaciones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02920" y="5705856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Control Tower prepara y gobierna la propuesta; Sage y el banco contabilizan y ejecutan con aprobación humana.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11480" y="6016752"/>
            <a:ext cx="11384280" cy="384048"/>
          </a:xfrm>
          <a:prstGeom prst="roundRect">
            <a:avLst>
              <a:gd name="adj" fmla="val 14286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0080" y="601675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GOBERNANZA   </a:t>
            </a:r>
            <a:pPr indent="0" marL="0">
              <a:buNone/>
            </a:pPr>
            <a:r>
              <a:rPr lang="en-US" sz="9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 determinísticos   ·   Gates humanos   ·   Evidencia y audit trail   ·   Responsables y timestamps   ·   Conciliación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APENDICE B · LA VISIÓN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 Office: diagrama de flujo end-to-end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Control Tower · Roadmap → CFO Office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113385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los datos de origen hasta decisiones financieras gobernadas.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554480"/>
            <a:ext cx="2157984" cy="3291840"/>
          </a:xfrm>
          <a:prstGeom prst="roundRect">
            <a:avLst>
              <a:gd name="adj" fmla="val 3390"/>
            </a:avLst>
          </a:prstGeom>
          <a:solidFill>
            <a:srgbClr val="0E2036"/>
          </a:solidFill>
          <a:ln w="12700">
            <a:solidFill>
              <a:srgbClr val="1C35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88920" y="1554480"/>
            <a:ext cx="2157984" cy="3291840"/>
          </a:xfrm>
          <a:prstGeom prst="roundRect">
            <a:avLst>
              <a:gd name="adj" fmla="val 3390"/>
            </a:avLst>
          </a:prstGeom>
          <a:solidFill>
            <a:srgbClr val="0E2036"/>
          </a:solidFill>
          <a:ln w="12700">
            <a:solidFill>
              <a:srgbClr val="35C08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66360" y="1554480"/>
            <a:ext cx="2157984" cy="3291840"/>
          </a:xfrm>
          <a:prstGeom prst="roundRect">
            <a:avLst>
              <a:gd name="adj" fmla="val 3390"/>
            </a:avLst>
          </a:prstGeom>
          <a:solidFill>
            <a:srgbClr val="0E2036"/>
          </a:solidFill>
          <a:ln w="12700">
            <a:solidFill>
              <a:srgbClr val="6EC0D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43800" y="1554480"/>
            <a:ext cx="2157984" cy="3291840"/>
          </a:xfrm>
          <a:prstGeom prst="roundRect">
            <a:avLst>
              <a:gd name="adj" fmla="val 3390"/>
            </a:avLst>
          </a:prstGeom>
          <a:solidFill>
            <a:srgbClr val="0E2036"/>
          </a:solidFill>
          <a:ln w="12700">
            <a:solidFill>
              <a:srgbClr val="1C35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921240" y="1554480"/>
            <a:ext cx="2157984" cy="3291840"/>
          </a:xfrm>
          <a:prstGeom prst="roundRect">
            <a:avLst>
              <a:gd name="adj" fmla="val 3390"/>
            </a:avLst>
          </a:prstGeom>
          <a:solidFill>
            <a:srgbClr val="0E2036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3063240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37760" y="3063240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15200" y="3063240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692640" y="3063240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02920" y="1645920"/>
            <a:ext cx="292608" cy="256032"/>
          </a:xfrm>
          <a:prstGeom prst="roundRect">
            <a:avLst>
              <a:gd name="adj" fmla="val 1785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" y="1645920"/>
            <a:ext cx="1609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DE DATOS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2148840"/>
            <a:ext cx="188366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/ conectores de origen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Torre de Control de AP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Webhooks de eventos verificados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21208" y="4480560"/>
            <a:ext cx="1938528" cy="219456"/>
          </a:xfrm>
          <a:prstGeom prst="roundRect">
            <a:avLst>
              <a:gd name="adj" fmla="val 41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LECTURA POR DEFECTO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880360" y="1645920"/>
            <a:ext cx="292608" cy="256032"/>
          </a:xfrm>
          <a:prstGeom prst="roundRect">
            <a:avLst>
              <a:gd name="adj" fmla="val 1785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46120" y="1645920"/>
            <a:ext cx="1609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FINANCIERA CANÓNICA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926080" y="2331720"/>
            <a:ext cx="188366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financieras estandarizadas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Validaciones determinísticas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inmutable + procedencia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257800" y="1645920"/>
            <a:ext cx="292608" cy="256032"/>
          </a:xfrm>
          <a:prstGeom prst="roundRect">
            <a:avLst>
              <a:gd name="adj" fmla="val 1785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23560" y="1645920"/>
            <a:ext cx="1609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TORRES DE CONTROL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276088" y="2057400"/>
            <a:ext cx="1938528" cy="1051560"/>
          </a:xfrm>
          <a:prstGeom prst="roundRect">
            <a:avLst>
              <a:gd name="adj" fmla="val 4348"/>
            </a:avLst>
          </a:prstGeom>
          <a:solidFill>
            <a:srgbClr val="122740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49240" y="2057400"/>
            <a:ext cx="17922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TORRE DE CONTROL AR
</a:t>
            </a:r>
            <a:endParaRPr lang="en-US" sz="950" dirty="0"/>
          </a:p>
          <a:p>
            <a:pPr indent="0" marL="0">
              <a:buNone/>
            </a:pPr>
            <a:r>
              <a:rPr lang="en-US" sz="8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→ Pedido → Facturación → Ingresos → Cuentas por cobrar → Cobranzas → Aplicación de cobros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276088" y="3200400"/>
            <a:ext cx="1938528" cy="1188720"/>
          </a:xfrm>
          <a:prstGeom prst="roundRect">
            <a:avLst>
              <a:gd name="adj" fmla="val 3846"/>
            </a:avLst>
          </a:prstGeom>
          <a:solidFill>
            <a:srgbClr val="122740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49240" y="3200400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TORRE DE CONTROL AP
</a:t>
            </a:r>
            <a:endParaRPr lang="en-US" sz="950" dirty="0"/>
          </a:p>
          <a:p>
            <a:pPr indent="0" marL="0">
              <a:buNone/>
            </a:pPr>
            <a:r>
              <a:rPr lang="en-US" sz="8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 → IA documental → Controles → Revisión humana → Propuesta de pago
</a:t>
            </a:r>
            <a:endParaRPr lang="en-US" sz="950" dirty="0"/>
          </a:p>
          <a:p>
            <a:pPr indent="0" marL="0">
              <a:buNone/>
            </a:pPr>
            <a:r>
              <a:rPr lang="en-US" sz="8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aprobada → obligación de AP abierta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276088" y="4480560"/>
            <a:ext cx="1938528" cy="219456"/>
          </a:xfrm>
          <a:prstGeom prst="roundRect">
            <a:avLst>
              <a:gd name="adj" fmla="val 41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REGISTRO CONTABLE · SIN EJECUCIÓN DE PAGOS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7635240" y="1645920"/>
            <a:ext cx="292608" cy="256032"/>
          </a:xfrm>
          <a:prstGeom prst="roundRect">
            <a:avLst>
              <a:gd name="adj" fmla="val 1785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001000" y="1645920"/>
            <a:ext cx="1609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 LA OFICINA DEL CFO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653528" y="2240280"/>
            <a:ext cx="1938528" cy="914400"/>
          </a:xfrm>
          <a:prstGeom prst="roundRect">
            <a:avLst>
              <a:gd name="adj" fmla="val 5000"/>
            </a:avLst>
          </a:prstGeom>
          <a:solidFill>
            <a:srgbClr val="122740"/>
          </a:solidFill>
          <a:ln w="9525">
            <a:solidFill>
              <a:srgbClr val="35C08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26680" y="2240280"/>
            <a:ext cx="1792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 ORQUESTADOR
</a:t>
            </a:r>
            <a:endParaRPr lang="en-US" sz="950" dirty="0"/>
          </a:p>
          <a:p>
            <a:pPr indent="0" marL="0">
              <a:buNone/>
            </a:pPr>
            <a:r>
              <a:rPr lang="en-US" sz="8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→ Cerrar → Reportar</a:t>
            </a:r>
            <a:endParaRPr lang="en-US" sz="950" dirty="0"/>
          </a:p>
          <a:p>
            <a:pPr indent="0" marL="0">
              <a:buNone/>
            </a:pPr>
            <a:r>
              <a:rPr lang="en-US" sz="8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← Controlar ← Auditar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680960" y="3337560"/>
            <a:ext cx="18836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Contraloría · Tesorería · Administración · Contabilidad y Reportes
</a:t>
            </a:r>
            <a:endParaRPr lang="en-US" sz="800" dirty="0"/>
          </a:p>
          <a:p>
            <a:pPr indent="0" marL="0">
              <a:buNone/>
            </a:pPr>
            <a:r>
              <a:rPr lang="en-US" sz="600" dirty="0">
                <a:solidFill>
                  <a:srgbClr val="1C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─────────────
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FP&amp;A · Finanzas Estratégicas · Controles Internos · Auditoría Independiente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0012680" y="1645920"/>
            <a:ext cx="292608" cy="256032"/>
          </a:xfrm>
          <a:prstGeom prst="roundRect">
            <a:avLst>
              <a:gd name="adj" fmla="val 17857"/>
            </a:avLst>
          </a:prstGeom>
          <a:solidFill>
            <a:srgbClr val="3A2E1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378440" y="1645920"/>
            <a:ext cx="1609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GOBERNADOS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0058400" y="2103120"/>
            <a:ext cx="188366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financieros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Proyección de caja a 13 semanas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 para el Directorio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Opinión de auditoría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Propuestas de pago aprobadas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22960" y="5029200"/>
            <a:ext cx="2468880" cy="548640"/>
          </a:xfrm>
          <a:prstGeom prst="roundRect">
            <a:avLst>
              <a:gd name="adj" fmla="val 8333"/>
            </a:avLst>
          </a:prstGeom>
          <a:solidFill>
            <a:srgbClr val="122740"/>
          </a:solidFill>
          <a:ln w="9525">
            <a:solidFill>
              <a:srgbClr val="E8A3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96112" y="5029200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REVERSIÓN VERSIONADA
</a:t>
            </a:r>
            <a:endParaRPr lang="en-US" sz="950" dirty="0"/>
          </a:p>
          <a:p>
            <a:pPr indent="0" marL="0">
              <a:buNone/>
            </a:pPr>
            <a:r>
              <a:rPr lang="en-US" sz="8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controlado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703320" y="5029200"/>
            <a:ext cx="2468880" cy="548640"/>
          </a:xfrm>
          <a:prstGeom prst="roundRect">
            <a:avLst>
              <a:gd name="adj" fmla="val 8333"/>
            </a:avLst>
          </a:prstGeom>
          <a:solidFill>
            <a:srgbClr val="122740"/>
          </a:solidFill>
          <a:ln w="9525">
            <a:solidFill>
              <a:srgbClr val="E8A3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776472" y="5029200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APROBACIÓN DEL RESPONSABLE
</a:t>
            </a:r>
            <a:endParaRPr lang="en-US" sz="950" dirty="0"/>
          </a:p>
          <a:p>
            <a:pPr indent="0" marL="0">
              <a:buNone/>
            </a:pPr>
            <a:r>
              <a:rPr lang="en-US" sz="8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humana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583680" y="5029200"/>
            <a:ext cx="2468880" cy="548640"/>
          </a:xfrm>
          <a:prstGeom prst="roundRect">
            <a:avLst>
              <a:gd name="adj" fmla="val 8333"/>
            </a:avLst>
          </a:prstGeom>
          <a:solidFill>
            <a:srgbClr val="122740"/>
          </a:solidFill>
          <a:ln w="9525">
            <a:solidFill>
              <a:srgbClr val="E8A33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56832" y="5029200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ACOTADA
</a:t>
            </a:r>
            <a:endParaRPr lang="en-US" sz="950" dirty="0"/>
          </a:p>
          <a:p>
            <a:pPr indent="0" marL="0">
              <a:buNone/>
            </a:pPr>
            <a:r>
              <a:rPr lang="en-US" sz="8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parámetros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9464040" y="5029200"/>
            <a:ext cx="2468880" cy="548640"/>
          </a:xfrm>
          <a:prstGeom prst="roundRect">
            <a:avLst>
              <a:gd name="adj" fmla="val 8333"/>
            </a:avLst>
          </a:prstGeom>
          <a:solidFill>
            <a:srgbClr val="122740"/>
          </a:solidFill>
          <a:ln w="9525">
            <a:solidFill>
              <a:srgbClr val="E8A33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537192" y="5029200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EVALUACIONES
</a:t>
            </a:r>
            <a:endParaRPr lang="en-US" sz="950" dirty="0"/>
          </a:p>
          <a:p>
            <a:pPr indent="0" marL="0">
              <a:buNone/>
            </a:pPr>
            <a:r>
              <a:rPr lang="en-US" sz="8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 golden dataset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3364992" y="5166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245352" y="5166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9125712" y="5166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502920" y="5705856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las mejoras de parámetros aprobadas se incorporan al modelo operativo.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11480" y="6016752"/>
            <a:ext cx="11384280" cy="384048"/>
          </a:xfrm>
          <a:prstGeom prst="roundRect">
            <a:avLst>
              <a:gd name="adj" fmla="val 14286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0080" y="601675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GOBERNANZA   </a:t>
            </a:r>
            <a:pPr indent="0" marL="0">
              <a:buNone/>
            </a:pPr>
            <a:r>
              <a:rPr lang="en-US" sz="9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Cifras determinísticas   ·   Doble control   ·   Aprobación humana   ·   Validaciones obligatorias   ·   Trazabilidad de auditoría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APENDICE C · STATUS DE INTEGRACIONES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Conectores con Zoho, Sage y Banco Sabadell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Control Tower · Roadmap → CFO Office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1133856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real al 16 de julio: qué está probado, qué espera información del cliente y qué está diseñado.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572768"/>
            <a:ext cx="3657600" cy="4160520"/>
          </a:xfrm>
          <a:prstGeom prst="roundRect">
            <a:avLst>
              <a:gd name="adj" fmla="val 2000"/>
            </a:avLst>
          </a:prstGeom>
          <a:solidFill>
            <a:srgbClr val="0E2036"/>
          </a:solidFill>
          <a:ln w="12700">
            <a:solidFill>
              <a:srgbClr val="35C08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70078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ZOHO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892808" y="1719072"/>
            <a:ext cx="2011680" cy="237744"/>
          </a:xfrm>
          <a:prstGeom prst="roundRect">
            <a:avLst>
              <a:gd name="adj" fmla="val 38462"/>
            </a:avLst>
          </a:prstGeom>
          <a:solidFill>
            <a:srgbClr val="1133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5C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SMOKE-TESTED EN SANDBOX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48640" y="2121408"/>
            <a:ext cx="3383280" cy="530352"/>
          </a:xfrm>
          <a:prstGeom prst="roundRect">
            <a:avLst>
              <a:gd name="adj" fmla="val 8621"/>
            </a:avLst>
          </a:prstGeom>
          <a:solidFill>
            <a:srgbClr val="122740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121408"/>
            <a:ext cx="3236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5C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
</a:t>
            </a:r>
            <a:endParaRPr lang="en-US" sz="950" dirty="0"/>
          </a:p>
          <a:p>
            <a:pPr indent="0" marL="0">
              <a:buNone/>
            </a:pPr>
            <a:r>
              <a:rPr lang="en-US" sz="8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 a Cloud SQL; seis vistas sincronizadas correctamente.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2724912"/>
            <a:ext cx="3383280" cy="530352"/>
          </a:xfrm>
          <a:prstGeom prst="roundRect">
            <a:avLst>
              <a:gd name="adj" fmla="val 8621"/>
            </a:avLst>
          </a:prstGeom>
          <a:solidFill>
            <a:srgbClr val="122740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724912"/>
            <a:ext cx="3236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5C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WorkDrive
</a:t>
            </a:r>
            <a:endParaRPr lang="en-US" sz="950" dirty="0"/>
          </a:p>
          <a:p>
            <a:pPr indent="0" marL="0">
              <a:buNone/>
            </a:pPr>
            <a:r>
              <a:rPr lang="en-US" sz="8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Autenticado; lectura de carpeta y subida de prueba aprobadas.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3328416"/>
            <a:ext cx="3383280" cy="530352"/>
          </a:xfrm>
          <a:prstGeom prst="roundRect">
            <a:avLst>
              <a:gd name="adj" fmla="val 8621"/>
            </a:avLst>
          </a:prstGeom>
          <a:solidFill>
            <a:srgbClr val="122740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3328416"/>
            <a:ext cx="3236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5C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
</a:t>
            </a:r>
            <a:endParaRPr lang="en-US" sz="950" dirty="0"/>
          </a:p>
          <a:p>
            <a:pPr indent="0" marL="0">
              <a:buNone/>
            </a:pPr>
            <a:r>
              <a:rPr lang="en-US" sz="8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Autenticado; lectura real de módulos y proveedores aprobada.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3968496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Resumen: </a:t>
            </a:r>
            <a:pPr indent="0" marL="0">
              <a:buNone/>
            </a:pPr>
            <a:r>
              <a:rPr lang="en-US" sz="9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conector creado, autenticado y smoke-tested en sandbox, listo para pruebas controladas con datos reales.
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Pendiente: </a:t>
            </a:r>
            <a:pPr indent="0" marL="0">
              <a:buNone/>
            </a:pPr>
            <a:r>
              <a:rPr lang="en-US" sz="9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al workflow productivo del AP Control Tower y prueba con información empresarial real. En CRM no se crean tareas reales aún: esa función se validó con tests herméticos.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251960" y="1572768"/>
            <a:ext cx="3657600" cy="4160520"/>
          </a:xfrm>
          <a:prstGeom prst="roundRect">
            <a:avLst>
              <a:gd name="adj" fmla="val 2000"/>
            </a:avLst>
          </a:prstGeom>
          <a:solidFill>
            <a:srgbClr val="0E2036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34840" y="170078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 DESPACHOS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062472" y="1719072"/>
            <a:ext cx="1691640" cy="237744"/>
          </a:xfrm>
          <a:prstGeom prst="roundRect">
            <a:avLst>
              <a:gd name="adj" fmla="val 38462"/>
            </a:avLst>
          </a:prstGeom>
          <a:solidFill>
            <a:srgbClr val="3A2E1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 ESPERA DEL CLIENTE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434840" y="2139696"/>
            <a:ext cx="3291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necesitamos para avanzar:
</a:t>
            </a:r>
            <a:endParaRPr lang="en-US" sz="1000" dirty="0"/>
          </a:p>
          <a:p>
            <a:pPr indent="0" marL="0">
              <a:buNone/>
            </a:pPr>
            <a:r>
              <a:rPr lang="en-US" sz="9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 plantilla exacta de importación usada en vuestra instalación de Sage Despachos Connected 2026.82.000 (facturas de proveedores o asientos).
</a:t>
            </a:r>
            <a:endParaRPr lang="en-US" sz="1000" dirty="0"/>
          </a:p>
          <a:p>
            <a:pPr indent="0" marL="0">
              <a:buNone/>
            </a:pPr>
            <a:r>
              <a:rPr lang="en-US" sz="9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 ejemplo anonimizado ya importado correctamente.
</a:t>
            </a:r>
            <a:endParaRPr lang="en-US" sz="1000" dirty="0"/>
          </a:p>
          <a:p>
            <a:pPr indent="0" marL="0">
              <a:buNone/>
            </a:pPr>
            <a:r>
              <a:rPr lang="en-US" sz="9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Confirmar si la instalación es Desktop, Cloud o Hosting.
</a:t>
            </a:r>
            <a:endParaRPr lang="en-US" sz="1000" dirty="0"/>
          </a:p>
          <a:p>
            <a:pPr indent="0" marL="0">
              <a:buNone/>
            </a:pPr>
            <a:r>
              <a:rPr lang="en-US" sz="9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 el distribuidor habilita API, SDK, Babel o acceso SQL de solo lectura.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092440" y="1572768"/>
            <a:ext cx="3657600" cy="4160520"/>
          </a:xfrm>
          <a:prstGeom prst="roundRect">
            <a:avLst>
              <a:gd name="adj" fmla="val 2000"/>
            </a:avLst>
          </a:prstGeom>
          <a:solidFill>
            <a:srgbClr val="0E2036"/>
          </a:solidFill>
          <a:ln w="12700">
            <a:solidFill>
              <a:srgbClr val="6EC0D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75320" y="170078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SABADELL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305288" y="1719072"/>
            <a:ext cx="1280160" cy="237744"/>
          </a:xfrm>
          <a:prstGeom prst="roundRect">
            <a:avLst>
              <a:gd name="adj" fmla="val 38462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DEFINIDO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275320" y="2139696"/>
            <a:ext cx="3291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el ERP, no directo.
</a:t>
            </a:r>
            <a:endParaRPr lang="en-US" sz="1000" dirty="0"/>
          </a:p>
          <a:p>
            <a:pPr indent="0" marL="0">
              <a:buNone/>
            </a:pPr>
            <a:r>
              <a:rPr lang="en-US" sz="9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propuesta del tower se importa por el Gestor de Importaciones, Sage contabiliza y genera la remesa SEPA/Norma 34 (XML ISO 20022), y esa remesa se sube a BS Online donde un humano la firma.
</a:t>
            </a:r>
            <a:endParaRPr lang="en-US" sz="1000" dirty="0"/>
          </a:p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qué: </a:t>
            </a:r>
            <a:pPr indent="0" marL="0">
              <a:buNone/>
            </a:pPr>
            <a:r>
              <a:rPr lang="en-US" sz="9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fuente de verdad (lo pagado = lo contabilizado, la conciliación cierra sola), circuito que banco y ERP ya soportan oficialmente, sin duplicar el maestro de beneficiarios.
</a:t>
            </a:r>
            <a:endParaRPr lang="en-US" sz="1000" dirty="0"/>
          </a:p>
          <a:p>
            <a:pPr indent="0" marL="0">
              <a:buNone/>
            </a:pPr>
            <a:r>
              <a:rPr lang="en-US" sz="950" b="1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B: </a:t>
            </a:r>
            <a:pPr indent="0" marL="0">
              <a:buNone/>
            </a:pPr>
            <a:r>
              <a:rPr lang="en-US" sz="9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directa del Excel del tower a BS Online para la demo temprana. El extracto de retorno cierra el círculo hacia la conciliación.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" y="594360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integración mueve dinero ni escribe en el ERP sin aprobación humana.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2026-07-17T01:42:13Z</dcterms:created>
  <dcterms:modified xsi:type="dcterms:W3CDTF">2026-07-17T01:42:13Z</dcterms:modified>
</cp:coreProperties>
</file>