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fo-office-demo-597507822266.us-central1.run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loud.google.com/document-ai/docs/security" TargetMode="External"/><Relationship Id="rId2" Type="http://schemas.openxmlformats.org/officeDocument/2006/relationships/hyperlink" Target="https://cloud.google.com/terms/service-terms" TargetMode="External"/><Relationship Id="rId3" Type="http://schemas.openxmlformats.org/officeDocument/2006/relationships/hyperlink" Target="https://cloud.google.com/transparency" TargetMode="External"/><Relationship Id="rId4" Type="http://schemas.openxmlformats.org/officeDocument/2006/relationships/hyperlink" Target="https://cloud.google.com/security/complianc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 PITCH · DE CUENTAS A PAGAR AL CFO OFFICE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– Brand 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módulo de un CFO Office con agentes de IA: hoy ordena tus cuentas a pagar; mañana el cierre, la caja y el reporte al directorio.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facturas dispersas en el correo a pagos controlados, trazables y listos para el banco, con cada decisión importante firmada por tu equipo. La misma base se extiende módulo a módulo: cobros, tesorería, cierre mensual y Board Pack.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ejecutable · PoC con facturas reales · evidencia medida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por tus facturas. Terminamos con finanzas corriendo sola, con tu equipo al mando.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que crece por módulos: cada módulo paga el siguiente.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Módulo 1 en marcha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que llegan por email y salen como pagos aprobados, trazables y listos para importar al ERP.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Funcionando con facturas reales del negocio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Calidad medida contra 106 documentos etiquetados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diseñada con Sage, Zoho y Banco Sabadell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064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· La visión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28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multi-agente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agentes especialistas que opera el departamento de finanzas de punta a punta, con firma humana en cada gate.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Cobros, tesorería, cierre mensual, reporting y Board Pack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 existe como modelo operativo demo, verificado contra datos auditados reales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Misma base, mismos principios: se agrega, no se reconstruye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· OPERACIÓN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hoy: correcto, pero fragmentado en personas y herramientas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es manejable; el costo está en la evidencia dispersa y el control tardío.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por e-mail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actual y punto natural para iniciar la integración.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y revisión manual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exige lectura, búsqueda y clasificación.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en Sage y Excel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trasladan entre herramientas con validaciones manuales.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por mensajes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y decisiones quedan repartidas en conversaciones.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el banco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final ocurre cerca del pago y la evidencia se reconstruye.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407822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02168" y="4370832"/>
            <a:ext cx="32735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mejor sin forzar un cambio brusco del circuito ni quitar autoridad al equipo.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FLUJO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factura a una obligación aprobada y auditable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evidencia arriba · gobierno y decisión humana abajo.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bandeja AP · PDF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evidencia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· sin OC · anticipos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+ alertas duras/blandas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+ trazabilidad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humana obligatoria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control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maker-checker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campos inciertos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Integra: maestro de Sage (lectura) · archivo en Zoho WorkDrive · BI en Zoho Analytics · remesa SEPA vía Sage → firma en Banco Sabadell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Medido, no prometido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se evalúa contra un banco de pruebas con resultado esperado definido a mano. Ningún cambio se despliega si empeora las métricas.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a revisión humana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88% en la primera versión: el equipo revisa excepciones, no facturas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49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extracción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49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campo por campo contra 106 documentos etiquetados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834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riesgo de pago escapados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que debía frenarse, se frenó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9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en el banco de pruebas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49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+ públicos + casos diseñados para fallar (fraude, duplicados)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vive dentro del producto: la pestaña “Calidad medida” muestra el método, las métricas y el ciclo de mejora de cada versión.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nunca mueve dinero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vendés esto, vendés confianza operativa: cuatro decisiones humanas gobiernan el circuito.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1  Revisión de excepciones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llegan a una persona los documentos que exigen juicio: el resto fluye.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2  Aprobación de pago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02736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decisión y timestamp. Nada entra a una propuesta sin firma.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3  Importación al ERP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6248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entra a Sage por el canal oficial, operada por el equipo.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63456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4  Autorización en el banco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0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solo se mueve cuando una persona firma la remesa en Sabadell.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encadenado: cada control, decisión y cambio, reconstruible de punta a punta.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fallan cerrado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alerta dura (IBAN distinto del maestro, duplicado, OC sin saldo) el sistema se auto-bloquea.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· SHARED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crea los primeros objetos de un estado financiero compartido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estado se reutiliza en AR, cash, cierre, reporting y Board Pack: por eso no se reconstruye nada.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condiciones y maestro vigente.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campos, evidencia y estado.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o contrato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Compromiso, saldo y autorización.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Motivo, responsable, decisión y timestamp.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de pago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Importe, vencimiento, aprobación y condición.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02168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02168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Controles, cambios y sign-offs encadenados.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CFO OFFICE · ROADMAP MODULAR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suma valor sin reconstruir la base financiera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2 a 7 ya existen como modelo operativo demostrable, verificado contra datos auditados reales.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AHORA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obligación gobernada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O2C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→ cobro → cash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Treasury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+ forecast + propuestas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close → reconcile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VISIÓN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Finance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+ audit trail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Orchestrator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· controla · coordina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+ evidencia gobernada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+ management 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modelo demo: 22/22 números del cierre · 48/48 tests del control tower de cobros · 17/17 contra estados financieros auditados de una empresa listada (SEC).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vende: entrar por AP, crecer por módulos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es la puerta de entrada porque duele en todas las empresas, se implementa en semanas y demuestra el modelo completo.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7510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· Pilot con lote controlado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226771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sube SUS facturas al PoC y ve extracción, controles y excepciones sobre su propia operación. Evidencia, no promesas.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39242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3-6 · Módulo 1 productivo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" y="368503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por email, controles contra su maestro, aprobaciones y propuesta lista para su ERP y su banco.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80974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2+ · Expansión natural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" y="510235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estado compartido ya creado, cada módulo siguiente (AR, cash, cierre) se apoya en lo construido y se vende con los resultados del anterior.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 un cliente para arrancar: una casilla de email de AP, acceso de lectura a su maestro de proveedores, y un responsable que apruebe. Nada de su ERP se toca.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1 ya funciona.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ya es demostrable.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es elegir el primer cliente.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primer cliente externo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ideal: 30+ facturas/mes, proceso por email, ERP Sage o similar.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2686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sus facturas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2686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lote controlado en el PoC: la decisión se toma viendo su propia operación.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6734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del Módulo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semanas hasta operación asistida, con métricas medidas desde el día uno.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 </a:t>
            </a:r>
            <a:pPr indent="0" marL="0">
              <a:buNone/>
            </a:pPr>
            <a:r>
              <a:rPr lang="en-US" sz="12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CFO Office multi-agente</a:t>
            </a:r>
            <a:pPr indent="0" marL="0">
              <a:buNone/>
            </a:pPr>
            <a:r>
              <a:rPr lang="en-US" sz="110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La primera carga puede demorar ~30 segundos.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A · BRAND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Tower: diagrama de flujo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ingesta de la factura hasta el pago ejecutado y conciliado.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Tower (existente)    </a:t>
            </a:r>
            <a:pPr indent="0" marL="0">
              <a:buNone/>
            </a:pPr>
            <a:r>
              <a:rPr lang="en-US" sz="1000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(nuevo / propuesto)    </a:t>
            </a:r>
            <a:pPr indent="0" marL="0">
              <a:buNone/>
            </a:pPr>
            <a:r>
              <a:rPr lang="en-US" sz="100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y banco (externos)    </a:t>
            </a:r>
            <a:pPr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humano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1691640"/>
            <a:ext cx="2157984" cy="320040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2861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0605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83496" y="3154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DE FACTURA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de facturas.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en modo solo lectura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98648" y="2194560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194560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confianza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98648" y="2670048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2670048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determinísticas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98648" y="3145536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3145536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Revisión humana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excepciones reales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98648" y="3621024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3621024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Aprobación de pago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+ timestamp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98648" y="4096512"/>
            <a:ext cx="1938528" cy="429768"/>
          </a:xfrm>
          <a:prstGeom prst="roundRect">
            <a:avLst>
              <a:gd name="adj" fmla="val 1063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4096512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pago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+ audit trail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98648" y="4581144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EJECUCIÓN DE PAGOS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80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DESPACHOS CONNECTED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76088" y="2377440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23774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Importaciones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la propuesta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76088" y="3035808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30358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Contabilización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Asientos + libro de facturas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76088" y="3694176"/>
            <a:ext cx="1938528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69417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Remesa SEPA / Norma 34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XML ISO 20022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3524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0100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80960" y="2423160"/>
            <a:ext cx="1883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 Online
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Autorización y firma en banco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12680" y="178308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378440" y="178308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GOBERNADO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058400" y="2331720"/>
            <a:ext cx="1883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ejecutado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 + conciliación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completa del proceso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6187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SAGE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· IBAN · OCs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ANALYTICS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lectura BI · vistas de solo lectura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55280" y="5029200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28432" y="502920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WORKDRIVE
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del proceso · propuesta · aprobaciones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5705856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prepara y gobierna la propuesta; Sage y el banco contabilizan y ejecutan con aprobación humana.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6016752"/>
            <a:ext cx="11384280" cy="384048"/>
          </a:xfrm>
          <a:prstGeom prst="roundRect">
            <a:avLst>
              <a:gd name="adj" fmla="val 14286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60167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 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determinísticos   ·   Gates humanos   ·   Evidencia y audit trail   ·   Responsables y timestamps   ·   Conciliación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B · LA 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Office: diagrama de flujo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los datos de origen hasta decisiones financieras gobernadas.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35C0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21240" y="155448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063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148840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conectores de origen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de AP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de eventos verificados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" y="4480560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POR DEFECTO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8036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FINANCIERA CANÓNICA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0" y="2331720"/>
            <a:ext cx="1883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financieras estandarizadas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determinísticas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inmutable + procedencia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TORRES DE CONTROL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76088" y="2057400"/>
            <a:ext cx="1938528" cy="1051560"/>
          </a:xfrm>
          <a:prstGeom prst="roundRect">
            <a:avLst>
              <a:gd name="adj" fmla="val 4348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05740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AR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Pedido → Facturación → Ingresos → Cuentas por cobrar → Cobranzas → Aplicación de cobros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76088" y="3200400"/>
            <a:ext cx="1938528" cy="1188720"/>
          </a:xfrm>
          <a:prstGeom prst="roundRect">
            <a:avLst>
              <a:gd name="adj" fmla="val 3846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2004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DE CONTROL AP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→ IA documental → Controles → Revisión humana → Propuesta de pago
</a:t>
            </a:r>
            <a:endParaRPr lang="en-US" sz="950" dirty="0"/>
          </a:p>
          <a:p>
            <a:pPr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aprobada → obligación de AP abierta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76088" y="4480560"/>
            <a:ext cx="1938528" cy="219456"/>
          </a:xfrm>
          <a:prstGeom prst="roundRect">
            <a:avLst>
              <a:gd name="adj" fmla="val 41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CONTABLE · SIN EJECUCIÓN DE PAGOS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63524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0100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OFICINA DEL CFO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53528" y="2240280"/>
            <a:ext cx="1938528" cy="914400"/>
          </a:xfrm>
          <a:prstGeom prst="roundRect">
            <a:avLst>
              <a:gd name="adj" fmla="val 5000"/>
            </a:avLst>
          </a:prstGeom>
          <a:solidFill>
            <a:srgbClr val="122740"/>
          </a:solidFill>
          <a:ln w="9525">
            <a:solidFill>
              <a:srgbClr val="35C0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224028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ORQUESTADOR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→ Cerrar → Reportar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← Controlar ← Auditar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80960" y="3337560"/>
            <a:ext cx="1883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Contraloría · Tesorería · Administración · Contabilidad y Reportes
</a:t>
            </a:r>
            <a:endParaRPr lang="en-US" sz="800" dirty="0"/>
          </a:p>
          <a:p>
            <a:pPr indent="0" marL="0">
              <a:buNone/>
            </a:pPr>
            <a:r>
              <a:rPr lang="en-US" sz="600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· Finanzas Estratégicas · Controles Internos · Auditoría Independiente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012680" y="164592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78440" y="16459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GOBERNADOS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8400" y="2103120"/>
            <a:ext cx="1883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caja a 13 semanas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para el Directorio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Opinión de auditoría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de pago aprobadas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REVERSIÓN VERSIONADA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controlado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0332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7647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APROBACIÓN DEL RESPONSABLE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humana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8368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ACOTADA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parámetros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464040" y="502920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122740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37192" y="502920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golden dataset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6499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4535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2571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02920" y="5705856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mejoras de parámetros aprobadas se incorporan al modelo operativo.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6016752"/>
            <a:ext cx="11384280" cy="384048"/>
          </a:xfrm>
          <a:prstGeom prst="roundRect">
            <a:avLst>
              <a:gd name="adj" fmla="val 14286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0167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 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determinísticas   ·   Doble control   ·   Aprobación humana   ·   Validaciones obligatorias   ·   Trazabilidad de auditoría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C · STATUS DE INTEGRACIONES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con Zoho, Sage y Banco Sabadell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real al 16 de julio: qué está probado, qué espera información del cliente y qué está diseñado.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0E2036"/>
          </a:solidFill>
          <a:ln w="12700">
            <a:solidFill>
              <a:srgbClr val="35C0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92808" y="1719072"/>
            <a:ext cx="2011680" cy="237744"/>
          </a:xfrm>
          <a:prstGeom prst="roundRect">
            <a:avLst>
              <a:gd name="adj" fmla="val 38462"/>
            </a:avLst>
          </a:prstGeom>
          <a:solidFill>
            <a:srgbClr val="1133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SMOKE-TESTED EN SANDBOX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21408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 Cloud SQL; seis vistas sincronizadas correctamente.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24912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WorkDrive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Autenticado; lectura de carpeta y subida de prueba aprobadas.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32841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C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
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Autenticado; lectura real de módulos y proveedores aprobada.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96849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creado, autenticado y smoke-tested en sandbox, listo para pruebas controladas con datos reales.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al workflow productivo del AP Control Tower y prueba con información empresarial real. En CRM no se crean tareas reales aún: esa función se validó con tests herméticos.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1572768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0E203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DESPACHOS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62472" y="1719072"/>
            <a:ext cx="1691640" cy="237744"/>
          </a:xfrm>
          <a:prstGeom prst="roundRect">
            <a:avLst>
              <a:gd name="adj" fmla="val 38462"/>
            </a:avLst>
          </a:prstGeom>
          <a:solidFill>
            <a:srgbClr val="3A2E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ESPERA DEL CLIENTE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34840" y="2139696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necesitamos para avanzar: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plantilla exacta de importación usada en vuestra instalación de Sage Despachos Connected 2026.82.000 (facturas de proveedores o asientos).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ejemplo anonimizado ya importado correctamente.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Confirmar si la instalación es Desktop, Cloud o Hosting.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el distribuidor habilita API, SDK, Babel o acceso SQL de solo lectura.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1572768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0E2036"/>
          </a:solidFill>
          <a:ln w="12700">
            <a:solidFill>
              <a:srgbClr val="6EC0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700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SABADELL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05288" y="1719072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DEFINIDO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75320" y="2139696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ERP, no directo.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del tower se importa por el Gestor de Importaciones, Sage contabiliza y genera la remesa SEPA/Norma 34 (XML ISO 20022), y esa remesa se sube a BS Online donde un humano la firma.
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de verdad (lo pagado = lo contabilizado, la conciliación cierra sola), circuito que banco y ERP ya soportan oficialmente, sin duplicar el maestro de beneficiarios.
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</a:t>
            </a:r>
            <a:pPr indent="0" marL="0">
              <a:buNone/>
            </a:pPr>
            <a:r>
              <a:rPr lang="en-US" sz="9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directa del Excel del tower a BS Online para la demo temprana. El extracto de retorno cierra el círculo hacia la conciliación.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9436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integración mueve dinero ni escribe en el ERP sin aprobación humana.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APENDICE D · PRIVACIDAD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Document AI no usa los datos del cliente para entrenar sus modelos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Google con los documentos que el AP Control Tower le envía para extracción. Todo verificable en la documentación oficial.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282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usan para entrenar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 usa el contenido del cliente (documentos ni predicciones) para ningún fin salvo prestar el servicio, y nunca entrena los modelos de Document AI con datos de clientes. Compromiso contractual: sección 17 de los Google Cloud Terms of Service.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282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efímero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procesamiento online el documento se procesa en memoria, cifrado en tránsito, sin persistir a disco. En batch se cifra con clave efímera y se borra al terminar (tope de 1 día). Solo se registra metadata técnica (hora y tamaño del request), nunca el contenido.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484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sigue siendo del cliente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 reclama propiedad sobre documentos ni predicciones: son datos privados del cliente. No se comparten con terceros ni se hacen públicos, y ningún empleado de Google los ve; cualquier acceso de soporte requiere aprobación explícita del cliente (Access Approval).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0E2036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6484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auditado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independientes: ISO 27001 / 27017 / 27018, SOC 2, SOC 3, PCI DSS, HIPAA y FedRAMP High. Soporta residencia de datos, claves de cifrado gestionadas por el cliente (CMEK) y VPC Service Controls.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486400"/>
            <a:ext cx="11384280" cy="841248"/>
          </a:xfrm>
          <a:prstGeom prst="roundRect">
            <a:avLst>
              <a:gd name="adj" fmla="val 8696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OFICIALES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8338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 AI · Security &amp; Compliance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Terms of Service (sección 17)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Transparency &amp; Data Protection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0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Compliance Resource Center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2026-07-17T11:53:48Z</dcterms:created>
  <dcterms:modified xsi:type="dcterms:W3CDTF">2026-07-17T11:53:48Z</dcterms:modified>
</cp:coreProperties>
</file>