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nacio viola" userId="dd753be8f6bda2f1" providerId="LiveId" clId="{5B4AEEE4-F8A0-4694-8021-0DC7C079BC52}"/>
    <pc:docChg chg="undo custSel addSld delSld modSld">
      <pc:chgData name="ignacio viola" userId="dd753be8f6bda2f1" providerId="LiveId" clId="{5B4AEEE4-F8A0-4694-8021-0DC7C079BC52}" dt="2026-07-16T20:38:02.023" v="4" actId="478"/>
      <pc:docMkLst>
        <pc:docMk/>
      </pc:docMkLst>
      <pc:sldChg chg="delSp modSp add del mod">
        <pc:chgData name="ignacio viola" userId="dd753be8f6bda2f1" providerId="LiveId" clId="{5B4AEEE4-F8A0-4694-8021-0DC7C079BC52}" dt="2026-07-16T20:38:02.023" v="4" actId="478"/>
        <pc:sldMkLst>
          <pc:docMk/>
          <pc:sldMk cId="1349794271" sldId="256"/>
        </pc:sldMkLst>
        <pc:spChg chg="mod">
          <ac:chgData name="ignacio viola" userId="dd753be8f6bda2f1" providerId="LiveId" clId="{5B4AEEE4-F8A0-4694-8021-0DC7C079BC52}" dt="2026-07-16T20:37:52.900" v="2" actId="27636"/>
          <ac:spMkLst>
            <pc:docMk/>
            <pc:sldMk cId="1349794271" sldId="256"/>
            <ac:spMk id="5" creationId="{BA912577-4B5A-45DA-9423-FCFFE2A5C3D7}"/>
          </ac:spMkLst>
        </pc:spChg>
        <pc:spChg chg="del">
          <ac:chgData name="ignacio viola" userId="dd753be8f6bda2f1" providerId="LiveId" clId="{5B4AEEE4-F8A0-4694-8021-0DC7C079BC52}" dt="2026-07-16T20:37:58.630" v="3" actId="478"/>
          <ac:spMkLst>
            <pc:docMk/>
            <pc:sldMk cId="1349794271" sldId="256"/>
            <ac:spMk id="7" creationId="{B22B4C4F-CA8F-4BBC-B3E8-7F5A24F96BF7}"/>
          </ac:spMkLst>
        </pc:spChg>
        <pc:picChg chg="del">
          <ac:chgData name="ignacio viola" userId="dd753be8f6bda2f1" providerId="LiveId" clId="{5B4AEEE4-F8A0-4694-8021-0DC7C079BC52}" dt="2026-07-16T20:38:02.023" v="4" actId="478"/>
          <ac:picMkLst>
            <pc:docMk/>
            <pc:sldMk cId="1349794271" sldId="256"/>
            <ac:picMk id="22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p-control-tower-597507822266.us-central1.run.app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p-control-tower-trial-597507822266.us-central1.run.app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p-control-tower-trial-597507822266.us-central1.run.app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ap-control-tower-597507822266.us-central1.run.app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p-control-tower-trial-597507822266.us-central1.run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ver-accent-line">
            <a:extLst>
              <a:ext uri="{FF2B5EF4-FFF2-40B4-BE49-F238E27FC236}">
                <a16:creationId xmlns:a16="http://schemas.microsoft.com/office/drawing/2014/main" id="{EC368574-8C10-4F14-B794-BEA67BB94F0D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95350" cy="47625"/>
          </a:xfrm>
          <a:prstGeom prst="rect">
            <a:avLst/>
          </a:prstGeom>
          <a:solidFill>
            <a:srgbClr val="1B728B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" name="cover-kicker">
            <a:extLst>
              <a:ext uri="{FF2B5EF4-FFF2-40B4-BE49-F238E27FC236}">
                <a16:creationId xmlns:a16="http://schemas.microsoft.com/office/drawing/2014/main" id="{E3F5D568-FF2B-48C0-9805-2F3420AEE3F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 i="0">
                <a:solidFill>
                  <a:srgbClr val="6EC0D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6EC0D7"/>
                </a:solidFill>
                <a:latin typeface="Aptos"/>
                <a:ea typeface="Aptos"/>
                <a:cs typeface="Aptos"/>
              </a:rPr>
              <a:t>PRODUCT &amp; SALES PITCH · AP → CFO OFFICE</a:t>
            </a:r>
          </a:p>
        </p:txBody>
      </p:sp>
      <p:sp>
        <p:nvSpPr>
          <p:cNvPr id="3" name="cover-title">
            <a:extLst>
              <a:ext uri="{FF2B5EF4-FFF2-40B4-BE49-F238E27FC236}">
                <a16:creationId xmlns:a16="http://schemas.microsoft.com/office/drawing/2014/main" id="{4B766E17-135E-402B-B044-0ACD4EEC8F07}"/>
              </a:ext>
            </a:extLst>
          </p:cNvPr>
          <p:cNvSpPr>
            <a:spLocks noGrp="1"/>
          </p:cNvSpPr>
          <p:nvPr/>
        </p:nvSpPr>
        <p:spPr>
          <a:xfrm>
            <a:off x="609600" y="1409700"/>
            <a:ext cx="5334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5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1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AP Control Tower</a:t>
            </a:r>
          </a:p>
        </p:txBody>
      </p:sp>
      <p:sp>
        <p:nvSpPr>
          <p:cNvPr id="4" name="cover-thesis">
            <a:extLst>
              <a:ext uri="{FF2B5EF4-FFF2-40B4-BE49-F238E27FC236}">
                <a16:creationId xmlns:a16="http://schemas.microsoft.com/office/drawing/2014/main" id="{3A0F4ED7-FF1C-49FC-A005-C3C27747B776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509587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7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 antes del pago. Primer módulo de una CFO Office agentic.</a:t>
            </a:r>
          </a:p>
        </p:txBody>
      </p:sp>
      <p:sp>
        <p:nvSpPr>
          <p:cNvPr id="5" name="cover-sub">
            <a:extLst>
              <a:ext uri="{FF2B5EF4-FFF2-40B4-BE49-F238E27FC236}">
                <a16:creationId xmlns:a16="http://schemas.microsoft.com/office/drawing/2014/main" id="{BA912577-4B5A-45DA-9423-FCFFE2A5C3D7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4953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888" lnSpcReduction="10000"/>
          </a:bodyPr>
          <a:lstStyle/>
          <a:p>
            <a:pPr algn="l">
              <a:buNone/>
              <a:defRPr sz="1575" b="0" i="0">
                <a:solidFill>
                  <a:srgbClr val="AFC0D1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AFC0D1"/>
                </a:solidFill>
                <a:latin typeface="Aptos"/>
                <a:ea typeface="Aptos"/>
                <a:cs typeface="Aptos"/>
              </a:rPr>
              <a:t>Un producto modular para transformar facturas dispersas en obligaciones gobernadas y extender el mismo estado financiero hacia AR, cash, cierre y Board Pack.</a:t>
            </a:r>
          </a:p>
        </p:txBody>
      </p:sp>
      <p:sp>
        <p:nvSpPr>
          <p:cNvPr id="6" name="cover-meta">
            <a:extLst>
              <a:ext uri="{FF2B5EF4-FFF2-40B4-BE49-F238E27FC236}">
                <a16:creationId xmlns:a16="http://schemas.microsoft.com/office/drawing/2014/main" id="{EFAA8EBB-F74B-431B-8725-676EE950D714}"/>
              </a:ext>
            </a:extLst>
          </p:cNvPr>
          <p:cNvSpPr>
            <a:spLocks noGrp="1"/>
          </p:cNvSpPr>
          <p:nvPr/>
        </p:nvSpPr>
        <p:spPr>
          <a:xfrm>
            <a:off x="609600" y="58483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 i="0">
                <a:solidFill>
                  <a:srgbClr val="6EC0D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6EC0D7"/>
                </a:solidFill>
                <a:latin typeface="Aptos"/>
                <a:ea typeface="Aptos"/>
                <a:cs typeface="Aptos"/>
              </a:rPr>
              <a:t>Demo ejecutable + PoC + evidencia medida</a:t>
            </a:r>
          </a:p>
        </p:txBody>
      </p:sp>
      <p:sp>
        <p:nvSpPr>
          <p:cNvPr id="9" name="cover-product-mask">
            <a:extLst>
              <a:ext uri="{FF2B5EF4-FFF2-40B4-BE49-F238E27FC236}">
                <a16:creationId xmlns:a16="http://schemas.microsoft.com/office/drawing/2014/main" id="{AE9D0F21-B8CB-4F06-8F22-823BEB446DBB}"/>
              </a:ext>
            </a:extLst>
          </p:cNvPr>
          <p:cNvSpPr>
            <a:spLocks noGrp="1"/>
          </p:cNvSpPr>
          <p:nvPr/>
        </p:nvSpPr>
        <p:spPr>
          <a:xfrm>
            <a:off x="6591300" y="4229100"/>
            <a:ext cx="4686300" cy="285750"/>
          </a:xfrm>
          <a:prstGeom prst="rect">
            <a:avLst/>
          </a:prstGeom>
          <a:solidFill>
            <a:srgbClr val="111316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footer-note-1">
            <a:extLst>
              <a:ext uri="{FF2B5EF4-FFF2-40B4-BE49-F238E27FC236}">
                <a16:creationId xmlns:a16="http://schemas.microsoft.com/office/drawing/2014/main" id="{DF2229A9-E8A7-48D3-B13A-75194145D6D1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933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0" i="0">
                <a:solidFill>
                  <a:srgbClr val="8EA1B5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8EA1B5"/>
                </a:solidFill>
                <a:latin typeface="Aptos"/>
                <a:ea typeface="Aptos"/>
                <a:cs typeface="Aptos"/>
              </a:rPr>
              <a:t>AP Control Tower · product pitch → CFO Office</a:t>
            </a:r>
          </a:p>
        </p:txBody>
      </p:sp>
      <p:sp>
        <p:nvSpPr>
          <p:cNvPr id="11" name="footer-page-1">
            <a:extLst>
              <a:ext uri="{FF2B5EF4-FFF2-40B4-BE49-F238E27FC236}">
                <a16:creationId xmlns:a16="http://schemas.microsoft.com/office/drawing/2014/main" id="{9CD60145-C331-4B59-8565-6A7EAA43D371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050" b="1" i="0">
                <a:solidFill>
                  <a:srgbClr val="8EA1B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8EA1B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49794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eyebrow-2">
            <a:extLst>
              <a:ext uri="{FF2B5EF4-FFF2-40B4-BE49-F238E27FC236}">
                <a16:creationId xmlns:a16="http://schemas.microsoft.com/office/drawing/2014/main" id="{CD0E838A-AF00-4FB9-8D82-06A9471305A5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EL PROBLEMA COMERCIAL</a:t>
            </a:r>
          </a:p>
        </p:txBody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3E89C620-B41E-4C95-8B90-579687C41F08}"/>
              </a:ext>
            </a:extLst>
          </p:cNvPr>
          <p:cNvSpPr>
            <a:spLocks noGrp="1"/>
          </p:cNvSpPr>
          <p:nvPr/>
        </p:nvSpPr>
        <p:spPr>
          <a:xfrm>
            <a:off x="609600" y="714375"/>
            <a:ext cx="109728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9861"/>
          </a:bodyPr>
          <a:lstStyle/>
          <a:p>
            <a:pPr algn="l">
              <a:buNone/>
              <a:defRPr sz="36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AP pierde control cuando el proceso vive entre email, ERP, mensajes y banco.</a:t>
            </a:r>
          </a:p>
        </p:txBody>
      </p:sp>
      <p:sp>
        <p:nvSpPr>
          <p:cNvPr id="3" name="title-rule-2">
            <a:extLst>
              <a:ext uri="{FF2B5EF4-FFF2-40B4-BE49-F238E27FC236}">
                <a16:creationId xmlns:a16="http://schemas.microsoft.com/office/drawing/2014/main" id="{85890714-497D-4AA5-9302-F8C4B18F852A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problem-thesis">
            <a:extLst>
              <a:ext uri="{FF2B5EF4-FFF2-40B4-BE49-F238E27FC236}">
                <a16:creationId xmlns:a16="http://schemas.microsoft.com/office/drawing/2014/main" id="{4665E176-B1D1-468C-8244-6F5606218870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4000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286"/>
          </a:bodyPr>
          <a:lstStyle/>
          <a:p>
            <a:pPr algn="l">
              <a:buNone/>
              <a:defRPr sz="21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No hace falta un volumen masivo: basta con que evidencia, reglas y decisiones estén separadas para que cada excepción agregue fricción y riesgo.</a:t>
            </a:r>
          </a:p>
        </p:txBody>
      </p:sp>
      <p:sp>
        <p:nvSpPr>
          <p:cNvPr id="5" name="problem-consequence">
            <a:extLst>
              <a:ext uri="{FF2B5EF4-FFF2-40B4-BE49-F238E27FC236}">
                <a16:creationId xmlns:a16="http://schemas.microsoft.com/office/drawing/2014/main" id="{81542EB9-776C-487A-994B-FEC091C90306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385762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El costo aparece en recarga, demoras, errores evitables y dificultad para demostrar quién controló qué.</a:t>
            </a:r>
          </a:p>
        </p:txBody>
      </p:sp>
      <p:sp>
        <p:nvSpPr>
          <p:cNvPr id="6" name="problem-n-0">
            <a:extLst>
              <a:ext uri="{FF2B5EF4-FFF2-40B4-BE49-F238E27FC236}">
                <a16:creationId xmlns:a16="http://schemas.microsoft.com/office/drawing/2014/main" id="{C7D26511-D86D-4048-9091-8CC57738D8E2}"/>
              </a:ext>
            </a:extLst>
          </p:cNvPr>
          <p:cNvSpPr>
            <a:spLocks noGrp="1"/>
          </p:cNvSpPr>
          <p:nvPr/>
        </p:nvSpPr>
        <p:spPr>
          <a:xfrm>
            <a:off x="5219700" y="23050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problem-title-0">
            <a:extLst>
              <a:ext uri="{FF2B5EF4-FFF2-40B4-BE49-F238E27FC236}">
                <a16:creationId xmlns:a16="http://schemas.microsoft.com/office/drawing/2014/main" id="{F2F015F6-B86E-4EF5-90A2-FF5D2B300706}"/>
              </a:ext>
            </a:extLst>
          </p:cNvPr>
          <p:cNvSpPr>
            <a:spLocks noGrp="1"/>
          </p:cNvSpPr>
          <p:nvPr/>
        </p:nvSpPr>
        <p:spPr>
          <a:xfrm>
            <a:off x="5772150" y="2305050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Facturas por email o PDF</a:t>
            </a:r>
          </a:p>
        </p:txBody>
      </p:sp>
      <p:sp>
        <p:nvSpPr>
          <p:cNvPr id="8" name="problem-body-0">
            <a:extLst>
              <a:ext uri="{FF2B5EF4-FFF2-40B4-BE49-F238E27FC236}">
                <a16:creationId xmlns:a16="http://schemas.microsoft.com/office/drawing/2014/main" id="{7AF78C3E-EEEC-4D75-ABC0-7D4A6C5B2602}"/>
              </a:ext>
            </a:extLst>
          </p:cNvPr>
          <p:cNvSpPr>
            <a:spLocks noGrp="1"/>
          </p:cNvSpPr>
          <p:nvPr/>
        </p:nvSpPr>
        <p:spPr>
          <a:xfrm>
            <a:off x="8534400" y="230505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La entrada no crea una cola única ni prioridad operativa.</a:t>
            </a:r>
          </a:p>
        </p:txBody>
      </p:sp>
      <p:sp>
        <p:nvSpPr>
          <p:cNvPr id="9" name="problem-rule-0">
            <a:extLst>
              <a:ext uri="{FF2B5EF4-FFF2-40B4-BE49-F238E27FC236}">
                <a16:creationId xmlns:a16="http://schemas.microsoft.com/office/drawing/2014/main" id="{7ABA6B82-ADBD-408B-94B7-67FA9EF99B35}"/>
              </a:ext>
            </a:extLst>
          </p:cNvPr>
          <p:cNvSpPr>
            <a:spLocks noGrp="1"/>
          </p:cNvSpPr>
          <p:nvPr/>
        </p:nvSpPr>
        <p:spPr>
          <a:xfrm>
            <a:off x="5219700" y="2886075"/>
            <a:ext cx="63627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problem-n-1">
            <a:extLst>
              <a:ext uri="{FF2B5EF4-FFF2-40B4-BE49-F238E27FC236}">
                <a16:creationId xmlns:a16="http://schemas.microsoft.com/office/drawing/2014/main" id="{760AF711-78B8-44DE-B6E0-05DD828132EE}"/>
              </a:ext>
            </a:extLst>
          </p:cNvPr>
          <p:cNvSpPr>
            <a:spLocks noGrp="1"/>
          </p:cNvSpPr>
          <p:nvPr/>
        </p:nvSpPr>
        <p:spPr>
          <a:xfrm>
            <a:off x="5219700" y="30480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problem-title-1">
            <a:extLst>
              <a:ext uri="{FF2B5EF4-FFF2-40B4-BE49-F238E27FC236}">
                <a16:creationId xmlns:a16="http://schemas.microsoft.com/office/drawing/2014/main" id="{29BA5F8E-E969-40AB-9107-F50E33757E57}"/>
              </a:ext>
            </a:extLst>
          </p:cNvPr>
          <p:cNvSpPr>
            <a:spLocks noGrp="1"/>
          </p:cNvSpPr>
          <p:nvPr/>
        </p:nvSpPr>
        <p:spPr>
          <a:xfrm>
            <a:off x="5772150" y="3048000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Recarga entre herramientas</a:t>
            </a:r>
          </a:p>
        </p:txBody>
      </p:sp>
      <p:sp>
        <p:nvSpPr>
          <p:cNvPr id="12" name="problem-body-1">
            <a:extLst>
              <a:ext uri="{FF2B5EF4-FFF2-40B4-BE49-F238E27FC236}">
                <a16:creationId xmlns:a16="http://schemas.microsoft.com/office/drawing/2014/main" id="{6F3E7BAA-FFB1-4B82-AF63-A45A425CA52D}"/>
              </a:ext>
            </a:extLst>
          </p:cNvPr>
          <p:cNvSpPr>
            <a:spLocks noGrp="1"/>
          </p:cNvSpPr>
          <p:nvPr/>
        </p:nvSpPr>
        <p:spPr>
          <a:xfrm>
            <a:off x="8534400" y="304800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Los mismos datos viajan por planillas, ERP y otros sistemas.</a:t>
            </a:r>
          </a:p>
        </p:txBody>
      </p:sp>
      <p:sp>
        <p:nvSpPr>
          <p:cNvPr id="13" name="problem-rule-1">
            <a:extLst>
              <a:ext uri="{FF2B5EF4-FFF2-40B4-BE49-F238E27FC236}">
                <a16:creationId xmlns:a16="http://schemas.microsoft.com/office/drawing/2014/main" id="{DB5F9387-A948-49EE-82EA-250B75DEC36A}"/>
              </a:ext>
            </a:extLst>
          </p:cNvPr>
          <p:cNvSpPr>
            <a:spLocks noGrp="1"/>
          </p:cNvSpPr>
          <p:nvPr/>
        </p:nvSpPr>
        <p:spPr>
          <a:xfrm>
            <a:off x="5219700" y="3629025"/>
            <a:ext cx="63627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problem-n-2">
            <a:extLst>
              <a:ext uri="{FF2B5EF4-FFF2-40B4-BE49-F238E27FC236}">
                <a16:creationId xmlns:a16="http://schemas.microsoft.com/office/drawing/2014/main" id="{52319835-1B4C-426C-85C1-A38071FF5303}"/>
              </a:ext>
            </a:extLst>
          </p:cNvPr>
          <p:cNvSpPr>
            <a:spLocks noGrp="1"/>
          </p:cNvSpPr>
          <p:nvPr/>
        </p:nvSpPr>
        <p:spPr>
          <a:xfrm>
            <a:off x="5219700" y="37909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problem-title-2">
            <a:extLst>
              <a:ext uri="{FF2B5EF4-FFF2-40B4-BE49-F238E27FC236}">
                <a16:creationId xmlns:a16="http://schemas.microsoft.com/office/drawing/2014/main" id="{E621816A-E2EC-4F9E-AB5F-6437D7BD66BF}"/>
              </a:ext>
            </a:extLst>
          </p:cNvPr>
          <p:cNvSpPr>
            <a:spLocks noGrp="1"/>
          </p:cNvSpPr>
          <p:nvPr/>
        </p:nvSpPr>
        <p:spPr>
          <a:xfrm>
            <a:off x="5772150" y="3790950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Excepciones por mensajes</a:t>
            </a:r>
          </a:p>
        </p:txBody>
      </p:sp>
      <p:sp>
        <p:nvSpPr>
          <p:cNvPr id="16" name="problem-body-2">
            <a:extLst>
              <a:ext uri="{FF2B5EF4-FFF2-40B4-BE49-F238E27FC236}">
                <a16:creationId xmlns:a16="http://schemas.microsoft.com/office/drawing/2014/main" id="{AE5B1C60-3AE3-4A08-B31A-2FB972E40CE4}"/>
              </a:ext>
            </a:extLst>
          </p:cNvPr>
          <p:cNvSpPr>
            <a:spLocks noGrp="1"/>
          </p:cNvSpPr>
          <p:nvPr/>
        </p:nvSpPr>
        <p:spPr>
          <a:xfrm>
            <a:off x="8534400" y="379095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Faltantes y aprobaciones quedan dispersos en conversaciones.</a:t>
            </a:r>
          </a:p>
        </p:txBody>
      </p:sp>
      <p:sp>
        <p:nvSpPr>
          <p:cNvPr id="17" name="problem-rule-2">
            <a:extLst>
              <a:ext uri="{FF2B5EF4-FFF2-40B4-BE49-F238E27FC236}">
                <a16:creationId xmlns:a16="http://schemas.microsoft.com/office/drawing/2014/main" id="{0C8B5079-7194-4CF2-A2D6-7DFD9D905A98}"/>
              </a:ext>
            </a:extLst>
          </p:cNvPr>
          <p:cNvSpPr>
            <a:spLocks noGrp="1"/>
          </p:cNvSpPr>
          <p:nvPr/>
        </p:nvSpPr>
        <p:spPr>
          <a:xfrm>
            <a:off x="5219700" y="4371975"/>
            <a:ext cx="63627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problem-n-3">
            <a:extLst>
              <a:ext uri="{FF2B5EF4-FFF2-40B4-BE49-F238E27FC236}">
                <a16:creationId xmlns:a16="http://schemas.microsoft.com/office/drawing/2014/main" id="{7E253A1B-DF82-4167-9728-6462A5A6C313}"/>
              </a:ext>
            </a:extLst>
          </p:cNvPr>
          <p:cNvSpPr>
            <a:spLocks noGrp="1"/>
          </p:cNvSpPr>
          <p:nvPr/>
        </p:nvSpPr>
        <p:spPr>
          <a:xfrm>
            <a:off x="5219700" y="45339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problem-title-3">
            <a:extLst>
              <a:ext uri="{FF2B5EF4-FFF2-40B4-BE49-F238E27FC236}">
                <a16:creationId xmlns:a16="http://schemas.microsoft.com/office/drawing/2014/main" id="{5335A078-DF9C-40D2-8764-359A5A97313E}"/>
              </a:ext>
            </a:extLst>
          </p:cNvPr>
          <p:cNvSpPr>
            <a:spLocks noGrp="1"/>
          </p:cNvSpPr>
          <p:nvPr/>
        </p:nvSpPr>
        <p:spPr>
          <a:xfrm>
            <a:off x="5772150" y="4533900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Datos bancarios manuales</a:t>
            </a:r>
          </a:p>
        </p:txBody>
      </p:sp>
      <p:sp>
        <p:nvSpPr>
          <p:cNvPr id="20" name="problem-body-3">
            <a:extLst>
              <a:ext uri="{FF2B5EF4-FFF2-40B4-BE49-F238E27FC236}">
                <a16:creationId xmlns:a16="http://schemas.microsoft.com/office/drawing/2014/main" id="{88FA3480-2B6A-48B3-BFD1-A52BD551F7EA}"/>
              </a:ext>
            </a:extLst>
          </p:cNvPr>
          <p:cNvSpPr>
            <a:spLocks noGrp="1"/>
          </p:cNvSpPr>
          <p:nvPr/>
        </p:nvSpPr>
        <p:spPr>
          <a:xfrm>
            <a:off x="8534400" y="453390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Una divergencia puede avanzar sin contraste independiente.</a:t>
            </a:r>
          </a:p>
        </p:txBody>
      </p:sp>
      <p:sp>
        <p:nvSpPr>
          <p:cNvPr id="21" name="problem-rule-3">
            <a:extLst>
              <a:ext uri="{FF2B5EF4-FFF2-40B4-BE49-F238E27FC236}">
                <a16:creationId xmlns:a16="http://schemas.microsoft.com/office/drawing/2014/main" id="{567A8D6E-FA64-4A1C-B0AC-58D4F81C7F50}"/>
              </a:ext>
            </a:extLst>
          </p:cNvPr>
          <p:cNvSpPr>
            <a:spLocks noGrp="1"/>
          </p:cNvSpPr>
          <p:nvPr/>
        </p:nvSpPr>
        <p:spPr>
          <a:xfrm>
            <a:off x="5219700" y="5114925"/>
            <a:ext cx="63627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problem-n-4">
            <a:extLst>
              <a:ext uri="{FF2B5EF4-FFF2-40B4-BE49-F238E27FC236}">
                <a16:creationId xmlns:a16="http://schemas.microsoft.com/office/drawing/2014/main" id="{A4BB511F-6303-4FE7-8E3A-73E50DAC43BB}"/>
              </a:ext>
            </a:extLst>
          </p:cNvPr>
          <p:cNvSpPr>
            <a:spLocks noGrp="1"/>
          </p:cNvSpPr>
          <p:nvPr/>
        </p:nvSpPr>
        <p:spPr>
          <a:xfrm>
            <a:off x="5219700" y="52768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3" name="problem-title-4">
            <a:extLst>
              <a:ext uri="{FF2B5EF4-FFF2-40B4-BE49-F238E27FC236}">
                <a16:creationId xmlns:a16="http://schemas.microsoft.com/office/drawing/2014/main" id="{B9D09FC1-A7D3-4A77-AF21-E10A868C7D9C}"/>
              </a:ext>
            </a:extLst>
          </p:cNvPr>
          <p:cNvSpPr>
            <a:spLocks noGrp="1"/>
          </p:cNvSpPr>
          <p:nvPr/>
        </p:nvSpPr>
        <p:spPr>
          <a:xfrm>
            <a:off x="5772150" y="5276850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Auditoría posterior</a:t>
            </a:r>
          </a:p>
        </p:txBody>
      </p:sp>
      <p:sp>
        <p:nvSpPr>
          <p:cNvPr id="24" name="problem-body-4">
            <a:extLst>
              <a:ext uri="{FF2B5EF4-FFF2-40B4-BE49-F238E27FC236}">
                <a16:creationId xmlns:a16="http://schemas.microsoft.com/office/drawing/2014/main" id="{0B485FB8-A416-43D5-81B9-3BCBC8F6FD7F}"/>
              </a:ext>
            </a:extLst>
          </p:cNvPr>
          <p:cNvSpPr>
            <a:spLocks noGrp="1"/>
          </p:cNvSpPr>
          <p:nvPr/>
        </p:nvSpPr>
        <p:spPr>
          <a:xfrm>
            <a:off x="8534400" y="527685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La evidencia se reconstruye después, no durante el proceso.</a:t>
            </a:r>
          </a:p>
        </p:txBody>
      </p:sp>
      <p:sp>
        <p:nvSpPr>
          <p:cNvPr id="25" name="footer-note-2">
            <a:extLst>
              <a:ext uri="{FF2B5EF4-FFF2-40B4-BE49-F238E27FC236}">
                <a16:creationId xmlns:a16="http://schemas.microsoft.com/office/drawing/2014/main" id="{36DDD6AE-EEF7-4E65-9776-BF968B98A6BE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933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0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AP Control Tower · product pitch → CFO Office</a:t>
            </a:r>
          </a:p>
        </p:txBody>
      </p:sp>
      <p:sp>
        <p:nvSpPr>
          <p:cNvPr id="26" name="footer-page-2">
            <a:extLst>
              <a:ext uri="{FF2B5EF4-FFF2-40B4-BE49-F238E27FC236}">
                <a16:creationId xmlns:a16="http://schemas.microsoft.com/office/drawing/2014/main" id="{48F3ABA6-FB58-4FA6-AB19-6C0DD2F21C84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050" b="1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27288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yebrow-7">
            <a:extLst>
              <a:ext uri="{FF2B5EF4-FFF2-40B4-BE49-F238E27FC236}">
                <a16:creationId xmlns:a16="http://schemas.microsoft.com/office/drawing/2014/main" id="{33A475CC-CA69-4868-A6DF-3811D64B3E16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CASO DE REFERENCIA · ANONIMIZADO</a:t>
            </a:r>
          </a:p>
        </p:txBody>
      </p:sp>
      <p:sp>
        <p:nvSpPr>
          <p:cNvPr id="2" name="title-7">
            <a:extLst>
              <a:ext uri="{FF2B5EF4-FFF2-40B4-BE49-F238E27FC236}">
                <a16:creationId xmlns:a16="http://schemas.microsoft.com/office/drawing/2014/main" id="{4B0DB2F4-968C-4473-8052-F10587F2468F}"/>
              </a:ext>
            </a:extLst>
          </p:cNvPr>
          <p:cNvSpPr>
            <a:spLocks noGrp="1"/>
          </p:cNvSpPr>
          <p:nvPr/>
        </p:nvSpPr>
        <p:spPr>
          <a:xfrm>
            <a:off x="609600" y="714375"/>
            <a:ext cx="109728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2445"/>
          </a:bodyPr>
          <a:lstStyle/>
          <a:p>
            <a:pPr algn="l">
              <a:buNone/>
              <a:defRPr sz="36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La fragmentación aparece antes de que la operación sea grande.</a:t>
            </a:r>
          </a:p>
        </p:txBody>
      </p:sp>
      <p:sp>
        <p:nvSpPr>
          <p:cNvPr id="3" name="subtitle-7">
            <a:extLst>
              <a:ext uri="{FF2B5EF4-FFF2-40B4-BE49-F238E27FC236}">
                <a16:creationId xmlns:a16="http://schemas.microsoft.com/office/drawing/2014/main" id="{8CBC7AD8-AB96-45F1-81C6-A673082D19BE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1057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AS-IS de una operación real usado para dimensionar el problema; no representa un resultado típico ni una promesa comercial.</a:t>
            </a:r>
          </a:p>
        </p:txBody>
      </p:sp>
      <p:sp>
        <p:nvSpPr>
          <p:cNvPr id="4" name="title-rule-7">
            <a:extLst>
              <a:ext uri="{FF2B5EF4-FFF2-40B4-BE49-F238E27FC236}">
                <a16:creationId xmlns:a16="http://schemas.microsoft.com/office/drawing/2014/main" id="{5872DA47-24CB-4567-B1D5-A0A4C12EB2D5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109728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evidence-1-surface">
            <a:extLst>
              <a:ext uri="{FF2B5EF4-FFF2-40B4-BE49-F238E27FC236}">
                <a16:creationId xmlns:a16="http://schemas.microsoft.com/office/drawing/2014/main" id="{652006C6-B882-4019-A732-1C2947E952A6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2533650" cy="1428750"/>
          </a:xfrm>
          <a:prstGeom prst="roundRect">
            <a:avLst>
              <a:gd name="adj" fmla="val 5333"/>
            </a:avLst>
          </a:prstGeom>
          <a:solidFill>
            <a:srgbClr val="DDEEF3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evidence-1-value">
            <a:extLst>
              <a:ext uri="{FF2B5EF4-FFF2-40B4-BE49-F238E27FC236}">
                <a16:creationId xmlns:a16="http://schemas.microsoft.com/office/drawing/2014/main" id="{98DBE6CF-1AD4-44D6-9475-2EC9DF75A7C5}"/>
              </a:ext>
            </a:extLst>
          </p:cNvPr>
          <p:cNvSpPr>
            <a:spLocks noGrp="1"/>
          </p:cNvSpPr>
          <p:nvPr/>
        </p:nvSpPr>
        <p:spPr>
          <a:xfrm>
            <a:off x="800100" y="2800350"/>
            <a:ext cx="2152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1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~35</a:t>
            </a:r>
          </a:p>
        </p:txBody>
      </p:sp>
      <p:sp>
        <p:nvSpPr>
          <p:cNvPr id="7" name="evidence-1-label">
            <a:extLst>
              <a:ext uri="{FF2B5EF4-FFF2-40B4-BE49-F238E27FC236}">
                <a16:creationId xmlns:a16="http://schemas.microsoft.com/office/drawing/2014/main" id="{07CFB870-384D-454B-B475-D82DE6C90147}"/>
              </a:ext>
            </a:extLst>
          </p:cNvPr>
          <p:cNvSpPr>
            <a:spLocks noGrp="1"/>
          </p:cNvSpPr>
          <p:nvPr/>
        </p:nvSpPr>
        <p:spPr>
          <a:xfrm>
            <a:off x="800100" y="3438525"/>
            <a:ext cx="2152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facturas por mes</a:t>
            </a:r>
          </a:p>
        </p:txBody>
      </p:sp>
      <p:sp>
        <p:nvSpPr>
          <p:cNvPr id="8" name="evidence-2-surface">
            <a:extLst>
              <a:ext uri="{FF2B5EF4-FFF2-40B4-BE49-F238E27FC236}">
                <a16:creationId xmlns:a16="http://schemas.microsoft.com/office/drawing/2014/main" id="{6BF0C0DB-D50A-4236-BAB9-48FB73FE423B}"/>
              </a:ext>
            </a:extLst>
          </p:cNvPr>
          <p:cNvSpPr>
            <a:spLocks noGrp="1"/>
          </p:cNvSpPr>
          <p:nvPr/>
        </p:nvSpPr>
        <p:spPr>
          <a:xfrm>
            <a:off x="3333750" y="2571750"/>
            <a:ext cx="2533650" cy="1428750"/>
          </a:xfrm>
          <a:prstGeom prst="roundRect">
            <a:avLst>
              <a:gd name="adj" fmla="val 5333"/>
            </a:avLst>
          </a:prstGeom>
          <a:solidFill>
            <a:srgbClr val="E3F1EC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evidence-2-value">
            <a:extLst>
              <a:ext uri="{FF2B5EF4-FFF2-40B4-BE49-F238E27FC236}">
                <a16:creationId xmlns:a16="http://schemas.microsoft.com/office/drawing/2014/main" id="{1124B135-8DEE-493B-8FBD-894D91A027FB}"/>
              </a:ext>
            </a:extLst>
          </p:cNvPr>
          <p:cNvSpPr>
            <a:spLocks noGrp="1"/>
          </p:cNvSpPr>
          <p:nvPr/>
        </p:nvSpPr>
        <p:spPr>
          <a:xfrm>
            <a:off x="3524250" y="2800350"/>
            <a:ext cx="2152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15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10" name="evidence-2-label">
            <a:extLst>
              <a:ext uri="{FF2B5EF4-FFF2-40B4-BE49-F238E27FC236}">
                <a16:creationId xmlns:a16="http://schemas.microsoft.com/office/drawing/2014/main" id="{5C938C0D-E527-4AAF-8FA4-05899A776F50}"/>
              </a:ext>
            </a:extLst>
          </p:cNvPr>
          <p:cNvSpPr>
            <a:spLocks noGrp="1"/>
          </p:cNvSpPr>
          <p:nvPr/>
        </p:nvSpPr>
        <p:spPr>
          <a:xfrm>
            <a:off x="3524250" y="3438525"/>
            <a:ext cx="2152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pasos manuales</a:t>
            </a:r>
          </a:p>
        </p:txBody>
      </p:sp>
      <p:sp>
        <p:nvSpPr>
          <p:cNvPr id="11" name="evidence-3-surface">
            <a:extLst>
              <a:ext uri="{FF2B5EF4-FFF2-40B4-BE49-F238E27FC236}">
                <a16:creationId xmlns:a16="http://schemas.microsoft.com/office/drawing/2014/main" id="{09AC8BFC-A03B-4336-8C29-EE4EA52FD12D}"/>
              </a:ext>
            </a:extLst>
          </p:cNvPr>
          <p:cNvSpPr>
            <a:spLocks noGrp="1"/>
          </p:cNvSpPr>
          <p:nvPr/>
        </p:nvSpPr>
        <p:spPr>
          <a:xfrm>
            <a:off x="6057900" y="2571750"/>
            <a:ext cx="2533650" cy="1428750"/>
          </a:xfrm>
          <a:prstGeom prst="roundRect">
            <a:avLst>
              <a:gd name="adj" fmla="val 5333"/>
            </a:avLst>
          </a:prstGeom>
          <a:solidFill>
            <a:srgbClr val="E3F1EC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evidence-3-value">
            <a:extLst>
              <a:ext uri="{FF2B5EF4-FFF2-40B4-BE49-F238E27FC236}">
                <a16:creationId xmlns:a16="http://schemas.microsoft.com/office/drawing/2014/main" id="{68408B45-5326-4C68-9DEF-410D23E8FAD4}"/>
              </a:ext>
            </a:extLst>
          </p:cNvPr>
          <p:cNvSpPr>
            <a:spLocks noGrp="1"/>
          </p:cNvSpPr>
          <p:nvPr/>
        </p:nvSpPr>
        <p:spPr>
          <a:xfrm>
            <a:off x="6248400" y="2800350"/>
            <a:ext cx="2152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15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2–4</a:t>
            </a:r>
          </a:p>
        </p:txBody>
      </p:sp>
      <p:sp>
        <p:nvSpPr>
          <p:cNvPr id="13" name="evidence-3-label">
            <a:extLst>
              <a:ext uri="{FF2B5EF4-FFF2-40B4-BE49-F238E27FC236}">
                <a16:creationId xmlns:a16="http://schemas.microsoft.com/office/drawing/2014/main" id="{0FF50C44-F774-48A2-8C91-5E3329D17B53}"/>
              </a:ext>
            </a:extLst>
          </p:cNvPr>
          <p:cNvSpPr>
            <a:spLocks noGrp="1"/>
          </p:cNvSpPr>
          <p:nvPr/>
        </p:nvSpPr>
        <p:spPr>
          <a:xfrm>
            <a:off x="6248400" y="3438525"/>
            <a:ext cx="2152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personas involucradas</a:t>
            </a:r>
          </a:p>
        </p:txBody>
      </p:sp>
      <p:sp>
        <p:nvSpPr>
          <p:cNvPr id="14" name="evidence-4-surface">
            <a:extLst>
              <a:ext uri="{FF2B5EF4-FFF2-40B4-BE49-F238E27FC236}">
                <a16:creationId xmlns:a16="http://schemas.microsoft.com/office/drawing/2014/main" id="{6206E033-A931-4CA8-868C-C444ED71C40E}"/>
              </a:ext>
            </a:extLst>
          </p:cNvPr>
          <p:cNvSpPr>
            <a:spLocks noGrp="1"/>
          </p:cNvSpPr>
          <p:nvPr/>
        </p:nvSpPr>
        <p:spPr>
          <a:xfrm>
            <a:off x="8782050" y="2571750"/>
            <a:ext cx="2800350" cy="1428750"/>
          </a:xfrm>
          <a:prstGeom prst="roundRect">
            <a:avLst>
              <a:gd name="adj" fmla="val 5333"/>
            </a:avLst>
          </a:prstGeom>
          <a:solidFill>
            <a:srgbClr val="F6E5E7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evidence-4-value">
            <a:extLst>
              <a:ext uri="{FF2B5EF4-FFF2-40B4-BE49-F238E27FC236}">
                <a16:creationId xmlns:a16="http://schemas.microsoft.com/office/drawing/2014/main" id="{14FCDDA1-9C32-4016-8607-41607873D1D6}"/>
              </a:ext>
            </a:extLst>
          </p:cNvPr>
          <p:cNvSpPr>
            <a:spLocks noGrp="1"/>
          </p:cNvSpPr>
          <p:nvPr/>
        </p:nvSpPr>
        <p:spPr>
          <a:xfrm>
            <a:off x="8972550" y="2800350"/>
            <a:ext cx="2419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150" b="1" i="0">
                <a:solidFill>
                  <a:srgbClr val="9A4951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9A4951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6" name="evidence-4-label">
            <a:extLst>
              <a:ext uri="{FF2B5EF4-FFF2-40B4-BE49-F238E27FC236}">
                <a16:creationId xmlns:a16="http://schemas.microsoft.com/office/drawing/2014/main" id="{A929DAE5-73FD-41CC-8E09-C3F7978911D5}"/>
              </a:ext>
            </a:extLst>
          </p:cNvPr>
          <p:cNvSpPr>
            <a:spLocks noGrp="1"/>
          </p:cNvSpPr>
          <p:nvPr/>
        </p:nvSpPr>
        <p:spPr>
          <a:xfrm>
            <a:off x="8972550" y="3438525"/>
            <a:ext cx="2419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sistemas o canales</a:t>
            </a:r>
          </a:p>
        </p:txBody>
      </p:sp>
      <p:sp>
        <p:nvSpPr>
          <p:cNvPr id="17" name="proof-title-0">
            <a:extLst>
              <a:ext uri="{FF2B5EF4-FFF2-40B4-BE49-F238E27FC236}">
                <a16:creationId xmlns:a16="http://schemas.microsoft.com/office/drawing/2014/main" id="{C1A253AB-53A4-45A3-B0E9-2E32B0AE37EC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323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Inbox de AP</a:t>
            </a:r>
          </a:p>
        </p:txBody>
      </p:sp>
      <p:sp>
        <p:nvSpPr>
          <p:cNvPr id="18" name="proof-body-0">
            <a:extLst>
              <a:ext uri="{FF2B5EF4-FFF2-40B4-BE49-F238E27FC236}">
                <a16:creationId xmlns:a16="http://schemas.microsoft.com/office/drawing/2014/main" id="{E79447A6-78D3-4250-A933-7A8AEBCD57F9}"/>
              </a:ext>
            </a:extLst>
          </p:cNvPr>
          <p:cNvSpPr>
            <a:spLocks noGrp="1"/>
          </p:cNvSpPr>
          <p:nvPr/>
        </p:nvSpPr>
        <p:spPr>
          <a:xfrm>
            <a:off x="609600" y="5029200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Entrada documental.</a:t>
            </a:r>
          </a:p>
        </p:txBody>
      </p:sp>
      <p:sp>
        <p:nvSpPr>
          <p:cNvPr id="19" name="proof-title-1">
            <a:extLst>
              <a:ext uri="{FF2B5EF4-FFF2-40B4-BE49-F238E27FC236}">
                <a16:creationId xmlns:a16="http://schemas.microsoft.com/office/drawing/2014/main" id="{633CAD8C-DB72-496C-9F82-560574C8F1AF}"/>
              </a:ext>
            </a:extLst>
          </p:cNvPr>
          <p:cNvSpPr>
            <a:spLocks noGrp="1"/>
          </p:cNvSpPr>
          <p:nvPr/>
        </p:nvSpPr>
        <p:spPr>
          <a:xfrm>
            <a:off x="4305300" y="4572000"/>
            <a:ext cx="323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ERP + planillas</a:t>
            </a:r>
          </a:p>
        </p:txBody>
      </p:sp>
      <p:sp>
        <p:nvSpPr>
          <p:cNvPr id="20" name="proof-body-1">
            <a:extLst>
              <a:ext uri="{FF2B5EF4-FFF2-40B4-BE49-F238E27FC236}">
                <a16:creationId xmlns:a16="http://schemas.microsoft.com/office/drawing/2014/main" id="{18F4B9EA-B42D-49A5-B4DE-6588FF590DA5}"/>
              </a:ext>
            </a:extLst>
          </p:cNvPr>
          <p:cNvSpPr>
            <a:spLocks noGrp="1"/>
          </p:cNvSpPr>
          <p:nvPr/>
        </p:nvSpPr>
        <p:spPr>
          <a:xfrm>
            <a:off x="4305300" y="5029200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Recarga y validación.</a:t>
            </a:r>
          </a:p>
        </p:txBody>
      </p:sp>
      <p:sp>
        <p:nvSpPr>
          <p:cNvPr id="21" name="proof-title-2">
            <a:extLst>
              <a:ext uri="{FF2B5EF4-FFF2-40B4-BE49-F238E27FC236}">
                <a16:creationId xmlns:a16="http://schemas.microsoft.com/office/drawing/2014/main" id="{AECD3148-30D5-4DEF-8A5D-69A42FCFFF5C}"/>
              </a:ext>
            </a:extLst>
          </p:cNvPr>
          <p:cNvSpPr>
            <a:spLocks noGrp="1"/>
          </p:cNvSpPr>
          <p:nvPr/>
        </p:nvSpPr>
        <p:spPr>
          <a:xfrm>
            <a:off x="8001000" y="4572000"/>
            <a:ext cx="323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Banco</a:t>
            </a:r>
          </a:p>
        </p:txBody>
      </p:sp>
      <p:sp>
        <p:nvSpPr>
          <p:cNvPr id="22" name="proof-body-2">
            <a:extLst>
              <a:ext uri="{FF2B5EF4-FFF2-40B4-BE49-F238E27FC236}">
                <a16:creationId xmlns:a16="http://schemas.microsoft.com/office/drawing/2014/main" id="{1E82ED05-BFC6-439B-B169-39C64499EFBB}"/>
              </a:ext>
            </a:extLst>
          </p:cNvPr>
          <p:cNvSpPr>
            <a:spLocks noGrp="1"/>
          </p:cNvSpPr>
          <p:nvPr/>
        </p:nvSpPr>
        <p:spPr>
          <a:xfrm>
            <a:off x="8001000" y="5029200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Preparación del pago.</a:t>
            </a:r>
          </a:p>
        </p:txBody>
      </p:sp>
      <p:sp>
        <p:nvSpPr>
          <p:cNvPr id="23" name="proof-link">
            <a:extLst>
              <a:ext uri="{FF2B5EF4-FFF2-40B4-BE49-F238E27FC236}">
                <a16:creationId xmlns:a16="http://schemas.microsoft.com/office/drawing/2014/main" id="{66468004-E299-4355-A5E6-143401915AAE}"/>
              </a:ext>
            </a:extLst>
          </p:cNvPr>
          <p:cNvSpPr>
            <a:spLocks noGrp="1"/>
          </p:cNvSpPr>
          <p:nvPr/>
        </p:nvSpPr>
        <p:spPr>
          <a:xfrm>
            <a:off x="609600" y="5876925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3677C"/>
                </a:solidFill>
                <a:latin typeface="Aptos"/>
                <a:ea typeface="Aptos"/>
                <a:cs typeface="Aptos"/>
              </a:rPr>
              <a:t>El business case del cliente se calcula durante discovery</a:t>
            </a:r>
          </a:p>
        </p:txBody>
      </p:sp>
      <p:sp>
        <p:nvSpPr>
          <p:cNvPr id="24" name="footer-note-7">
            <a:extLst>
              <a:ext uri="{FF2B5EF4-FFF2-40B4-BE49-F238E27FC236}">
                <a16:creationId xmlns:a16="http://schemas.microsoft.com/office/drawing/2014/main" id="{FE7F2008-8DB7-4498-B2BF-9726A2B914AC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933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0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AP Control Tower · product pitch → CFO Office</a:t>
            </a:r>
          </a:p>
        </p:txBody>
      </p:sp>
      <p:sp>
        <p:nvSpPr>
          <p:cNvPr id="25" name="footer-page-7">
            <a:extLst>
              <a:ext uri="{FF2B5EF4-FFF2-40B4-BE49-F238E27FC236}">
                <a16:creationId xmlns:a16="http://schemas.microsoft.com/office/drawing/2014/main" id="{7070EDE2-7B2B-4C4A-B535-B3A1717ACBB0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050" b="1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46041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yebrow-3">
            <a:extLst>
              <a:ext uri="{FF2B5EF4-FFF2-40B4-BE49-F238E27FC236}">
                <a16:creationId xmlns:a16="http://schemas.microsoft.com/office/drawing/2014/main" id="{0007C191-C9A4-49B7-81D9-704DC5520522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POR QUÉ AP CONTROL TOWER</a:t>
            </a:r>
          </a:p>
        </p:txBody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0B8C117D-F8DD-43EB-AB1D-F22B5C4ECE0B}"/>
              </a:ext>
            </a:extLst>
          </p:cNvPr>
          <p:cNvSpPr>
            <a:spLocks noGrp="1"/>
          </p:cNvSpPr>
          <p:nvPr/>
        </p:nvSpPr>
        <p:spPr>
          <a:xfrm>
            <a:off x="609600" y="714375"/>
            <a:ext cx="109728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9861"/>
          </a:bodyPr>
          <a:lstStyle/>
          <a:p>
            <a:pPr algn="l">
              <a:buNone/>
              <a:defRPr sz="36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Leer la factura es un paso; el valor está en gobernar lo que sucede después.</a:t>
            </a:r>
          </a:p>
        </p:txBody>
      </p:sp>
      <p:sp>
        <p:nvSpPr>
          <p:cNvPr id="3" name="title-rule-3">
            <a:extLst>
              <a:ext uri="{FF2B5EF4-FFF2-40B4-BE49-F238E27FC236}">
                <a16:creationId xmlns:a16="http://schemas.microsoft.com/office/drawing/2014/main" id="{C1DD277E-4DF9-4AAF-8C8B-EF5B75D33D3D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value-n-0">
            <a:extLst>
              <a:ext uri="{FF2B5EF4-FFF2-40B4-BE49-F238E27FC236}">
                <a16:creationId xmlns:a16="http://schemas.microsoft.com/office/drawing/2014/main" id="{E54D12C2-89BF-406E-B0D6-960732232176}"/>
              </a:ext>
            </a:extLst>
          </p:cNvPr>
          <p:cNvSpPr>
            <a:spLocks noGrp="1"/>
          </p:cNvSpPr>
          <p:nvPr/>
        </p:nvSpPr>
        <p:spPr>
          <a:xfrm>
            <a:off x="609600" y="25527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value-title-0">
            <a:extLst>
              <a:ext uri="{FF2B5EF4-FFF2-40B4-BE49-F238E27FC236}">
                <a16:creationId xmlns:a16="http://schemas.microsoft.com/office/drawing/2014/main" id="{2A0CD413-BF7E-4B67-B14D-CACED3D9A878}"/>
              </a:ext>
            </a:extLst>
          </p:cNvPr>
          <p:cNvSpPr>
            <a:spLocks noGrp="1"/>
          </p:cNvSpPr>
          <p:nvPr/>
        </p:nvSpPr>
        <p:spPr>
          <a:xfrm>
            <a:off x="609600" y="2990850"/>
            <a:ext cx="3143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Evidencia</a:t>
            </a:r>
          </a:p>
        </p:txBody>
      </p:sp>
      <p:sp>
        <p:nvSpPr>
          <p:cNvPr id="6" name="value-body-0">
            <a:extLst>
              <a:ext uri="{FF2B5EF4-FFF2-40B4-BE49-F238E27FC236}">
                <a16:creationId xmlns:a16="http://schemas.microsoft.com/office/drawing/2014/main" id="{74BC6809-6714-400E-821D-4D23D3780646}"/>
              </a:ext>
            </a:extLst>
          </p:cNvPr>
          <p:cNvSpPr>
            <a:spLocks noGrp="1"/>
          </p:cNvSpPr>
          <p:nvPr/>
        </p:nvSpPr>
        <p:spPr>
          <a:xfrm>
            <a:off x="609600" y="3781425"/>
            <a:ext cx="314325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Cada dato conserva vínculo con el documento fuente. Los campos inciertos se muestran para revisión, no se ocultan.</a:t>
            </a:r>
          </a:p>
        </p:txBody>
      </p:sp>
      <p:sp>
        <p:nvSpPr>
          <p:cNvPr id="7" name="value-n-1">
            <a:extLst>
              <a:ext uri="{FF2B5EF4-FFF2-40B4-BE49-F238E27FC236}">
                <a16:creationId xmlns:a16="http://schemas.microsoft.com/office/drawing/2014/main" id="{9FFDE03E-05EA-408A-8866-EF3BB3DEDA7E}"/>
              </a:ext>
            </a:extLst>
          </p:cNvPr>
          <p:cNvSpPr>
            <a:spLocks noGrp="1"/>
          </p:cNvSpPr>
          <p:nvPr/>
        </p:nvSpPr>
        <p:spPr>
          <a:xfrm>
            <a:off x="4305300" y="25527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value-title-1">
            <a:extLst>
              <a:ext uri="{FF2B5EF4-FFF2-40B4-BE49-F238E27FC236}">
                <a16:creationId xmlns:a16="http://schemas.microsoft.com/office/drawing/2014/main" id="{14D7F67D-44E8-48D8-B57A-87388FBD7497}"/>
              </a:ext>
            </a:extLst>
          </p:cNvPr>
          <p:cNvSpPr>
            <a:spLocks noGrp="1"/>
          </p:cNvSpPr>
          <p:nvPr/>
        </p:nvSpPr>
        <p:spPr>
          <a:xfrm>
            <a:off x="4305300" y="2990850"/>
            <a:ext cx="3143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Decisión</a:t>
            </a:r>
          </a:p>
        </p:txBody>
      </p:sp>
      <p:sp>
        <p:nvSpPr>
          <p:cNvPr id="9" name="value-body-1">
            <a:extLst>
              <a:ext uri="{FF2B5EF4-FFF2-40B4-BE49-F238E27FC236}">
                <a16:creationId xmlns:a16="http://schemas.microsoft.com/office/drawing/2014/main" id="{225BCC07-7590-4873-8CE2-931510776453}"/>
              </a:ext>
            </a:extLst>
          </p:cNvPr>
          <p:cNvSpPr>
            <a:spLocks noGrp="1"/>
          </p:cNvSpPr>
          <p:nvPr/>
        </p:nvSpPr>
        <p:spPr>
          <a:xfrm>
            <a:off x="4305300" y="3781425"/>
            <a:ext cx="314325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Routing, reglas y excepciones convierten documentos dispersos en una cola de trabajo priorizada y explicable.</a:t>
            </a:r>
          </a:p>
        </p:txBody>
      </p:sp>
      <p:sp>
        <p:nvSpPr>
          <p:cNvPr id="10" name="value-n-2">
            <a:extLst>
              <a:ext uri="{FF2B5EF4-FFF2-40B4-BE49-F238E27FC236}">
                <a16:creationId xmlns:a16="http://schemas.microsoft.com/office/drawing/2014/main" id="{F664EDE2-BCAC-4CAD-A57B-05773678EFE7}"/>
              </a:ext>
            </a:extLst>
          </p:cNvPr>
          <p:cNvSpPr>
            <a:spLocks noGrp="1"/>
          </p:cNvSpPr>
          <p:nvPr/>
        </p:nvSpPr>
        <p:spPr>
          <a:xfrm>
            <a:off x="8001000" y="25527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1" name="value-title-2">
            <a:extLst>
              <a:ext uri="{FF2B5EF4-FFF2-40B4-BE49-F238E27FC236}">
                <a16:creationId xmlns:a16="http://schemas.microsoft.com/office/drawing/2014/main" id="{7A41C2F9-FE67-4EC7-B2BC-9960930BDC80}"/>
              </a:ext>
            </a:extLst>
          </p:cNvPr>
          <p:cNvSpPr>
            <a:spLocks noGrp="1"/>
          </p:cNvSpPr>
          <p:nvPr/>
        </p:nvSpPr>
        <p:spPr>
          <a:xfrm>
            <a:off x="8001000" y="2990850"/>
            <a:ext cx="3143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12" name="value-body-2">
            <a:extLst>
              <a:ext uri="{FF2B5EF4-FFF2-40B4-BE49-F238E27FC236}">
                <a16:creationId xmlns:a16="http://schemas.microsoft.com/office/drawing/2014/main" id="{1B273593-C248-4CF4-9E80-2D704D016E26}"/>
              </a:ext>
            </a:extLst>
          </p:cNvPr>
          <p:cNvSpPr>
            <a:spLocks noGrp="1"/>
          </p:cNvSpPr>
          <p:nvPr/>
        </p:nvSpPr>
        <p:spPr>
          <a:xfrm>
            <a:off x="8001000" y="3781425"/>
            <a:ext cx="314325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Maker–checker, aprobación humana y audit trail gobiernan la propuesta antes de cualquier movimiento de dinero.</a:t>
            </a:r>
          </a:p>
        </p:txBody>
      </p:sp>
      <p:sp>
        <p:nvSpPr>
          <p:cNvPr id="13" name="value-bottom-rule">
            <a:extLst>
              <a:ext uri="{FF2B5EF4-FFF2-40B4-BE49-F238E27FC236}">
                <a16:creationId xmlns:a16="http://schemas.microsoft.com/office/drawing/2014/main" id="{F7B3953D-DAED-40B7-8BCA-FB98AA783F47}"/>
              </a:ext>
            </a:extLst>
          </p:cNvPr>
          <p:cNvSpPr>
            <a:spLocks noGrp="1"/>
          </p:cNvSpPr>
          <p:nvPr/>
        </p:nvSpPr>
        <p:spPr>
          <a:xfrm>
            <a:off x="609600" y="5429250"/>
            <a:ext cx="109728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human-gate-claim">
            <a:extLst>
              <a:ext uri="{FF2B5EF4-FFF2-40B4-BE49-F238E27FC236}">
                <a16:creationId xmlns:a16="http://schemas.microsoft.com/office/drawing/2014/main" id="{FF7002F2-1BB5-4534-AB41-B3370E8FCCE5}"/>
              </a:ext>
            </a:extLst>
          </p:cNvPr>
          <p:cNvSpPr>
            <a:spLocks noGrp="1"/>
          </p:cNvSpPr>
          <p:nvPr/>
        </p:nvSpPr>
        <p:spPr>
          <a:xfrm>
            <a:off x="609600" y="5667375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AP no es solo captura documental: es un problema de control previo al pago.</a:t>
            </a:r>
          </a:p>
        </p:txBody>
      </p:sp>
      <p:sp>
        <p:nvSpPr>
          <p:cNvPr id="15" name="footer-note-3">
            <a:extLst>
              <a:ext uri="{FF2B5EF4-FFF2-40B4-BE49-F238E27FC236}">
                <a16:creationId xmlns:a16="http://schemas.microsoft.com/office/drawing/2014/main" id="{74DF850F-817F-47AA-84F2-06A796C063D0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933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0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AP Control Tower · product pitch → CFO Office</a:t>
            </a:r>
          </a:p>
        </p:txBody>
      </p:sp>
      <p:sp>
        <p:nvSpPr>
          <p:cNvPr id="16" name="footer-page-3">
            <a:extLst>
              <a:ext uri="{FF2B5EF4-FFF2-40B4-BE49-F238E27FC236}">
                <a16:creationId xmlns:a16="http://schemas.microsoft.com/office/drawing/2014/main" id="{3573E8F8-4153-4B61-9084-E43562EE1573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050" b="1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30809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eyebrow-4">
            <a:extLst>
              <a:ext uri="{FF2B5EF4-FFF2-40B4-BE49-F238E27FC236}">
                <a16:creationId xmlns:a16="http://schemas.microsoft.com/office/drawing/2014/main" id="{05D19340-E0BD-45CA-A209-1B265368356D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AP CONTROL TOWER · FLUJO END-TO-END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D5E6CB7C-B5BC-481F-A43E-AF4906A2AE57}"/>
              </a:ext>
            </a:extLst>
          </p:cNvPr>
          <p:cNvSpPr>
            <a:spLocks noGrp="1"/>
          </p:cNvSpPr>
          <p:nvPr/>
        </p:nvSpPr>
        <p:spPr>
          <a:xfrm>
            <a:off x="609600" y="714375"/>
            <a:ext cx="109728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759"/>
          </a:bodyPr>
          <a:lstStyle/>
          <a:p>
            <a:pPr algn="l">
              <a:buNone/>
              <a:defRPr sz="36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De la factura recibida a una obligación aprobada y auditable.</a:t>
            </a:r>
          </a:p>
        </p:txBody>
      </p:sp>
      <p:sp>
        <p:nvSpPr>
          <p:cNvPr id="3" name="title-rule-4">
            <a:extLst>
              <a:ext uri="{FF2B5EF4-FFF2-40B4-BE49-F238E27FC236}">
                <a16:creationId xmlns:a16="http://schemas.microsoft.com/office/drawing/2014/main" id="{FF9237F5-17BD-4B2E-9723-674EA5669FA3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flow-top-connector-0">
            <a:extLst>
              <a:ext uri="{FF2B5EF4-FFF2-40B4-BE49-F238E27FC236}">
                <a16:creationId xmlns:a16="http://schemas.microsoft.com/office/drawing/2014/main" id="{82576B63-DE8C-4342-BC25-ACCDF48552BE}"/>
              </a:ext>
            </a:extLst>
          </p:cNvPr>
          <p:cNvSpPr>
            <a:spLocks noGrp="1"/>
          </p:cNvSpPr>
          <p:nvPr/>
        </p:nvSpPr>
        <p:spPr>
          <a:xfrm>
            <a:off x="3124200" y="3000375"/>
            <a:ext cx="304800" cy="19050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flow-top-connector-1">
            <a:extLst>
              <a:ext uri="{FF2B5EF4-FFF2-40B4-BE49-F238E27FC236}">
                <a16:creationId xmlns:a16="http://schemas.microsoft.com/office/drawing/2014/main" id="{7CFCB77F-3704-4F9E-9B59-C658E3A47B6A}"/>
              </a:ext>
            </a:extLst>
          </p:cNvPr>
          <p:cNvSpPr>
            <a:spLocks noGrp="1"/>
          </p:cNvSpPr>
          <p:nvPr/>
        </p:nvSpPr>
        <p:spPr>
          <a:xfrm>
            <a:off x="5943600" y="3000375"/>
            <a:ext cx="304800" cy="19050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flow-top-connector-2">
            <a:extLst>
              <a:ext uri="{FF2B5EF4-FFF2-40B4-BE49-F238E27FC236}">
                <a16:creationId xmlns:a16="http://schemas.microsoft.com/office/drawing/2014/main" id="{F5992587-795F-453F-AC8F-039C581F0B8C}"/>
              </a:ext>
            </a:extLst>
          </p:cNvPr>
          <p:cNvSpPr>
            <a:spLocks noGrp="1"/>
          </p:cNvSpPr>
          <p:nvPr/>
        </p:nvSpPr>
        <p:spPr>
          <a:xfrm>
            <a:off x="8763000" y="3000375"/>
            <a:ext cx="304800" cy="19050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flow-turn-down">
            <a:extLst>
              <a:ext uri="{FF2B5EF4-FFF2-40B4-BE49-F238E27FC236}">
                <a16:creationId xmlns:a16="http://schemas.microsoft.com/office/drawing/2014/main" id="{EEE43739-0EF3-45D9-B8AF-88D6EDC6ED0F}"/>
              </a:ext>
            </a:extLst>
          </p:cNvPr>
          <p:cNvSpPr>
            <a:spLocks noGrp="1"/>
          </p:cNvSpPr>
          <p:nvPr/>
        </p:nvSpPr>
        <p:spPr>
          <a:xfrm>
            <a:off x="10325100" y="3543300"/>
            <a:ext cx="19050" cy="0"/>
          </a:xfrm>
          <a:prstGeom prst="rect">
            <a:avLst/>
          </a:prstGeom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flow-bottom-connector-0">
            <a:extLst>
              <a:ext uri="{FF2B5EF4-FFF2-40B4-BE49-F238E27FC236}">
                <a16:creationId xmlns:a16="http://schemas.microsoft.com/office/drawing/2014/main" id="{2759393E-73B6-4642-AA49-2FBC184EEBA3}"/>
              </a:ext>
            </a:extLst>
          </p:cNvPr>
          <p:cNvSpPr>
            <a:spLocks noGrp="1"/>
          </p:cNvSpPr>
          <p:nvPr/>
        </p:nvSpPr>
        <p:spPr>
          <a:xfrm>
            <a:off x="3124200" y="4810125"/>
            <a:ext cx="304800" cy="19050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flow-bottom-connector-1">
            <a:extLst>
              <a:ext uri="{FF2B5EF4-FFF2-40B4-BE49-F238E27FC236}">
                <a16:creationId xmlns:a16="http://schemas.microsoft.com/office/drawing/2014/main" id="{F82877CF-D540-442E-994D-CA29F88E1F63}"/>
              </a:ext>
            </a:extLst>
          </p:cNvPr>
          <p:cNvSpPr>
            <a:spLocks noGrp="1"/>
          </p:cNvSpPr>
          <p:nvPr/>
        </p:nvSpPr>
        <p:spPr>
          <a:xfrm>
            <a:off x="5943600" y="4810125"/>
            <a:ext cx="304800" cy="19050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flow-bottom-connector-2">
            <a:extLst>
              <a:ext uri="{FF2B5EF4-FFF2-40B4-BE49-F238E27FC236}">
                <a16:creationId xmlns:a16="http://schemas.microsoft.com/office/drawing/2014/main" id="{499A7F0A-69F2-49D4-BEB1-A67F7D38EA81}"/>
              </a:ext>
            </a:extLst>
          </p:cNvPr>
          <p:cNvSpPr>
            <a:spLocks noGrp="1"/>
          </p:cNvSpPr>
          <p:nvPr/>
        </p:nvSpPr>
        <p:spPr>
          <a:xfrm>
            <a:off x="8763000" y="4810125"/>
            <a:ext cx="304800" cy="19050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op-0-box">
            <a:extLst>
              <a:ext uri="{FF2B5EF4-FFF2-40B4-BE49-F238E27FC236}">
                <a16:creationId xmlns:a16="http://schemas.microsoft.com/office/drawing/2014/main" id="{DA236283-AE94-4389-95DC-223A628457E9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25146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op-0-n">
            <a:extLst>
              <a:ext uri="{FF2B5EF4-FFF2-40B4-BE49-F238E27FC236}">
                <a16:creationId xmlns:a16="http://schemas.microsoft.com/office/drawing/2014/main" id="{752E1761-5CB4-4E8C-BF8B-9FFCF94F51F8}"/>
              </a:ext>
            </a:extLst>
          </p:cNvPr>
          <p:cNvSpPr>
            <a:spLocks noGrp="1"/>
          </p:cNvSpPr>
          <p:nvPr/>
        </p:nvSpPr>
        <p:spPr>
          <a:xfrm>
            <a:off x="762000" y="260985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top-0-title">
            <a:extLst>
              <a:ext uri="{FF2B5EF4-FFF2-40B4-BE49-F238E27FC236}">
                <a16:creationId xmlns:a16="http://schemas.microsoft.com/office/drawing/2014/main" id="{CB696B1F-E60A-48F3-B761-C2D477BC6DD9}"/>
              </a:ext>
            </a:extLst>
          </p:cNvPr>
          <p:cNvSpPr>
            <a:spLocks noGrp="1"/>
          </p:cNvSpPr>
          <p:nvPr/>
        </p:nvSpPr>
        <p:spPr>
          <a:xfrm>
            <a:off x="762000" y="287655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Intake</a:t>
            </a:r>
          </a:p>
        </p:txBody>
      </p:sp>
      <p:sp>
        <p:nvSpPr>
          <p:cNvPr id="14" name="top-0-detail">
            <a:extLst>
              <a:ext uri="{FF2B5EF4-FFF2-40B4-BE49-F238E27FC236}">
                <a16:creationId xmlns:a16="http://schemas.microsoft.com/office/drawing/2014/main" id="{CC5F568C-E6A0-46C2-8763-181847ADC38F}"/>
              </a:ext>
            </a:extLst>
          </p:cNvPr>
          <p:cNvSpPr>
            <a:spLocks noGrp="1"/>
          </p:cNvSpPr>
          <p:nvPr/>
        </p:nvSpPr>
        <p:spPr>
          <a:xfrm>
            <a:off x="762000" y="3181350"/>
            <a:ext cx="2209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Email / AP inbox o PDF</a:t>
            </a:r>
          </a:p>
        </p:txBody>
      </p:sp>
      <p:sp>
        <p:nvSpPr>
          <p:cNvPr id="15" name="top-1-box">
            <a:extLst>
              <a:ext uri="{FF2B5EF4-FFF2-40B4-BE49-F238E27FC236}">
                <a16:creationId xmlns:a16="http://schemas.microsoft.com/office/drawing/2014/main" id="{756827FC-79AC-4A2A-813B-BB3A8C3575EF}"/>
              </a:ext>
            </a:extLst>
          </p:cNvPr>
          <p:cNvSpPr>
            <a:spLocks noGrp="1"/>
          </p:cNvSpPr>
          <p:nvPr/>
        </p:nvSpPr>
        <p:spPr>
          <a:xfrm>
            <a:off x="3429000" y="2476500"/>
            <a:ext cx="25146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op-1-n">
            <a:extLst>
              <a:ext uri="{FF2B5EF4-FFF2-40B4-BE49-F238E27FC236}">
                <a16:creationId xmlns:a16="http://schemas.microsoft.com/office/drawing/2014/main" id="{CD35CA53-7D1F-4160-8670-598C1E72E75B}"/>
              </a:ext>
            </a:extLst>
          </p:cNvPr>
          <p:cNvSpPr>
            <a:spLocks noGrp="1"/>
          </p:cNvSpPr>
          <p:nvPr/>
        </p:nvSpPr>
        <p:spPr>
          <a:xfrm>
            <a:off x="3581400" y="260985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top-1-title">
            <a:extLst>
              <a:ext uri="{FF2B5EF4-FFF2-40B4-BE49-F238E27FC236}">
                <a16:creationId xmlns:a16="http://schemas.microsoft.com/office/drawing/2014/main" id="{38CE0CBB-CF58-4CE0-A799-13D6099922D2}"/>
              </a:ext>
            </a:extLst>
          </p:cNvPr>
          <p:cNvSpPr>
            <a:spLocks noGrp="1"/>
          </p:cNvSpPr>
          <p:nvPr/>
        </p:nvSpPr>
        <p:spPr>
          <a:xfrm>
            <a:off x="3581400" y="287655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Extracción</a:t>
            </a:r>
          </a:p>
        </p:txBody>
      </p:sp>
      <p:sp>
        <p:nvSpPr>
          <p:cNvPr id="18" name="top-1-detail">
            <a:extLst>
              <a:ext uri="{FF2B5EF4-FFF2-40B4-BE49-F238E27FC236}">
                <a16:creationId xmlns:a16="http://schemas.microsoft.com/office/drawing/2014/main" id="{C8D7E7F4-60FF-4EA3-9E11-D76239B199CE}"/>
              </a:ext>
            </a:extLst>
          </p:cNvPr>
          <p:cNvSpPr>
            <a:spLocks noGrp="1"/>
          </p:cNvSpPr>
          <p:nvPr/>
        </p:nvSpPr>
        <p:spPr>
          <a:xfrm>
            <a:off x="3581400" y="3181350"/>
            <a:ext cx="2209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Document AI + evidencia</a:t>
            </a:r>
          </a:p>
        </p:txBody>
      </p:sp>
      <p:sp>
        <p:nvSpPr>
          <p:cNvPr id="19" name="top-2-box">
            <a:extLst>
              <a:ext uri="{FF2B5EF4-FFF2-40B4-BE49-F238E27FC236}">
                <a16:creationId xmlns:a16="http://schemas.microsoft.com/office/drawing/2014/main" id="{7614A8C0-BCEC-4438-BE53-88AB23AAB704}"/>
              </a:ext>
            </a:extLst>
          </p:cNvPr>
          <p:cNvSpPr>
            <a:spLocks noGrp="1"/>
          </p:cNvSpPr>
          <p:nvPr/>
        </p:nvSpPr>
        <p:spPr>
          <a:xfrm>
            <a:off x="6248400" y="2476500"/>
            <a:ext cx="25146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op-2-n">
            <a:extLst>
              <a:ext uri="{FF2B5EF4-FFF2-40B4-BE49-F238E27FC236}">
                <a16:creationId xmlns:a16="http://schemas.microsoft.com/office/drawing/2014/main" id="{37F25719-7BE4-46C0-8201-3337A79B1CD6}"/>
              </a:ext>
            </a:extLst>
          </p:cNvPr>
          <p:cNvSpPr>
            <a:spLocks noGrp="1"/>
          </p:cNvSpPr>
          <p:nvPr/>
        </p:nvSpPr>
        <p:spPr>
          <a:xfrm>
            <a:off x="6400800" y="260985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" name="top-2-title">
            <a:extLst>
              <a:ext uri="{FF2B5EF4-FFF2-40B4-BE49-F238E27FC236}">
                <a16:creationId xmlns:a16="http://schemas.microsoft.com/office/drawing/2014/main" id="{C42B4A5E-64DA-40D9-B231-CE220C50A8D4}"/>
              </a:ext>
            </a:extLst>
          </p:cNvPr>
          <p:cNvSpPr>
            <a:spLocks noGrp="1"/>
          </p:cNvSpPr>
          <p:nvPr/>
        </p:nvSpPr>
        <p:spPr>
          <a:xfrm>
            <a:off x="6400800" y="287655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Routing</a:t>
            </a:r>
          </a:p>
        </p:txBody>
      </p:sp>
      <p:sp>
        <p:nvSpPr>
          <p:cNvPr id="22" name="top-2-detail">
            <a:extLst>
              <a:ext uri="{FF2B5EF4-FFF2-40B4-BE49-F238E27FC236}">
                <a16:creationId xmlns:a16="http://schemas.microsoft.com/office/drawing/2014/main" id="{0D8A14F0-213A-48C1-9B26-F804D5907856}"/>
              </a:ext>
            </a:extLst>
          </p:cNvPr>
          <p:cNvSpPr>
            <a:spLocks noGrp="1"/>
          </p:cNvSpPr>
          <p:nvPr/>
        </p:nvSpPr>
        <p:spPr>
          <a:xfrm>
            <a:off x="6400800" y="3181350"/>
            <a:ext cx="2209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PO · non-PO · anticipos</a:t>
            </a:r>
          </a:p>
        </p:txBody>
      </p:sp>
      <p:sp>
        <p:nvSpPr>
          <p:cNvPr id="23" name="top-3-box">
            <a:extLst>
              <a:ext uri="{FF2B5EF4-FFF2-40B4-BE49-F238E27FC236}">
                <a16:creationId xmlns:a16="http://schemas.microsoft.com/office/drawing/2014/main" id="{830518E0-0977-4F89-9F50-E7BF3BD4E2A8}"/>
              </a:ext>
            </a:extLst>
          </p:cNvPr>
          <p:cNvSpPr>
            <a:spLocks noGrp="1"/>
          </p:cNvSpPr>
          <p:nvPr/>
        </p:nvSpPr>
        <p:spPr>
          <a:xfrm>
            <a:off x="9067800" y="2476500"/>
            <a:ext cx="25146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op-3-n">
            <a:extLst>
              <a:ext uri="{FF2B5EF4-FFF2-40B4-BE49-F238E27FC236}">
                <a16:creationId xmlns:a16="http://schemas.microsoft.com/office/drawing/2014/main" id="{398AB920-100F-4C17-B48B-61116DC6E8B0}"/>
              </a:ext>
            </a:extLst>
          </p:cNvPr>
          <p:cNvSpPr>
            <a:spLocks noGrp="1"/>
          </p:cNvSpPr>
          <p:nvPr/>
        </p:nvSpPr>
        <p:spPr>
          <a:xfrm>
            <a:off x="9220200" y="260985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5" name="top-3-title">
            <a:extLst>
              <a:ext uri="{FF2B5EF4-FFF2-40B4-BE49-F238E27FC236}">
                <a16:creationId xmlns:a16="http://schemas.microsoft.com/office/drawing/2014/main" id="{302DC78B-53B1-43C0-8F7C-14792CD5F73D}"/>
              </a:ext>
            </a:extLst>
          </p:cNvPr>
          <p:cNvSpPr>
            <a:spLocks noGrp="1"/>
          </p:cNvSpPr>
          <p:nvPr/>
        </p:nvSpPr>
        <p:spPr>
          <a:xfrm>
            <a:off x="9220200" y="287655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Controles</a:t>
            </a:r>
          </a:p>
        </p:txBody>
      </p:sp>
      <p:sp>
        <p:nvSpPr>
          <p:cNvPr id="26" name="top-3-detail">
            <a:extLst>
              <a:ext uri="{FF2B5EF4-FFF2-40B4-BE49-F238E27FC236}">
                <a16:creationId xmlns:a16="http://schemas.microsoft.com/office/drawing/2014/main" id="{55C6B52C-BFD7-4610-B156-26E94EE30D4F}"/>
              </a:ext>
            </a:extLst>
          </p:cNvPr>
          <p:cNvSpPr>
            <a:spLocks noGrp="1"/>
          </p:cNvSpPr>
          <p:nvPr/>
        </p:nvSpPr>
        <p:spPr>
          <a:xfrm>
            <a:off x="9220200" y="3181350"/>
            <a:ext cx="2209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Reglas + hard/soft flags</a:t>
            </a:r>
          </a:p>
        </p:txBody>
      </p:sp>
      <p:sp>
        <p:nvSpPr>
          <p:cNvPr id="27" name="bottom-0-box">
            <a:extLst>
              <a:ext uri="{FF2B5EF4-FFF2-40B4-BE49-F238E27FC236}">
                <a16:creationId xmlns:a16="http://schemas.microsoft.com/office/drawing/2014/main" id="{42BD8547-70B5-4201-8522-2A9104D53F57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25146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bottom-0-n">
            <a:extLst>
              <a:ext uri="{FF2B5EF4-FFF2-40B4-BE49-F238E27FC236}">
                <a16:creationId xmlns:a16="http://schemas.microsoft.com/office/drawing/2014/main" id="{2C8E0CF7-FF31-4B20-B2EE-36B0EA5069AC}"/>
              </a:ext>
            </a:extLst>
          </p:cNvPr>
          <p:cNvSpPr>
            <a:spLocks noGrp="1"/>
          </p:cNvSpPr>
          <p:nvPr/>
        </p:nvSpPr>
        <p:spPr>
          <a:xfrm>
            <a:off x="762000" y="441960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29" name="bottom-0-title">
            <a:extLst>
              <a:ext uri="{FF2B5EF4-FFF2-40B4-BE49-F238E27FC236}">
                <a16:creationId xmlns:a16="http://schemas.microsoft.com/office/drawing/2014/main" id="{ECF3C0C4-8B22-4E7A-A0E6-FCC0F930B8CE}"/>
              </a:ext>
            </a:extLst>
          </p:cNvPr>
          <p:cNvSpPr>
            <a:spLocks noGrp="1"/>
          </p:cNvSpPr>
          <p:nvPr/>
        </p:nvSpPr>
        <p:spPr>
          <a:xfrm>
            <a:off x="762000" y="468630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Cierre</a:t>
            </a:r>
          </a:p>
        </p:txBody>
      </p:sp>
      <p:sp>
        <p:nvSpPr>
          <p:cNvPr id="30" name="bottom-0-detail">
            <a:extLst>
              <a:ext uri="{FF2B5EF4-FFF2-40B4-BE49-F238E27FC236}">
                <a16:creationId xmlns:a16="http://schemas.microsoft.com/office/drawing/2014/main" id="{D0F8E7C0-DA84-47AD-94DC-6435D47A190A}"/>
              </a:ext>
            </a:extLst>
          </p:cNvPr>
          <p:cNvSpPr>
            <a:spLocks noGrp="1"/>
          </p:cNvSpPr>
          <p:nvPr/>
        </p:nvSpPr>
        <p:spPr>
          <a:xfrm>
            <a:off x="762000" y="4991100"/>
            <a:ext cx="2209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Obligación + audit trail</a:t>
            </a:r>
          </a:p>
        </p:txBody>
      </p:sp>
      <p:sp>
        <p:nvSpPr>
          <p:cNvPr id="31" name="bottom-1-box">
            <a:extLst>
              <a:ext uri="{FF2B5EF4-FFF2-40B4-BE49-F238E27FC236}">
                <a16:creationId xmlns:a16="http://schemas.microsoft.com/office/drawing/2014/main" id="{569A2307-09B2-45D3-BEEC-A26B059EFC01}"/>
              </a:ext>
            </a:extLst>
          </p:cNvPr>
          <p:cNvSpPr>
            <a:spLocks noGrp="1"/>
          </p:cNvSpPr>
          <p:nvPr/>
        </p:nvSpPr>
        <p:spPr>
          <a:xfrm>
            <a:off x="3429000" y="4286250"/>
            <a:ext cx="2514600" cy="1066800"/>
          </a:xfrm>
          <a:prstGeom prst="roundRect">
            <a:avLst>
              <a:gd name="adj" fmla="val 7143"/>
            </a:avLst>
          </a:prstGeom>
          <a:solidFill>
            <a:srgbClr val="E3F1EC"/>
          </a:solidFill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2" name="bottom-1-n">
            <a:extLst>
              <a:ext uri="{FF2B5EF4-FFF2-40B4-BE49-F238E27FC236}">
                <a16:creationId xmlns:a16="http://schemas.microsoft.com/office/drawing/2014/main" id="{B9C7B27D-0524-4B88-99A3-A56B83D1296C}"/>
              </a:ext>
            </a:extLst>
          </p:cNvPr>
          <p:cNvSpPr>
            <a:spLocks noGrp="1"/>
          </p:cNvSpPr>
          <p:nvPr/>
        </p:nvSpPr>
        <p:spPr>
          <a:xfrm>
            <a:off x="3581400" y="441960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3" name="bottom-1-title">
            <a:extLst>
              <a:ext uri="{FF2B5EF4-FFF2-40B4-BE49-F238E27FC236}">
                <a16:creationId xmlns:a16="http://schemas.microsoft.com/office/drawing/2014/main" id="{8385F921-DAFA-4E96-8568-D896E38BE7CC}"/>
              </a:ext>
            </a:extLst>
          </p:cNvPr>
          <p:cNvSpPr>
            <a:spLocks noGrp="1"/>
          </p:cNvSpPr>
          <p:nvPr/>
        </p:nvSpPr>
        <p:spPr>
          <a:xfrm>
            <a:off x="3581400" y="468630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Aprobación</a:t>
            </a:r>
          </a:p>
        </p:txBody>
      </p:sp>
      <p:sp>
        <p:nvSpPr>
          <p:cNvPr id="34" name="bottom-1-detail">
            <a:extLst>
              <a:ext uri="{FF2B5EF4-FFF2-40B4-BE49-F238E27FC236}">
                <a16:creationId xmlns:a16="http://schemas.microsoft.com/office/drawing/2014/main" id="{F1D1C6B5-18AF-4422-96FA-40BA7177952E}"/>
              </a:ext>
            </a:extLst>
          </p:cNvPr>
          <p:cNvSpPr>
            <a:spLocks noGrp="1"/>
          </p:cNvSpPr>
          <p:nvPr/>
        </p:nvSpPr>
        <p:spPr>
          <a:xfrm>
            <a:off x="3581400" y="4991100"/>
            <a:ext cx="2209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Human gate obligatorio</a:t>
            </a:r>
          </a:p>
        </p:txBody>
      </p:sp>
      <p:sp>
        <p:nvSpPr>
          <p:cNvPr id="35" name="bottom-2-box">
            <a:extLst>
              <a:ext uri="{FF2B5EF4-FFF2-40B4-BE49-F238E27FC236}">
                <a16:creationId xmlns:a16="http://schemas.microsoft.com/office/drawing/2014/main" id="{6953269A-DEAA-4BB5-B88D-A6A756CD7250}"/>
              </a:ext>
            </a:extLst>
          </p:cNvPr>
          <p:cNvSpPr>
            <a:spLocks noGrp="1"/>
          </p:cNvSpPr>
          <p:nvPr/>
        </p:nvSpPr>
        <p:spPr>
          <a:xfrm>
            <a:off x="6248400" y="4286250"/>
            <a:ext cx="25146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6" name="bottom-2-n">
            <a:extLst>
              <a:ext uri="{FF2B5EF4-FFF2-40B4-BE49-F238E27FC236}">
                <a16:creationId xmlns:a16="http://schemas.microsoft.com/office/drawing/2014/main" id="{4D209D89-D26B-4DDD-BD22-7BE258E02BE2}"/>
              </a:ext>
            </a:extLst>
          </p:cNvPr>
          <p:cNvSpPr>
            <a:spLocks noGrp="1"/>
          </p:cNvSpPr>
          <p:nvPr/>
        </p:nvSpPr>
        <p:spPr>
          <a:xfrm>
            <a:off x="6400800" y="441960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7" name="bottom-2-title">
            <a:extLst>
              <a:ext uri="{FF2B5EF4-FFF2-40B4-BE49-F238E27FC236}">
                <a16:creationId xmlns:a16="http://schemas.microsoft.com/office/drawing/2014/main" id="{82430FC0-E3AE-462D-8E83-B865DDAD8CED}"/>
              </a:ext>
            </a:extLst>
          </p:cNvPr>
          <p:cNvSpPr>
            <a:spLocks noGrp="1"/>
          </p:cNvSpPr>
          <p:nvPr/>
        </p:nvSpPr>
        <p:spPr>
          <a:xfrm>
            <a:off x="6400800" y="468630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Maker–checker</a:t>
            </a:r>
          </a:p>
        </p:txBody>
      </p:sp>
      <p:sp>
        <p:nvSpPr>
          <p:cNvPr id="38" name="bottom-2-detail">
            <a:extLst>
              <a:ext uri="{FF2B5EF4-FFF2-40B4-BE49-F238E27FC236}">
                <a16:creationId xmlns:a16="http://schemas.microsoft.com/office/drawing/2014/main" id="{59F56F20-E8DA-4F74-9798-9B0A38602504}"/>
              </a:ext>
            </a:extLst>
          </p:cNvPr>
          <p:cNvSpPr>
            <a:spLocks noGrp="1"/>
          </p:cNvSpPr>
          <p:nvPr/>
        </p:nvSpPr>
        <p:spPr>
          <a:xfrm>
            <a:off x="6400800" y="4991100"/>
            <a:ext cx="2209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Doble validación</a:t>
            </a:r>
          </a:p>
        </p:txBody>
      </p:sp>
      <p:sp>
        <p:nvSpPr>
          <p:cNvPr id="39" name="bottom-3-box">
            <a:extLst>
              <a:ext uri="{FF2B5EF4-FFF2-40B4-BE49-F238E27FC236}">
                <a16:creationId xmlns:a16="http://schemas.microsoft.com/office/drawing/2014/main" id="{F0E10960-90A7-4938-932B-282FAC7DE4A1}"/>
              </a:ext>
            </a:extLst>
          </p:cNvPr>
          <p:cNvSpPr>
            <a:spLocks noGrp="1"/>
          </p:cNvSpPr>
          <p:nvPr/>
        </p:nvSpPr>
        <p:spPr>
          <a:xfrm>
            <a:off x="9067800" y="4286250"/>
            <a:ext cx="25146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0" name="bottom-3-n">
            <a:extLst>
              <a:ext uri="{FF2B5EF4-FFF2-40B4-BE49-F238E27FC236}">
                <a16:creationId xmlns:a16="http://schemas.microsoft.com/office/drawing/2014/main" id="{E5EED8A2-7597-4611-9FEC-30C8D863CD4A}"/>
              </a:ext>
            </a:extLst>
          </p:cNvPr>
          <p:cNvSpPr>
            <a:spLocks noGrp="1"/>
          </p:cNvSpPr>
          <p:nvPr/>
        </p:nvSpPr>
        <p:spPr>
          <a:xfrm>
            <a:off x="9220200" y="441960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1" name="bottom-3-title">
            <a:extLst>
              <a:ext uri="{FF2B5EF4-FFF2-40B4-BE49-F238E27FC236}">
                <a16:creationId xmlns:a16="http://schemas.microsoft.com/office/drawing/2014/main" id="{2D50F2D9-32DD-427A-B8E7-A1E0E667804B}"/>
              </a:ext>
            </a:extLst>
          </p:cNvPr>
          <p:cNvSpPr>
            <a:spLocks noGrp="1"/>
          </p:cNvSpPr>
          <p:nvPr/>
        </p:nvSpPr>
        <p:spPr>
          <a:xfrm>
            <a:off x="9220200" y="468630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Revisión</a:t>
            </a:r>
          </a:p>
        </p:txBody>
      </p:sp>
      <p:sp>
        <p:nvSpPr>
          <p:cNvPr id="42" name="bottom-3-detail">
            <a:extLst>
              <a:ext uri="{FF2B5EF4-FFF2-40B4-BE49-F238E27FC236}">
                <a16:creationId xmlns:a16="http://schemas.microsoft.com/office/drawing/2014/main" id="{B7B189F9-02C3-4F27-B983-321C9352FFD1}"/>
              </a:ext>
            </a:extLst>
          </p:cNvPr>
          <p:cNvSpPr>
            <a:spLocks noGrp="1"/>
          </p:cNvSpPr>
          <p:nvPr/>
        </p:nvSpPr>
        <p:spPr>
          <a:xfrm>
            <a:off x="9220200" y="4991100"/>
            <a:ext cx="2209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Solo campos inciertos</a:t>
            </a:r>
          </a:p>
        </p:txBody>
      </p:sp>
      <p:sp>
        <p:nvSpPr>
          <p:cNvPr id="43" name="flow-top-arrow-0">
            <a:extLst>
              <a:ext uri="{FF2B5EF4-FFF2-40B4-BE49-F238E27FC236}">
                <a16:creationId xmlns:a16="http://schemas.microsoft.com/office/drawing/2014/main" id="{79E07E5D-6622-4BA6-A658-1C48323C13D5}"/>
              </a:ext>
            </a:extLst>
          </p:cNvPr>
          <p:cNvSpPr>
            <a:spLocks noGrp="1"/>
          </p:cNvSpPr>
          <p:nvPr/>
        </p:nvSpPr>
        <p:spPr>
          <a:xfrm>
            <a:off x="3181350" y="284797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7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44" name="flow-bottom-arrow-0">
            <a:extLst>
              <a:ext uri="{FF2B5EF4-FFF2-40B4-BE49-F238E27FC236}">
                <a16:creationId xmlns:a16="http://schemas.microsoft.com/office/drawing/2014/main" id="{6DC2DA16-AB9A-4C56-9F25-52E3D4116195}"/>
              </a:ext>
            </a:extLst>
          </p:cNvPr>
          <p:cNvSpPr>
            <a:spLocks noGrp="1"/>
          </p:cNvSpPr>
          <p:nvPr/>
        </p:nvSpPr>
        <p:spPr>
          <a:xfrm>
            <a:off x="3181350" y="46577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75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←</a:t>
            </a:r>
          </a:p>
        </p:txBody>
      </p:sp>
      <p:sp>
        <p:nvSpPr>
          <p:cNvPr id="45" name="flow-top-arrow-1">
            <a:extLst>
              <a:ext uri="{FF2B5EF4-FFF2-40B4-BE49-F238E27FC236}">
                <a16:creationId xmlns:a16="http://schemas.microsoft.com/office/drawing/2014/main" id="{579DC809-E88F-4A59-A071-197355422A8F}"/>
              </a:ext>
            </a:extLst>
          </p:cNvPr>
          <p:cNvSpPr>
            <a:spLocks noGrp="1"/>
          </p:cNvSpPr>
          <p:nvPr/>
        </p:nvSpPr>
        <p:spPr>
          <a:xfrm>
            <a:off x="6000750" y="284797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7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46" name="flow-bottom-arrow-1">
            <a:extLst>
              <a:ext uri="{FF2B5EF4-FFF2-40B4-BE49-F238E27FC236}">
                <a16:creationId xmlns:a16="http://schemas.microsoft.com/office/drawing/2014/main" id="{305169B9-6E4C-465A-A881-4336C602A621}"/>
              </a:ext>
            </a:extLst>
          </p:cNvPr>
          <p:cNvSpPr>
            <a:spLocks noGrp="1"/>
          </p:cNvSpPr>
          <p:nvPr/>
        </p:nvSpPr>
        <p:spPr>
          <a:xfrm>
            <a:off x="6000750" y="46577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75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←</a:t>
            </a:r>
          </a:p>
        </p:txBody>
      </p:sp>
      <p:sp>
        <p:nvSpPr>
          <p:cNvPr id="47" name="flow-top-arrow-2">
            <a:extLst>
              <a:ext uri="{FF2B5EF4-FFF2-40B4-BE49-F238E27FC236}">
                <a16:creationId xmlns:a16="http://schemas.microsoft.com/office/drawing/2014/main" id="{3920AC14-D669-42AC-A50C-91C68FEBF1CE}"/>
              </a:ext>
            </a:extLst>
          </p:cNvPr>
          <p:cNvSpPr>
            <a:spLocks noGrp="1"/>
          </p:cNvSpPr>
          <p:nvPr/>
        </p:nvSpPr>
        <p:spPr>
          <a:xfrm>
            <a:off x="8820150" y="284797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7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48" name="flow-bottom-arrow-2">
            <a:extLst>
              <a:ext uri="{FF2B5EF4-FFF2-40B4-BE49-F238E27FC236}">
                <a16:creationId xmlns:a16="http://schemas.microsoft.com/office/drawing/2014/main" id="{93AA67ED-CC56-4128-B817-FFAA50B6E101}"/>
              </a:ext>
            </a:extLst>
          </p:cNvPr>
          <p:cNvSpPr>
            <a:spLocks noGrp="1"/>
          </p:cNvSpPr>
          <p:nvPr/>
        </p:nvSpPr>
        <p:spPr>
          <a:xfrm>
            <a:off x="8820150" y="46577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75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←</a:t>
            </a:r>
          </a:p>
        </p:txBody>
      </p:sp>
      <p:sp>
        <p:nvSpPr>
          <p:cNvPr id="49" name="flow-down-arrow">
            <a:extLst>
              <a:ext uri="{FF2B5EF4-FFF2-40B4-BE49-F238E27FC236}">
                <a16:creationId xmlns:a16="http://schemas.microsoft.com/office/drawing/2014/main" id="{FC2640F6-8B29-48DF-AF20-E5CC73D3C45A}"/>
              </a:ext>
            </a:extLst>
          </p:cNvPr>
          <p:cNvSpPr>
            <a:spLocks noGrp="1"/>
          </p:cNvSpPr>
          <p:nvPr/>
        </p:nvSpPr>
        <p:spPr>
          <a:xfrm>
            <a:off x="10229850" y="3762375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0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50" name="flow-automation-label">
            <a:extLst>
              <a:ext uri="{FF2B5EF4-FFF2-40B4-BE49-F238E27FC236}">
                <a16:creationId xmlns:a16="http://schemas.microsoft.com/office/drawing/2014/main" id="{B36C4150-1500-4C16-9422-0C2D6491B4A2}"/>
              </a:ext>
            </a:extLst>
          </p:cNvPr>
          <p:cNvSpPr>
            <a:spLocks noGrp="1"/>
          </p:cNvSpPr>
          <p:nvPr/>
        </p:nvSpPr>
        <p:spPr>
          <a:xfrm>
            <a:off x="609600" y="218122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AUTOMATIZACIÓN, EVIDENCIA Y CONTROL</a:t>
            </a:r>
          </a:p>
        </p:txBody>
      </p:sp>
      <p:sp>
        <p:nvSpPr>
          <p:cNvPr id="51" name="flow-governance-label">
            <a:extLst>
              <a:ext uri="{FF2B5EF4-FFF2-40B4-BE49-F238E27FC236}">
                <a16:creationId xmlns:a16="http://schemas.microsoft.com/office/drawing/2014/main" id="{B97B4131-B146-40FA-AFF0-C9855F6F8D29}"/>
              </a:ext>
            </a:extLst>
          </p:cNvPr>
          <p:cNvSpPr>
            <a:spLocks noGrp="1"/>
          </p:cNvSpPr>
          <p:nvPr/>
        </p:nvSpPr>
        <p:spPr>
          <a:xfrm>
            <a:off x="609600" y="39909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GOBIERNO Y DECISIÓN HUMANA</a:t>
            </a:r>
          </a:p>
        </p:txBody>
      </p:sp>
      <p:sp>
        <p:nvSpPr>
          <p:cNvPr id="52" name="footer-note-4">
            <a:extLst>
              <a:ext uri="{FF2B5EF4-FFF2-40B4-BE49-F238E27FC236}">
                <a16:creationId xmlns:a16="http://schemas.microsoft.com/office/drawing/2014/main" id="{4BC78CE1-1B93-4818-94FE-68FBBE41314D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933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0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AP Control Tower · product pitch → CFO Office</a:t>
            </a:r>
          </a:p>
        </p:txBody>
      </p:sp>
      <p:sp>
        <p:nvSpPr>
          <p:cNvPr id="53" name="footer-page-4">
            <a:extLst>
              <a:ext uri="{FF2B5EF4-FFF2-40B4-BE49-F238E27FC236}">
                <a16:creationId xmlns:a16="http://schemas.microsoft.com/office/drawing/2014/main" id="{1C479FD3-565F-4D2B-A99A-18CD51FFB572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050" b="1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29330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yebrow-3">
            <a:extLst>
              <a:ext uri="{FF2B5EF4-FFF2-40B4-BE49-F238E27FC236}">
                <a16:creationId xmlns:a16="http://schemas.microsoft.com/office/drawing/2014/main" id="{0007C191-C9A4-49B7-81D9-704DC5520522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AUTORIDAD HUMANA</a:t>
            </a:r>
          </a:p>
        </p:txBody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0B8C117D-F8DD-43EB-AB1D-F22B5C4ECE0B}"/>
              </a:ext>
            </a:extLst>
          </p:cNvPr>
          <p:cNvSpPr>
            <a:spLocks noGrp="1"/>
          </p:cNvSpPr>
          <p:nvPr/>
        </p:nvSpPr>
        <p:spPr>
          <a:xfrm>
            <a:off x="609600" y="714375"/>
            <a:ext cx="109728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9861"/>
          </a:bodyPr>
          <a:lstStyle/>
          <a:p>
            <a:pPr algn="l">
              <a:buNone/>
              <a:defRPr sz="36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El sistema prepara la decisión; las personas conservan la autoridad.</a:t>
            </a:r>
          </a:p>
        </p:txBody>
      </p:sp>
      <p:sp>
        <p:nvSpPr>
          <p:cNvPr id="3" name="title-rule-3">
            <a:extLst>
              <a:ext uri="{FF2B5EF4-FFF2-40B4-BE49-F238E27FC236}">
                <a16:creationId xmlns:a16="http://schemas.microsoft.com/office/drawing/2014/main" id="{C1DD277E-4DF9-4AAF-8C8B-EF5B75D33D3D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value-n-0">
            <a:extLst>
              <a:ext uri="{FF2B5EF4-FFF2-40B4-BE49-F238E27FC236}">
                <a16:creationId xmlns:a16="http://schemas.microsoft.com/office/drawing/2014/main" id="{E54D12C2-89BF-406E-B0D6-960732232176}"/>
              </a:ext>
            </a:extLst>
          </p:cNvPr>
          <p:cNvSpPr>
            <a:spLocks noGrp="1"/>
          </p:cNvSpPr>
          <p:nvPr/>
        </p:nvSpPr>
        <p:spPr>
          <a:xfrm>
            <a:off x="609600" y="25527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value-title-0">
            <a:extLst>
              <a:ext uri="{FF2B5EF4-FFF2-40B4-BE49-F238E27FC236}">
                <a16:creationId xmlns:a16="http://schemas.microsoft.com/office/drawing/2014/main" id="{2A0CD413-BF7E-4B67-B14D-CACED3D9A878}"/>
              </a:ext>
            </a:extLst>
          </p:cNvPr>
          <p:cNvSpPr>
            <a:spLocks noGrp="1"/>
          </p:cNvSpPr>
          <p:nvPr/>
        </p:nvSpPr>
        <p:spPr>
          <a:xfrm>
            <a:off x="609600" y="2990850"/>
            <a:ext cx="3143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Sistema</a:t>
            </a:r>
          </a:p>
        </p:txBody>
      </p:sp>
      <p:sp>
        <p:nvSpPr>
          <p:cNvPr id="6" name="value-body-0">
            <a:extLst>
              <a:ext uri="{FF2B5EF4-FFF2-40B4-BE49-F238E27FC236}">
                <a16:creationId xmlns:a16="http://schemas.microsoft.com/office/drawing/2014/main" id="{74BC6809-6714-400E-821D-4D23D3780646}"/>
              </a:ext>
            </a:extLst>
          </p:cNvPr>
          <p:cNvSpPr>
            <a:spLocks noGrp="1"/>
          </p:cNvSpPr>
          <p:nvPr/>
        </p:nvSpPr>
        <p:spPr>
          <a:xfrm>
            <a:off x="609600" y="3781425"/>
            <a:ext cx="314325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Lee, normaliza, busca evidencia, aplica reglas y propone una ruta. No aprueba ni ejecuta pagos.</a:t>
            </a:r>
          </a:p>
        </p:txBody>
      </p:sp>
      <p:sp>
        <p:nvSpPr>
          <p:cNvPr id="7" name="value-n-1">
            <a:extLst>
              <a:ext uri="{FF2B5EF4-FFF2-40B4-BE49-F238E27FC236}">
                <a16:creationId xmlns:a16="http://schemas.microsoft.com/office/drawing/2014/main" id="{9FFDE03E-05EA-408A-8866-EF3BB3DEDA7E}"/>
              </a:ext>
            </a:extLst>
          </p:cNvPr>
          <p:cNvSpPr>
            <a:spLocks noGrp="1"/>
          </p:cNvSpPr>
          <p:nvPr/>
        </p:nvSpPr>
        <p:spPr>
          <a:xfrm>
            <a:off x="4305300" y="25527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value-title-1">
            <a:extLst>
              <a:ext uri="{FF2B5EF4-FFF2-40B4-BE49-F238E27FC236}">
                <a16:creationId xmlns:a16="http://schemas.microsoft.com/office/drawing/2014/main" id="{14D7F67D-44E8-48D8-B57A-87388FBD7497}"/>
              </a:ext>
            </a:extLst>
          </p:cNvPr>
          <p:cNvSpPr>
            <a:spLocks noGrp="1"/>
          </p:cNvSpPr>
          <p:nvPr/>
        </p:nvSpPr>
        <p:spPr>
          <a:xfrm>
            <a:off x="4305300" y="2990850"/>
            <a:ext cx="3143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Revisor</a:t>
            </a:r>
          </a:p>
        </p:txBody>
      </p:sp>
      <p:sp>
        <p:nvSpPr>
          <p:cNvPr id="9" name="value-body-1">
            <a:extLst>
              <a:ext uri="{FF2B5EF4-FFF2-40B4-BE49-F238E27FC236}">
                <a16:creationId xmlns:a16="http://schemas.microsoft.com/office/drawing/2014/main" id="{225BCC07-7590-4873-8CE2-931510776453}"/>
              </a:ext>
            </a:extLst>
          </p:cNvPr>
          <p:cNvSpPr>
            <a:spLocks noGrp="1"/>
          </p:cNvSpPr>
          <p:nvPr/>
        </p:nvSpPr>
        <p:spPr>
          <a:xfrm>
            <a:off x="4305300" y="3781425"/>
            <a:ext cx="314325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Resuelve datos inciertos y excepciones con documento, motivo y trazabilidad visibles.</a:t>
            </a:r>
          </a:p>
        </p:txBody>
      </p:sp>
      <p:sp>
        <p:nvSpPr>
          <p:cNvPr id="10" name="value-n-2">
            <a:extLst>
              <a:ext uri="{FF2B5EF4-FFF2-40B4-BE49-F238E27FC236}">
                <a16:creationId xmlns:a16="http://schemas.microsoft.com/office/drawing/2014/main" id="{F664EDE2-BCAC-4CAD-A57B-05773678EFE7}"/>
              </a:ext>
            </a:extLst>
          </p:cNvPr>
          <p:cNvSpPr>
            <a:spLocks noGrp="1"/>
          </p:cNvSpPr>
          <p:nvPr/>
        </p:nvSpPr>
        <p:spPr>
          <a:xfrm>
            <a:off x="8001000" y="25527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1" name="value-title-2">
            <a:extLst>
              <a:ext uri="{FF2B5EF4-FFF2-40B4-BE49-F238E27FC236}">
                <a16:creationId xmlns:a16="http://schemas.microsoft.com/office/drawing/2014/main" id="{7A41C2F9-FE67-4EC7-B2BC-9960930BDC80}"/>
              </a:ext>
            </a:extLst>
          </p:cNvPr>
          <p:cNvSpPr>
            <a:spLocks noGrp="1"/>
          </p:cNvSpPr>
          <p:nvPr/>
        </p:nvSpPr>
        <p:spPr>
          <a:xfrm>
            <a:off x="8001000" y="2990850"/>
            <a:ext cx="3143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Aprobador</a:t>
            </a:r>
          </a:p>
        </p:txBody>
      </p:sp>
      <p:sp>
        <p:nvSpPr>
          <p:cNvPr id="12" name="value-body-2">
            <a:extLst>
              <a:ext uri="{FF2B5EF4-FFF2-40B4-BE49-F238E27FC236}">
                <a16:creationId xmlns:a16="http://schemas.microsoft.com/office/drawing/2014/main" id="{1B273593-C248-4CF4-9E80-2D704D016E26}"/>
              </a:ext>
            </a:extLst>
          </p:cNvPr>
          <p:cNvSpPr>
            <a:spLocks noGrp="1"/>
          </p:cNvSpPr>
          <p:nvPr/>
        </p:nvSpPr>
        <p:spPr>
          <a:xfrm>
            <a:off x="8001000" y="3781425"/>
            <a:ext cx="314325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Acepta o rechaza la obligación según políticas, segregación de funciones y nivel de autoridad.</a:t>
            </a:r>
          </a:p>
        </p:txBody>
      </p:sp>
      <p:sp>
        <p:nvSpPr>
          <p:cNvPr id="13" name="value-bottom-rule">
            <a:extLst>
              <a:ext uri="{FF2B5EF4-FFF2-40B4-BE49-F238E27FC236}">
                <a16:creationId xmlns:a16="http://schemas.microsoft.com/office/drawing/2014/main" id="{F7B3953D-DAED-40B7-8BCA-FB98AA783F47}"/>
              </a:ext>
            </a:extLst>
          </p:cNvPr>
          <p:cNvSpPr>
            <a:spLocks noGrp="1"/>
          </p:cNvSpPr>
          <p:nvPr/>
        </p:nvSpPr>
        <p:spPr>
          <a:xfrm>
            <a:off x="609600" y="5429250"/>
            <a:ext cx="109728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human-gate-claim">
            <a:extLst>
              <a:ext uri="{FF2B5EF4-FFF2-40B4-BE49-F238E27FC236}">
                <a16:creationId xmlns:a16="http://schemas.microsoft.com/office/drawing/2014/main" id="{FF7002F2-1BB5-4534-AB41-B3370E8FCCE5}"/>
              </a:ext>
            </a:extLst>
          </p:cNvPr>
          <p:cNvSpPr>
            <a:spLocks noGrp="1"/>
          </p:cNvSpPr>
          <p:nvPr/>
        </p:nvSpPr>
        <p:spPr>
          <a:xfrm>
            <a:off x="609600" y="5667375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Límite operativo: no booking y no payment execution sin aprobación humana.</a:t>
            </a:r>
          </a:p>
        </p:txBody>
      </p:sp>
      <p:sp>
        <p:nvSpPr>
          <p:cNvPr id="15" name="footer-note-3">
            <a:extLst>
              <a:ext uri="{FF2B5EF4-FFF2-40B4-BE49-F238E27FC236}">
                <a16:creationId xmlns:a16="http://schemas.microsoft.com/office/drawing/2014/main" id="{74DF850F-817F-47AA-84F2-06A796C063D0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933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0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AP Control Tower · product pitch → CFO Office</a:t>
            </a:r>
          </a:p>
        </p:txBody>
      </p:sp>
      <p:sp>
        <p:nvSpPr>
          <p:cNvPr id="16" name="footer-page-3">
            <a:extLst>
              <a:ext uri="{FF2B5EF4-FFF2-40B4-BE49-F238E27FC236}">
                <a16:creationId xmlns:a16="http://schemas.microsoft.com/office/drawing/2014/main" id="{3573E8F8-4153-4B61-9084-E43562EE1573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050" b="1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30809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eyebrow-6">
            <a:extLst>
              <a:ext uri="{FF2B5EF4-FFF2-40B4-BE49-F238E27FC236}">
                <a16:creationId xmlns:a16="http://schemas.microsoft.com/office/drawing/2014/main" id="{F70154EC-9200-4F57-84D4-28680CCF0792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CONTROLES ANTES DEL PAGO</a:t>
            </a:r>
          </a:p>
        </p:txBody>
      </p:sp>
      <p:sp>
        <p:nvSpPr>
          <p:cNvPr id="2" name="title-6">
            <a:extLst>
              <a:ext uri="{FF2B5EF4-FFF2-40B4-BE49-F238E27FC236}">
                <a16:creationId xmlns:a16="http://schemas.microsoft.com/office/drawing/2014/main" id="{96824595-DA18-4C8F-8675-45A8961DB575}"/>
              </a:ext>
            </a:extLst>
          </p:cNvPr>
          <p:cNvSpPr>
            <a:spLocks noGrp="1"/>
          </p:cNvSpPr>
          <p:nvPr/>
        </p:nvSpPr>
        <p:spPr>
          <a:xfrm>
            <a:off x="609600" y="714375"/>
            <a:ext cx="109728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9861"/>
          </a:bodyPr>
          <a:lstStyle/>
          <a:p>
            <a:pPr algn="l">
              <a:buNone/>
              <a:defRPr sz="36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Cobertura útil hoy; evidencia adicional cuando se conecten los maestros del cliente.</a:t>
            </a:r>
          </a:p>
        </p:txBody>
      </p:sp>
      <p:sp>
        <p:nvSpPr>
          <p:cNvPr id="3" name="title-rule-6">
            <a:extLst>
              <a:ext uri="{FF2B5EF4-FFF2-40B4-BE49-F238E27FC236}">
                <a16:creationId xmlns:a16="http://schemas.microsoft.com/office/drawing/2014/main" id="{1A6E6817-FB65-4536-BF14-BF498392CB6C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case-n-0">
            <a:extLst>
              <a:ext uri="{FF2B5EF4-FFF2-40B4-BE49-F238E27FC236}">
                <a16:creationId xmlns:a16="http://schemas.microsoft.com/office/drawing/2014/main" id="{E48A7220-FADC-4CF7-AE19-1F1F34CB67D6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5825"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01 · LIVE</a:t>
            </a:r>
          </a:p>
        </p:txBody>
      </p:sp>
      <p:sp>
        <p:nvSpPr>
          <p:cNvPr id="5" name="case-title-0">
            <a:extLst>
              <a:ext uri="{FF2B5EF4-FFF2-40B4-BE49-F238E27FC236}">
                <a16:creationId xmlns:a16="http://schemas.microsoft.com/office/drawing/2014/main" id="{0246F083-3E6C-432A-A7B6-E63086E21262}"/>
              </a:ext>
            </a:extLst>
          </p:cNvPr>
          <p:cNvSpPr>
            <a:spLocks noGrp="1"/>
          </p:cNvSpPr>
          <p:nvPr/>
        </p:nvSpPr>
        <p:spPr>
          <a:xfrm>
            <a:off x="1200150" y="2476500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Duplicados y casi-duplicados</a:t>
            </a:r>
          </a:p>
        </p:txBody>
      </p:sp>
      <p:sp>
        <p:nvSpPr>
          <p:cNvPr id="6" name="case-body-0">
            <a:extLst>
              <a:ext uri="{FF2B5EF4-FFF2-40B4-BE49-F238E27FC236}">
                <a16:creationId xmlns:a16="http://schemas.microsoft.com/office/drawing/2014/main" id="{1FE128F6-B751-408F-9894-80A4A646B143}"/>
              </a:ext>
            </a:extLst>
          </p:cNvPr>
          <p:cNvSpPr>
            <a:spLocks noGrp="1"/>
          </p:cNvSpPr>
          <p:nvPr/>
        </p:nvSpPr>
        <p:spPr>
          <a:xfrm>
            <a:off x="1200150" y="2895600"/>
            <a:ext cx="447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Proveedor, número, importe y proximidad temporal.</a:t>
            </a:r>
          </a:p>
        </p:txBody>
      </p:sp>
      <p:sp>
        <p:nvSpPr>
          <p:cNvPr id="7" name="case-rule-0">
            <a:extLst>
              <a:ext uri="{FF2B5EF4-FFF2-40B4-BE49-F238E27FC236}">
                <a16:creationId xmlns:a16="http://schemas.microsoft.com/office/drawing/2014/main" id="{2781B842-5D77-48A3-907C-3F2A6367BCF0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49530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case-n-1">
            <a:extLst>
              <a:ext uri="{FF2B5EF4-FFF2-40B4-BE49-F238E27FC236}">
                <a16:creationId xmlns:a16="http://schemas.microsoft.com/office/drawing/2014/main" id="{017C45F4-286E-4F0A-A0CA-F710BB30C717}"/>
              </a:ext>
            </a:extLst>
          </p:cNvPr>
          <p:cNvSpPr>
            <a:spLocks noGrp="1"/>
          </p:cNvSpPr>
          <p:nvPr/>
        </p:nvSpPr>
        <p:spPr>
          <a:xfrm>
            <a:off x="609600" y="35814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5825"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02 · LIVE</a:t>
            </a:r>
          </a:p>
        </p:txBody>
      </p:sp>
      <p:sp>
        <p:nvSpPr>
          <p:cNvPr id="9" name="case-title-1">
            <a:extLst>
              <a:ext uri="{FF2B5EF4-FFF2-40B4-BE49-F238E27FC236}">
                <a16:creationId xmlns:a16="http://schemas.microsoft.com/office/drawing/2014/main" id="{02D0F877-AB5A-4E26-B4E7-79C413F1C877}"/>
              </a:ext>
            </a:extLst>
          </p:cNvPr>
          <p:cNvSpPr>
            <a:spLocks noGrp="1"/>
          </p:cNvSpPr>
          <p:nvPr/>
        </p:nvSpPr>
        <p:spPr>
          <a:xfrm>
            <a:off x="1200150" y="3581400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Notas de crédito</a:t>
            </a:r>
          </a:p>
        </p:txBody>
      </p:sp>
      <p:sp>
        <p:nvSpPr>
          <p:cNvPr id="10" name="case-body-1">
            <a:extLst>
              <a:ext uri="{FF2B5EF4-FFF2-40B4-BE49-F238E27FC236}">
                <a16:creationId xmlns:a16="http://schemas.microsoft.com/office/drawing/2014/main" id="{4F72B81E-3B38-4F26-998A-4E3083DDB591}"/>
              </a:ext>
            </a:extLst>
          </p:cNvPr>
          <p:cNvSpPr>
            <a:spLocks noGrp="1"/>
          </p:cNvSpPr>
          <p:nvPr/>
        </p:nvSpPr>
        <p:spPr>
          <a:xfrm>
            <a:off x="1200150" y="4000500"/>
            <a:ext cx="447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Clasificación separada y tratamiento gobernado.</a:t>
            </a:r>
          </a:p>
        </p:txBody>
      </p:sp>
      <p:sp>
        <p:nvSpPr>
          <p:cNvPr id="11" name="case-rule-1">
            <a:extLst>
              <a:ext uri="{FF2B5EF4-FFF2-40B4-BE49-F238E27FC236}">
                <a16:creationId xmlns:a16="http://schemas.microsoft.com/office/drawing/2014/main" id="{F6D888F3-2D29-452B-AFA1-9CE8B57CCB97}"/>
              </a:ext>
            </a:extLst>
          </p:cNvPr>
          <p:cNvSpPr>
            <a:spLocks noGrp="1"/>
          </p:cNvSpPr>
          <p:nvPr/>
        </p:nvSpPr>
        <p:spPr>
          <a:xfrm>
            <a:off x="609600" y="4514850"/>
            <a:ext cx="49530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case-n-2">
            <a:extLst>
              <a:ext uri="{FF2B5EF4-FFF2-40B4-BE49-F238E27FC236}">
                <a16:creationId xmlns:a16="http://schemas.microsoft.com/office/drawing/2014/main" id="{EF21F923-0FDB-4437-B0CF-4645BCE9B883}"/>
              </a:ext>
            </a:extLst>
          </p:cNvPr>
          <p:cNvSpPr>
            <a:spLocks noGrp="1"/>
          </p:cNvSpPr>
          <p:nvPr/>
        </p:nvSpPr>
        <p:spPr>
          <a:xfrm>
            <a:off x="609600" y="46863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5825"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03 · LIVE</a:t>
            </a:r>
          </a:p>
        </p:txBody>
      </p:sp>
      <p:sp>
        <p:nvSpPr>
          <p:cNvPr id="13" name="case-title-2">
            <a:extLst>
              <a:ext uri="{FF2B5EF4-FFF2-40B4-BE49-F238E27FC236}">
                <a16:creationId xmlns:a16="http://schemas.microsoft.com/office/drawing/2014/main" id="{CDC8E5DF-A53D-4227-A965-FEBBF2374DA3}"/>
              </a:ext>
            </a:extLst>
          </p:cNvPr>
          <p:cNvSpPr>
            <a:spLocks noGrp="1"/>
          </p:cNvSpPr>
          <p:nvPr/>
        </p:nvSpPr>
        <p:spPr>
          <a:xfrm>
            <a:off x="1200150" y="4686300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Gate humano</a:t>
            </a:r>
          </a:p>
        </p:txBody>
      </p:sp>
      <p:sp>
        <p:nvSpPr>
          <p:cNvPr id="14" name="case-body-2">
            <a:extLst>
              <a:ext uri="{FF2B5EF4-FFF2-40B4-BE49-F238E27FC236}">
                <a16:creationId xmlns:a16="http://schemas.microsoft.com/office/drawing/2014/main" id="{A22E486A-81C6-4D14-8A46-14B809099A39}"/>
              </a:ext>
            </a:extLst>
          </p:cNvPr>
          <p:cNvSpPr>
            <a:spLocks noGrp="1"/>
          </p:cNvSpPr>
          <p:nvPr/>
        </p:nvSpPr>
        <p:spPr>
          <a:xfrm>
            <a:off x="1200150" y="5105400"/>
            <a:ext cx="447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La propuesta no se convierte sola en pago.</a:t>
            </a:r>
          </a:p>
        </p:txBody>
      </p:sp>
      <p:sp>
        <p:nvSpPr>
          <p:cNvPr id="15" name="case-n-3">
            <a:extLst>
              <a:ext uri="{FF2B5EF4-FFF2-40B4-BE49-F238E27FC236}">
                <a16:creationId xmlns:a16="http://schemas.microsoft.com/office/drawing/2014/main" id="{0DB16C3E-83CA-40BE-9B81-69363179ABDB}"/>
              </a:ext>
            </a:extLst>
          </p:cNvPr>
          <p:cNvSpPr>
            <a:spLocks noGrp="1"/>
          </p:cNvSpPr>
          <p:nvPr/>
        </p:nvSpPr>
        <p:spPr>
          <a:xfrm>
            <a:off x="6286500" y="24765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9575"/>
          </a:bodyPr>
          <a:lstStyle/>
          <a:p>
            <a:pPr algn="l">
              <a:buNone/>
              <a:defRPr sz="105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04 · ERP</a:t>
            </a:r>
          </a:p>
        </p:txBody>
      </p:sp>
      <p:sp>
        <p:nvSpPr>
          <p:cNvPr id="16" name="case-title-3">
            <a:extLst>
              <a:ext uri="{FF2B5EF4-FFF2-40B4-BE49-F238E27FC236}">
                <a16:creationId xmlns:a16="http://schemas.microsoft.com/office/drawing/2014/main" id="{D17EDBCE-2932-42CC-8AD5-138A371D10F3}"/>
              </a:ext>
            </a:extLst>
          </p:cNvPr>
          <p:cNvSpPr>
            <a:spLocks noGrp="1"/>
          </p:cNvSpPr>
          <p:nvPr/>
        </p:nvSpPr>
        <p:spPr>
          <a:xfrm>
            <a:off x="6877050" y="2476500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Maestro de proveedores</a:t>
            </a:r>
          </a:p>
        </p:txBody>
      </p:sp>
      <p:sp>
        <p:nvSpPr>
          <p:cNvPr id="17" name="case-body-3">
            <a:extLst>
              <a:ext uri="{FF2B5EF4-FFF2-40B4-BE49-F238E27FC236}">
                <a16:creationId xmlns:a16="http://schemas.microsoft.com/office/drawing/2014/main" id="{498AFE51-AD49-4B5B-BBA8-28E1E34C8104}"/>
              </a:ext>
            </a:extLst>
          </p:cNvPr>
          <p:cNvSpPr>
            <a:spLocks noGrp="1"/>
          </p:cNvSpPr>
          <p:nvPr/>
        </p:nvSpPr>
        <p:spPr>
          <a:xfrm>
            <a:off x="6877050" y="2895600"/>
            <a:ext cx="447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Alta, estado y cambios contrastados con el sistema fuente.</a:t>
            </a:r>
          </a:p>
        </p:txBody>
      </p:sp>
      <p:sp>
        <p:nvSpPr>
          <p:cNvPr id="18" name="case-rule-3">
            <a:extLst>
              <a:ext uri="{FF2B5EF4-FFF2-40B4-BE49-F238E27FC236}">
                <a16:creationId xmlns:a16="http://schemas.microsoft.com/office/drawing/2014/main" id="{2F1304CA-13A2-4845-B0B6-A413BC254CF2}"/>
              </a:ext>
            </a:extLst>
          </p:cNvPr>
          <p:cNvSpPr>
            <a:spLocks noGrp="1"/>
          </p:cNvSpPr>
          <p:nvPr/>
        </p:nvSpPr>
        <p:spPr>
          <a:xfrm>
            <a:off x="6286500" y="3409950"/>
            <a:ext cx="49530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case-n-4">
            <a:extLst>
              <a:ext uri="{FF2B5EF4-FFF2-40B4-BE49-F238E27FC236}">
                <a16:creationId xmlns:a16="http://schemas.microsoft.com/office/drawing/2014/main" id="{CC661A55-EC23-4D46-ACC4-28DDDE29916A}"/>
              </a:ext>
            </a:extLst>
          </p:cNvPr>
          <p:cNvSpPr>
            <a:spLocks noGrp="1"/>
          </p:cNvSpPr>
          <p:nvPr/>
        </p:nvSpPr>
        <p:spPr>
          <a:xfrm>
            <a:off x="6286500" y="35814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9575"/>
          </a:bodyPr>
          <a:lstStyle/>
          <a:p>
            <a:pPr algn="l">
              <a:buNone/>
              <a:defRPr sz="105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05 · ERP</a:t>
            </a:r>
          </a:p>
        </p:txBody>
      </p:sp>
      <p:sp>
        <p:nvSpPr>
          <p:cNvPr id="20" name="case-title-4">
            <a:extLst>
              <a:ext uri="{FF2B5EF4-FFF2-40B4-BE49-F238E27FC236}">
                <a16:creationId xmlns:a16="http://schemas.microsoft.com/office/drawing/2014/main" id="{89ED4E1E-DA7D-415E-9D11-D29D96CC5EB3}"/>
              </a:ext>
            </a:extLst>
          </p:cNvPr>
          <p:cNvSpPr>
            <a:spLocks noGrp="1"/>
          </p:cNvSpPr>
          <p:nvPr/>
        </p:nvSpPr>
        <p:spPr>
          <a:xfrm>
            <a:off x="6877050" y="3581400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PO y autorizaciones</a:t>
            </a:r>
          </a:p>
        </p:txBody>
      </p:sp>
      <p:sp>
        <p:nvSpPr>
          <p:cNvPr id="21" name="case-body-4">
            <a:extLst>
              <a:ext uri="{FF2B5EF4-FFF2-40B4-BE49-F238E27FC236}">
                <a16:creationId xmlns:a16="http://schemas.microsoft.com/office/drawing/2014/main" id="{D26C37DE-526B-4A43-AD1D-A214E16715A1}"/>
              </a:ext>
            </a:extLst>
          </p:cNvPr>
          <p:cNvSpPr>
            <a:spLocks noGrp="1"/>
          </p:cNvSpPr>
          <p:nvPr/>
        </p:nvSpPr>
        <p:spPr>
          <a:xfrm>
            <a:off x="6877050" y="4000500"/>
            <a:ext cx="447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Match, saldo y ruta de aprobación contra ERP.</a:t>
            </a:r>
          </a:p>
        </p:txBody>
      </p:sp>
      <p:sp>
        <p:nvSpPr>
          <p:cNvPr id="22" name="case-rule-4">
            <a:extLst>
              <a:ext uri="{FF2B5EF4-FFF2-40B4-BE49-F238E27FC236}">
                <a16:creationId xmlns:a16="http://schemas.microsoft.com/office/drawing/2014/main" id="{9C7EC94C-FC26-4450-A811-9EB002238DEF}"/>
              </a:ext>
            </a:extLst>
          </p:cNvPr>
          <p:cNvSpPr>
            <a:spLocks noGrp="1"/>
          </p:cNvSpPr>
          <p:nvPr/>
        </p:nvSpPr>
        <p:spPr>
          <a:xfrm>
            <a:off x="6286500" y="4514850"/>
            <a:ext cx="49530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case-n-5">
            <a:extLst>
              <a:ext uri="{FF2B5EF4-FFF2-40B4-BE49-F238E27FC236}">
                <a16:creationId xmlns:a16="http://schemas.microsoft.com/office/drawing/2014/main" id="{0A928686-3BD9-4F74-9E3B-2903D4041729}"/>
              </a:ext>
            </a:extLst>
          </p:cNvPr>
          <p:cNvSpPr>
            <a:spLocks noGrp="1"/>
          </p:cNvSpPr>
          <p:nvPr/>
        </p:nvSpPr>
        <p:spPr>
          <a:xfrm>
            <a:off x="6286500" y="46863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1429"/>
          </a:bodyPr>
          <a:lstStyle/>
          <a:p>
            <a:pPr algn="l">
              <a:buNone/>
              <a:defRPr sz="105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06 · BANCO</a:t>
            </a:r>
          </a:p>
        </p:txBody>
      </p:sp>
      <p:sp>
        <p:nvSpPr>
          <p:cNvPr id="24" name="case-title-5">
            <a:extLst>
              <a:ext uri="{FF2B5EF4-FFF2-40B4-BE49-F238E27FC236}">
                <a16:creationId xmlns:a16="http://schemas.microsoft.com/office/drawing/2014/main" id="{F4A6B686-2832-48F8-8805-C3F8AEE39E94}"/>
              </a:ext>
            </a:extLst>
          </p:cNvPr>
          <p:cNvSpPr>
            <a:spLocks noGrp="1"/>
          </p:cNvSpPr>
          <p:nvPr/>
        </p:nvSpPr>
        <p:spPr>
          <a:xfrm>
            <a:off x="6877050" y="4686300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IBAN y datos bancarios</a:t>
            </a:r>
          </a:p>
        </p:txBody>
      </p:sp>
      <p:sp>
        <p:nvSpPr>
          <p:cNvPr id="25" name="case-body-5">
            <a:extLst>
              <a:ext uri="{FF2B5EF4-FFF2-40B4-BE49-F238E27FC236}">
                <a16:creationId xmlns:a16="http://schemas.microsoft.com/office/drawing/2014/main" id="{2D37135B-A474-46C6-B583-CFF05E8DE399}"/>
              </a:ext>
            </a:extLst>
          </p:cNvPr>
          <p:cNvSpPr>
            <a:spLocks noGrp="1"/>
          </p:cNvSpPr>
          <p:nvPr/>
        </p:nvSpPr>
        <p:spPr>
          <a:xfrm>
            <a:off x="6877050" y="5105400"/>
            <a:ext cx="447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Comparación independiente contra el maestro válido.</a:t>
            </a:r>
          </a:p>
        </p:txBody>
      </p:sp>
      <p:sp>
        <p:nvSpPr>
          <p:cNvPr id="26" name="cases-close">
            <a:extLst>
              <a:ext uri="{FF2B5EF4-FFF2-40B4-BE49-F238E27FC236}">
                <a16:creationId xmlns:a16="http://schemas.microsoft.com/office/drawing/2014/main" id="{A9CF19C9-67EE-4A0D-ADA5-CDD6ACD33C08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“Live” indica evidencia disponible en el PoC; “Integración” depende de datos maestros del cliente.</a:t>
            </a:r>
          </a:p>
        </p:txBody>
      </p:sp>
      <p:sp>
        <p:nvSpPr>
          <p:cNvPr id="27" name="footer-note-6">
            <a:extLst>
              <a:ext uri="{FF2B5EF4-FFF2-40B4-BE49-F238E27FC236}">
                <a16:creationId xmlns:a16="http://schemas.microsoft.com/office/drawing/2014/main" id="{401D5FD4-566A-40DC-870D-5C7CE4BD26BE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933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0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AP Control Tower · product pitch → CFO Office</a:t>
            </a:r>
          </a:p>
        </p:txBody>
      </p:sp>
      <p:sp>
        <p:nvSpPr>
          <p:cNvPr id="28" name="footer-page-6">
            <a:extLst>
              <a:ext uri="{FF2B5EF4-FFF2-40B4-BE49-F238E27FC236}">
                <a16:creationId xmlns:a16="http://schemas.microsoft.com/office/drawing/2014/main" id="{AFCDA68A-E290-4D0F-BD72-148CE019A724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050" b="1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00620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yebrow-5">
            <a:extLst>
              <a:ext uri="{FF2B5EF4-FFF2-40B4-BE49-F238E27FC236}">
                <a16:creationId xmlns:a16="http://schemas.microsoft.com/office/drawing/2014/main" id="{DE5937D6-31C7-47FF-B952-90CC65658AC4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VALIDACIÓN DEL PRODUCTO</a:t>
            </a:r>
          </a:p>
        </p:txBody>
      </p:sp>
      <p:sp>
        <p:nvSpPr>
          <p:cNvPr id="2" name="title-5">
            <a:extLst>
              <a:ext uri="{FF2B5EF4-FFF2-40B4-BE49-F238E27FC236}">
                <a16:creationId xmlns:a16="http://schemas.microsoft.com/office/drawing/2014/main" id="{FBF9A50E-5637-4FB7-B04D-4AE81130983B}"/>
              </a:ext>
            </a:extLst>
          </p:cNvPr>
          <p:cNvSpPr>
            <a:spLocks noGrp="1"/>
          </p:cNvSpPr>
          <p:nvPr/>
        </p:nvSpPr>
        <p:spPr>
          <a:xfrm>
            <a:off x="609600" y="714375"/>
            <a:ext cx="109728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6980"/>
          </a:bodyPr>
          <a:lstStyle/>
          <a:p>
            <a:pPr algn="l">
              <a:buNone/>
              <a:defRPr sz="36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Demo y PoC responden preguntas distintas antes de integrar.</a:t>
            </a:r>
          </a:p>
        </p:txBody>
      </p:sp>
      <p:sp>
        <p:nvSpPr>
          <p:cNvPr id="3" name="title-rule-5">
            <a:extLst>
              <a:ext uri="{FF2B5EF4-FFF2-40B4-BE49-F238E27FC236}">
                <a16:creationId xmlns:a16="http://schemas.microsoft.com/office/drawing/2014/main" id="{3B0A39C2-E10E-454B-928A-FEF93F8E7CCC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demo-index">
            <a:extLst>
              <a:ext uri="{FF2B5EF4-FFF2-40B4-BE49-F238E27FC236}">
                <a16:creationId xmlns:a16="http://schemas.microsoft.com/office/drawing/2014/main" id="{507A90CB-A8D8-429E-8B07-0C1A6D981B8B}"/>
              </a:ext>
            </a:extLst>
          </p:cNvPr>
          <p:cNvSpPr>
            <a:spLocks noGrp="1"/>
          </p:cNvSpPr>
          <p:nvPr/>
        </p:nvSpPr>
        <p:spPr>
          <a:xfrm>
            <a:off x="609600" y="24003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demo-title">
            <a:extLst>
              <a:ext uri="{FF2B5EF4-FFF2-40B4-BE49-F238E27FC236}">
                <a16:creationId xmlns:a16="http://schemas.microsoft.com/office/drawing/2014/main" id="{8CC625D7-D49D-466B-9BF8-C9C56C684E3C}"/>
              </a:ext>
            </a:extLst>
          </p:cNvPr>
          <p:cNvSpPr>
            <a:spLocks noGrp="1"/>
          </p:cNvSpPr>
          <p:nvPr/>
        </p:nvSpPr>
        <p:spPr>
          <a:xfrm>
            <a:off x="609600" y="2781300"/>
            <a:ext cx="4572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Demo guiada</a:t>
            </a:r>
          </a:p>
        </p:txBody>
      </p:sp>
      <p:sp>
        <p:nvSpPr>
          <p:cNvPr id="6" name="demo-question">
            <a:extLst>
              <a:ext uri="{FF2B5EF4-FFF2-40B4-BE49-F238E27FC236}">
                <a16:creationId xmlns:a16="http://schemas.microsoft.com/office/drawing/2014/main" id="{95A022F9-7552-4425-93BD-52EC9FF84186}"/>
              </a:ext>
            </a:extLst>
          </p:cNvPr>
          <p:cNvSpPr>
            <a:spLocks noGrp="1"/>
          </p:cNvSpPr>
          <p:nvPr/>
        </p:nvSpPr>
        <p:spPr>
          <a:xfrm>
            <a:off x="609600" y="3429000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¿Cómo funciona el circuito completo?</a:t>
            </a:r>
          </a:p>
        </p:txBody>
      </p:sp>
      <p:sp>
        <p:nvSpPr>
          <p:cNvPr id="7" name="demo-body">
            <a:extLst>
              <a:ext uri="{FF2B5EF4-FFF2-40B4-BE49-F238E27FC236}">
                <a16:creationId xmlns:a16="http://schemas.microsoft.com/office/drawing/2014/main" id="{50984114-B752-47A4-80A4-D477D77ADA1B}"/>
              </a:ext>
            </a:extLst>
          </p:cNvPr>
          <p:cNvSpPr>
            <a:spLocks noGrp="1"/>
          </p:cNvSpPr>
          <p:nvPr/>
        </p:nvSpPr>
        <p:spPr>
          <a:xfrm>
            <a:off x="609600" y="3943350"/>
            <a:ext cx="4476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Recorre intake, controles, excepciones, maker–checker, aprobación humana y audit trail sobre un mes sintético.</a:t>
            </a:r>
          </a:p>
        </p:txBody>
      </p:sp>
      <p:sp>
        <p:nvSpPr>
          <p:cNvPr id="8" name="demo-for">
            <a:extLst>
              <a:ext uri="{FF2B5EF4-FFF2-40B4-BE49-F238E27FC236}">
                <a16:creationId xmlns:a16="http://schemas.microsoft.com/office/drawing/2014/main" id="{67EB7B44-8145-4CCC-B522-EF9D1E0EA3A8}"/>
              </a:ext>
            </a:extLst>
          </p:cNvPr>
          <p:cNvSpPr>
            <a:spLocks noGrp="1"/>
          </p:cNvSpPr>
          <p:nvPr/>
        </p:nvSpPr>
        <p:spPr>
          <a:xfrm>
            <a:off x="609600" y="5000625"/>
            <a:ext cx="4476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Ideal para Finanzas, Operaciones, Tesorería, Riesgo y Auditoría.</a:t>
            </a:r>
          </a:p>
        </p:txBody>
      </p:sp>
      <p:sp>
        <p:nvSpPr>
          <p:cNvPr id="9" name="demo-link">
            <a:extLst>
              <a:ext uri="{FF2B5EF4-FFF2-40B4-BE49-F238E27FC236}">
                <a16:creationId xmlns:a16="http://schemas.microsoft.com/office/drawing/2014/main" id="{4B1E0925-26AE-4955-957F-8A9B931755A3}"/>
              </a:ext>
            </a:extLst>
          </p:cNvPr>
          <p:cNvSpPr>
            <a:spLocks noGrp="1"/>
          </p:cNvSpPr>
          <p:nvPr/>
        </p:nvSpPr>
        <p:spPr>
          <a:xfrm>
            <a:off x="609600" y="575310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35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1" u="sng">
                <a:solidFill>
                  <a:srgbClr val="53677C"/>
                </a:solidFill>
                <a:latin typeface="Aptos"/>
                <a:ea typeface="Aptos"/>
                <a:cs typeface="Aptos"/>
                <a:hlinkClick r:id="rId3"/>
              </a:rPr>
              <a:t>Abrir demo guiada ↗</a:t>
            </a:r>
          </a:p>
        </p:txBody>
      </p:sp>
      <p:sp>
        <p:nvSpPr>
          <p:cNvPr id="10" name="demo-poc-divider">
            <a:extLst>
              <a:ext uri="{FF2B5EF4-FFF2-40B4-BE49-F238E27FC236}">
                <a16:creationId xmlns:a16="http://schemas.microsoft.com/office/drawing/2014/main" id="{39BC6BB2-6346-42EB-A662-BE3563F26983}"/>
              </a:ext>
            </a:extLst>
          </p:cNvPr>
          <p:cNvSpPr>
            <a:spLocks noGrp="1"/>
          </p:cNvSpPr>
          <p:nvPr/>
        </p:nvSpPr>
        <p:spPr>
          <a:xfrm>
            <a:off x="5905500" y="2381250"/>
            <a:ext cx="9525" cy="3619500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poc-index">
            <a:extLst>
              <a:ext uri="{FF2B5EF4-FFF2-40B4-BE49-F238E27FC236}">
                <a16:creationId xmlns:a16="http://schemas.microsoft.com/office/drawing/2014/main" id="{26508BE8-1A28-414F-9F69-27BE8A37850B}"/>
              </a:ext>
            </a:extLst>
          </p:cNvPr>
          <p:cNvSpPr>
            <a:spLocks noGrp="1"/>
          </p:cNvSpPr>
          <p:nvPr/>
        </p:nvSpPr>
        <p:spPr>
          <a:xfrm>
            <a:off x="6438900" y="24003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poc-title">
            <a:extLst>
              <a:ext uri="{FF2B5EF4-FFF2-40B4-BE49-F238E27FC236}">
                <a16:creationId xmlns:a16="http://schemas.microsoft.com/office/drawing/2014/main" id="{AB3A9C42-4DB1-4EB7-95B0-02E4AB299BED}"/>
              </a:ext>
            </a:extLst>
          </p:cNvPr>
          <p:cNvSpPr>
            <a:spLocks noGrp="1"/>
          </p:cNvSpPr>
          <p:nvPr/>
        </p:nvSpPr>
        <p:spPr>
          <a:xfrm>
            <a:off x="6438900" y="278130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PoC con documentos</a:t>
            </a:r>
          </a:p>
        </p:txBody>
      </p:sp>
      <p:sp>
        <p:nvSpPr>
          <p:cNvPr id="13" name="poc-question">
            <a:extLst>
              <a:ext uri="{FF2B5EF4-FFF2-40B4-BE49-F238E27FC236}">
                <a16:creationId xmlns:a16="http://schemas.microsoft.com/office/drawing/2014/main" id="{732DE47A-5D91-4A16-AB89-05F95527659A}"/>
              </a:ext>
            </a:extLst>
          </p:cNvPr>
          <p:cNvSpPr>
            <a:spLocks noGrp="1"/>
          </p:cNvSpPr>
          <p:nvPr/>
        </p:nvSpPr>
        <p:spPr>
          <a:xfrm>
            <a:off x="6438900" y="342900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¿Cómo responde ante facturas reales?</a:t>
            </a:r>
          </a:p>
        </p:txBody>
      </p:sp>
      <p:sp>
        <p:nvSpPr>
          <p:cNvPr id="14" name="poc-body">
            <a:extLst>
              <a:ext uri="{FF2B5EF4-FFF2-40B4-BE49-F238E27FC236}">
                <a16:creationId xmlns:a16="http://schemas.microsoft.com/office/drawing/2014/main" id="{72EC0218-0D6C-4E7A-8E6B-3EE0999EA921}"/>
              </a:ext>
            </a:extLst>
          </p:cNvPr>
          <p:cNvSpPr>
            <a:spLocks noGrp="1"/>
          </p:cNvSpPr>
          <p:nvPr/>
        </p:nvSpPr>
        <p:spPr>
          <a:xfrm>
            <a:off x="6438900" y="3943350"/>
            <a:ext cx="4762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Permite cargar documentos, observar la extracción y revisar campos inciertos antes de una propuesta controlada.</a:t>
            </a:r>
          </a:p>
        </p:txBody>
      </p:sp>
      <p:sp>
        <p:nvSpPr>
          <p:cNvPr id="15" name="poc-for">
            <a:extLst>
              <a:ext uri="{FF2B5EF4-FFF2-40B4-BE49-F238E27FC236}">
                <a16:creationId xmlns:a16="http://schemas.microsoft.com/office/drawing/2014/main" id="{95B650D9-9091-46EE-A641-3307D7205003}"/>
              </a:ext>
            </a:extLst>
          </p:cNvPr>
          <p:cNvSpPr>
            <a:spLocks noGrp="1"/>
          </p:cNvSpPr>
          <p:nvPr/>
        </p:nvSpPr>
        <p:spPr>
          <a:xfrm>
            <a:off x="6438900" y="5000625"/>
            <a:ext cx="476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Ideal para validar formatos, calidad de datos y rutas de excepción.</a:t>
            </a:r>
          </a:p>
        </p:txBody>
      </p:sp>
      <p:sp>
        <p:nvSpPr>
          <p:cNvPr id="16" name="poc-link">
            <a:extLst>
              <a:ext uri="{FF2B5EF4-FFF2-40B4-BE49-F238E27FC236}">
                <a16:creationId xmlns:a16="http://schemas.microsoft.com/office/drawing/2014/main" id="{BC8C9B20-E789-49C0-A820-C1B9BFE5C2BF}"/>
              </a:ext>
            </a:extLst>
          </p:cNvPr>
          <p:cNvSpPr>
            <a:spLocks noGrp="1"/>
          </p:cNvSpPr>
          <p:nvPr/>
        </p:nvSpPr>
        <p:spPr>
          <a:xfrm>
            <a:off x="6438900" y="575310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35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1" u="sng">
                <a:solidFill>
                  <a:srgbClr val="53677C"/>
                </a:solidFill>
                <a:latin typeface="Aptos"/>
                <a:ea typeface="Aptos"/>
                <a:cs typeface="Aptos"/>
                <a:hlinkClick r:id="rId4"/>
              </a:rPr>
              <a:t>Abrir PoC con documentos ↗</a:t>
            </a:r>
          </a:p>
        </p:txBody>
      </p:sp>
      <p:sp>
        <p:nvSpPr>
          <p:cNvPr id="17" name="footer-note-5">
            <a:extLst>
              <a:ext uri="{FF2B5EF4-FFF2-40B4-BE49-F238E27FC236}">
                <a16:creationId xmlns:a16="http://schemas.microsoft.com/office/drawing/2014/main" id="{1A91E1D8-0326-441F-8784-FD999052EBCA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933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0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AP Control Tower · product pitch → CFO Office</a:t>
            </a:r>
          </a:p>
        </p:txBody>
      </p:sp>
      <p:sp>
        <p:nvSpPr>
          <p:cNvPr id="18" name="footer-page-5">
            <a:extLst>
              <a:ext uri="{FF2B5EF4-FFF2-40B4-BE49-F238E27FC236}">
                <a16:creationId xmlns:a16="http://schemas.microsoft.com/office/drawing/2014/main" id="{9304D556-7479-4272-A6FF-D9B8917D6122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050" b="1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52023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yebrow-7">
            <a:extLst>
              <a:ext uri="{FF2B5EF4-FFF2-40B4-BE49-F238E27FC236}">
                <a16:creationId xmlns:a16="http://schemas.microsoft.com/office/drawing/2014/main" id="{33A475CC-CA69-4868-A6DF-3811D64B3E16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CALIDAD MEDIDA · GOLDEN RECORDS</a:t>
            </a:r>
          </a:p>
        </p:txBody>
      </p:sp>
      <p:sp>
        <p:nvSpPr>
          <p:cNvPr id="2" name="title-7">
            <a:extLst>
              <a:ext uri="{FF2B5EF4-FFF2-40B4-BE49-F238E27FC236}">
                <a16:creationId xmlns:a16="http://schemas.microsoft.com/office/drawing/2014/main" id="{4B0DB2F4-968C-4473-8052-F10587F2468F}"/>
              </a:ext>
            </a:extLst>
          </p:cNvPr>
          <p:cNvSpPr>
            <a:spLocks noGrp="1"/>
          </p:cNvSpPr>
          <p:nvPr/>
        </p:nvSpPr>
        <p:spPr>
          <a:xfrm>
            <a:off x="609600" y="714375"/>
            <a:ext cx="109728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9861"/>
          </a:bodyPr>
          <a:lstStyle/>
          <a:p>
            <a:pPr algn="l">
              <a:buNone/>
              <a:defRPr sz="36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La evidencia permite vender con precisión y mejorar con límites claros.</a:t>
            </a:r>
          </a:p>
        </p:txBody>
      </p:sp>
      <p:sp>
        <p:nvSpPr>
          <p:cNvPr id="3" name="subtitle-7">
            <a:extLst>
              <a:ext uri="{FF2B5EF4-FFF2-40B4-BE49-F238E27FC236}">
                <a16:creationId xmlns:a16="http://schemas.microsoft.com/office/drawing/2014/main" id="{8CBC7AD8-AB96-45F1-81C6-A673082D19BE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1057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Run 2 mide extracción. Run 3 reutiliza esa extracción y revalida política, routing y revisión sin nuevas llamadas a Document AI.</a:t>
            </a:r>
          </a:p>
        </p:txBody>
      </p:sp>
      <p:sp>
        <p:nvSpPr>
          <p:cNvPr id="4" name="title-rule-7">
            <a:extLst>
              <a:ext uri="{FF2B5EF4-FFF2-40B4-BE49-F238E27FC236}">
                <a16:creationId xmlns:a16="http://schemas.microsoft.com/office/drawing/2014/main" id="{5872DA47-24CB-4567-B1D5-A0A4C12EB2D5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109728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evidence-1-surface">
            <a:extLst>
              <a:ext uri="{FF2B5EF4-FFF2-40B4-BE49-F238E27FC236}">
                <a16:creationId xmlns:a16="http://schemas.microsoft.com/office/drawing/2014/main" id="{652006C6-B882-4019-A732-1C2947E952A6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2533650" cy="1428750"/>
          </a:xfrm>
          <a:prstGeom prst="roundRect">
            <a:avLst>
              <a:gd name="adj" fmla="val 5333"/>
            </a:avLst>
          </a:prstGeom>
          <a:solidFill>
            <a:srgbClr val="DDEEF3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evidence-1-value">
            <a:extLst>
              <a:ext uri="{FF2B5EF4-FFF2-40B4-BE49-F238E27FC236}">
                <a16:creationId xmlns:a16="http://schemas.microsoft.com/office/drawing/2014/main" id="{98DBE6CF-1AD4-44D6-9475-2EC9DF75A7C5}"/>
              </a:ext>
            </a:extLst>
          </p:cNvPr>
          <p:cNvSpPr>
            <a:spLocks noGrp="1"/>
          </p:cNvSpPr>
          <p:nvPr/>
        </p:nvSpPr>
        <p:spPr>
          <a:xfrm>
            <a:off x="800100" y="2800350"/>
            <a:ext cx="2152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1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106</a:t>
            </a:r>
          </a:p>
        </p:txBody>
      </p:sp>
      <p:sp>
        <p:nvSpPr>
          <p:cNvPr id="7" name="evidence-1-label">
            <a:extLst>
              <a:ext uri="{FF2B5EF4-FFF2-40B4-BE49-F238E27FC236}">
                <a16:creationId xmlns:a16="http://schemas.microsoft.com/office/drawing/2014/main" id="{07CFB870-384D-454B-B475-D82DE6C90147}"/>
              </a:ext>
            </a:extLst>
          </p:cNvPr>
          <p:cNvSpPr>
            <a:spLocks noGrp="1"/>
          </p:cNvSpPr>
          <p:nvPr/>
        </p:nvSpPr>
        <p:spPr>
          <a:xfrm>
            <a:off x="800100" y="3438525"/>
            <a:ext cx="2152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documentos golden</a:t>
            </a:r>
          </a:p>
        </p:txBody>
      </p:sp>
      <p:sp>
        <p:nvSpPr>
          <p:cNvPr id="8" name="evidence-2-surface">
            <a:extLst>
              <a:ext uri="{FF2B5EF4-FFF2-40B4-BE49-F238E27FC236}">
                <a16:creationId xmlns:a16="http://schemas.microsoft.com/office/drawing/2014/main" id="{6BF0C0DB-D50A-4236-BAB9-48FB73FE423B}"/>
              </a:ext>
            </a:extLst>
          </p:cNvPr>
          <p:cNvSpPr>
            <a:spLocks noGrp="1"/>
          </p:cNvSpPr>
          <p:nvPr/>
        </p:nvSpPr>
        <p:spPr>
          <a:xfrm>
            <a:off x="3333750" y="2571750"/>
            <a:ext cx="2533650" cy="1428750"/>
          </a:xfrm>
          <a:prstGeom prst="roundRect">
            <a:avLst>
              <a:gd name="adj" fmla="val 5333"/>
            </a:avLst>
          </a:prstGeom>
          <a:solidFill>
            <a:srgbClr val="E3F1EC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evidence-2-value">
            <a:extLst>
              <a:ext uri="{FF2B5EF4-FFF2-40B4-BE49-F238E27FC236}">
                <a16:creationId xmlns:a16="http://schemas.microsoft.com/office/drawing/2014/main" id="{1124B135-8DEE-493B-8FBD-894D91A027FB}"/>
              </a:ext>
            </a:extLst>
          </p:cNvPr>
          <p:cNvSpPr>
            <a:spLocks noGrp="1"/>
          </p:cNvSpPr>
          <p:nvPr/>
        </p:nvSpPr>
        <p:spPr>
          <a:xfrm>
            <a:off x="3524250" y="2800350"/>
            <a:ext cx="2152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15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96,2%</a:t>
            </a:r>
          </a:p>
        </p:txBody>
      </p:sp>
      <p:sp>
        <p:nvSpPr>
          <p:cNvPr id="10" name="evidence-2-label">
            <a:extLst>
              <a:ext uri="{FF2B5EF4-FFF2-40B4-BE49-F238E27FC236}">
                <a16:creationId xmlns:a16="http://schemas.microsoft.com/office/drawing/2014/main" id="{5C938C0D-E527-4AAF-8FA4-05899A776F50}"/>
              </a:ext>
            </a:extLst>
          </p:cNvPr>
          <p:cNvSpPr>
            <a:spLocks noGrp="1"/>
          </p:cNvSpPr>
          <p:nvPr/>
        </p:nvSpPr>
        <p:spPr>
          <a:xfrm>
            <a:off x="3524250" y="3438525"/>
            <a:ext cx="2152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accuracy extracción · run 2</a:t>
            </a:r>
          </a:p>
        </p:txBody>
      </p:sp>
      <p:sp>
        <p:nvSpPr>
          <p:cNvPr id="11" name="evidence-3-surface">
            <a:extLst>
              <a:ext uri="{FF2B5EF4-FFF2-40B4-BE49-F238E27FC236}">
                <a16:creationId xmlns:a16="http://schemas.microsoft.com/office/drawing/2014/main" id="{09AC8BFC-A03B-4336-8C29-EE4EA52FD12D}"/>
              </a:ext>
            </a:extLst>
          </p:cNvPr>
          <p:cNvSpPr>
            <a:spLocks noGrp="1"/>
          </p:cNvSpPr>
          <p:nvPr/>
        </p:nvSpPr>
        <p:spPr>
          <a:xfrm>
            <a:off x="6057900" y="2571750"/>
            <a:ext cx="2533650" cy="1428750"/>
          </a:xfrm>
          <a:prstGeom prst="roundRect">
            <a:avLst>
              <a:gd name="adj" fmla="val 5333"/>
            </a:avLst>
          </a:prstGeom>
          <a:solidFill>
            <a:srgbClr val="E3F1EC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evidence-3-value">
            <a:extLst>
              <a:ext uri="{FF2B5EF4-FFF2-40B4-BE49-F238E27FC236}">
                <a16:creationId xmlns:a16="http://schemas.microsoft.com/office/drawing/2014/main" id="{68408B45-5326-4C68-9DEF-410D23E8FAD4}"/>
              </a:ext>
            </a:extLst>
          </p:cNvPr>
          <p:cNvSpPr>
            <a:spLocks noGrp="1"/>
          </p:cNvSpPr>
          <p:nvPr/>
        </p:nvSpPr>
        <p:spPr>
          <a:xfrm>
            <a:off x="6248400" y="2800350"/>
            <a:ext cx="2152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15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96,9%</a:t>
            </a:r>
          </a:p>
        </p:txBody>
      </p:sp>
      <p:sp>
        <p:nvSpPr>
          <p:cNvPr id="13" name="evidence-3-label">
            <a:extLst>
              <a:ext uri="{FF2B5EF4-FFF2-40B4-BE49-F238E27FC236}">
                <a16:creationId xmlns:a16="http://schemas.microsoft.com/office/drawing/2014/main" id="{0FF50C44-F774-48A2-8C91-5E3329D17B53}"/>
              </a:ext>
            </a:extLst>
          </p:cNvPr>
          <p:cNvSpPr>
            <a:spLocks noGrp="1"/>
          </p:cNvSpPr>
          <p:nvPr/>
        </p:nvSpPr>
        <p:spPr>
          <a:xfrm>
            <a:off x="6248400" y="3438525"/>
            <a:ext cx="2152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accuracy routing · run 3</a:t>
            </a:r>
          </a:p>
        </p:txBody>
      </p:sp>
      <p:sp>
        <p:nvSpPr>
          <p:cNvPr id="14" name="evidence-4-surface">
            <a:extLst>
              <a:ext uri="{FF2B5EF4-FFF2-40B4-BE49-F238E27FC236}">
                <a16:creationId xmlns:a16="http://schemas.microsoft.com/office/drawing/2014/main" id="{6206E033-A931-4CA8-868C-C444ED71C40E}"/>
              </a:ext>
            </a:extLst>
          </p:cNvPr>
          <p:cNvSpPr>
            <a:spLocks noGrp="1"/>
          </p:cNvSpPr>
          <p:nvPr/>
        </p:nvSpPr>
        <p:spPr>
          <a:xfrm>
            <a:off x="8782050" y="2571750"/>
            <a:ext cx="2800350" cy="1428750"/>
          </a:xfrm>
          <a:prstGeom prst="roundRect">
            <a:avLst>
              <a:gd name="adj" fmla="val 5333"/>
            </a:avLst>
          </a:prstGeom>
          <a:solidFill>
            <a:srgbClr val="F6E5E7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evidence-4-value">
            <a:extLst>
              <a:ext uri="{FF2B5EF4-FFF2-40B4-BE49-F238E27FC236}">
                <a16:creationId xmlns:a16="http://schemas.microsoft.com/office/drawing/2014/main" id="{14FCDDA1-9C32-4016-8607-41607873D1D6}"/>
              </a:ext>
            </a:extLst>
          </p:cNvPr>
          <p:cNvSpPr>
            <a:spLocks noGrp="1"/>
          </p:cNvSpPr>
          <p:nvPr/>
        </p:nvSpPr>
        <p:spPr>
          <a:xfrm>
            <a:off x="8972550" y="2800350"/>
            <a:ext cx="2419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150" b="1" i="0">
                <a:solidFill>
                  <a:srgbClr val="9A4951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9A4951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16" name="evidence-4-label">
            <a:extLst>
              <a:ext uri="{FF2B5EF4-FFF2-40B4-BE49-F238E27FC236}">
                <a16:creationId xmlns:a16="http://schemas.microsoft.com/office/drawing/2014/main" id="{A929DAE5-73FD-41CC-8E09-C3F7978911D5}"/>
              </a:ext>
            </a:extLst>
          </p:cNvPr>
          <p:cNvSpPr>
            <a:spLocks noGrp="1"/>
          </p:cNvSpPr>
          <p:nvPr/>
        </p:nvSpPr>
        <p:spPr>
          <a:xfrm>
            <a:off x="8972550" y="3438525"/>
            <a:ext cx="2419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review recall · 96 docs</a:t>
            </a:r>
          </a:p>
        </p:txBody>
      </p:sp>
      <p:sp>
        <p:nvSpPr>
          <p:cNvPr id="17" name="proof-title-0">
            <a:extLst>
              <a:ext uri="{FF2B5EF4-FFF2-40B4-BE49-F238E27FC236}">
                <a16:creationId xmlns:a16="http://schemas.microsoft.com/office/drawing/2014/main" id="{C1A253AB-53A4-45A3-B0E9-2E32B0AE37EC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323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Correcciones verificadas</a:t>
            </a:r>
          </a:p>
        </p:txBody>
      </p:sp>
      <p:sp>
        <p:nvSpPr>
          <p:cNvPr id="18" name="proof-body-0">
            <a:extLst>
              <a:ext uri="{FF2B5EF4-FFF2-40B4-BE49-F238E27FC236}">
                <a16:creationId xmlns:a16="http://schemas.microsoft.com/office/drawing/2014/main" id="{E79447A6-78D3-4250-A933-7A8AEBCD57F9}"/>
              </a:ext>
            </a:extLst>
          </p:cNvPr>
          <p:cNvSpPr>
            <a:spLocks noGrp="1"/>
          </p:cNvSpPr>
          <p:nvPr/>
        </p:nvSpPr>
        <p:spPr>
          <a:xfrm>
            <a:off x="609600" y="5029200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Casi-duplicados y notas de crédito.</a:t>
            </a:r>
          </a:p>
        </p:txBody>
      </p:sp>
      <p:sp>
        <p:nvSpPr>
          <p:cNvPr id="19" name="proof-title-1">
            <a:extLst>
              <a:ext uri="{FF2B5EF4-FFF2-40B4-BE49-F238E27FC236}">
                <a16:creationId xmlns:a16="http://schemas.microsoft.com/office/drawing/2014/main" id="{633CAD8C-DB72-496C-9F82-560574C8F1AF}"/>
              </a:ext>
            </a:extLst>
          </p:cNvPr>
          <p:cNvSpPr>
            <a:spLocks noGrp="1"/>
          </p:cNvSpPr>
          <p:nvPr/>
        </p:nvSpPr>
        <p:spPr>
          <a:xfrm>
            <a:off x="4305300" y="4572000"/>
            <a:ext cx="323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Replay eficiente</a:t>
            </a:r>
          </a:p>
        </p:txBody>
      </p:sp>
      <p:sp>
        <p:nvSpPr>
          <p:cNvPr id="20" name="proof-body-1">
            <a:extLst>
              <a:ext uri="{FF2B5EF4-FFF2-40B4-BE49-F238E27FC236}">
                <a16:creationId xmlns:a16="http://schemas.microsoft.com/office/drawing/2014/main" id="{18F4B9EA-B42D-49A5-B4DE-6588FF590DA5}"/>
              </a:ext>
            </a:extLst>
          </p:cNvPr>
          <p:cNvSpPr>
            <a:spLocks noGrp="1"/>
          </p:cNvSpPr>
          <p:nvPr/>
        </p:nvSpPr>
        <p:spPr>
          <a:xfrm>
            <a:off x="4305300" y="5029200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0 llamadas a Document AI en run 3.</a:t>
            </a:r>
          </a:p>
        </p:txBody>
      </p:sp>
      <p:sp>
        <p:nvSpPr>
          <p:cNvPr id="21" name="proof-title-2">
            <a:extLst>
              <a:ext uri="{FF2B5EF4-FFF2-40B4-BE49-F238E27FC236}">
                <a16:creationId xmlns:a16="http://schemas.microsoft.com/office/drawing/2014/main" id="{AECD3148-30D5-4DEF-8A5D-69A42FCFFF5C}"/>
              </a:ext>
            </a:extLst>
          </p:cNvPr>
          <p:cNvSpPr>
            <a:spLocks noGrp="1"/>
          </p:cNvSpPr>
          <p:nvPr/>
        </p:nvSpPr>
        <p:spPr>
          <a:xfrm>
            <a:off x="8001000" y="4572000"/>
            <a:ext cx="323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Límites explícitos</a:t>
            </a:r>
          </a:p>
        </p:txBody>
      </p:sp>
      <p:sp>
        <p:nvSpPr>
          <p:cNvPr id="22" name="proof-body-2">
            <a:extLst>
              <a:ext uri="{FF2B5EF4-FFF2-40B4-BE49-F238E27FC236}">
                <a16:creationId xmlns:a16="http://schemas.microsoft.com/office/drawing/2014/main" id="{1E82ED05-BFC6-439B-B169-39C64499EFBB}"/>
              </a:ext>
            </a:extLst>
          </p:cNvPr>
          <p:cNvSpPr>
            <a:spLocks noGrp="1"/>
          </p:cNvSpPr>
          <p:nvPr/>
        </p:nvSpPr>
        <p:spPr>
          <a:xfrm>
            <a:off x="8001000" y="5029200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Maestros externos aún pendientes.</a:t>
            </a:r>
          </a:p>
        </p:txBody>
      </p:sp>
      <p:sp>
        <p:nvSpPr>
          <p:cNvPr id="23" name="proof-link">
            <a:extLst>
              <a:ext uri="{FF2B5EF4-FFF2-40B4-BE49-F238E27FC236}">
                <a16:creationId xmlns:a16="http://schemas.microsoft.com/office/drawing/2014/main" id="{66468004-E299-4355-A5E6-143401915AAE}"/>
              </a:ext>
            </a:extLst>
          </p:cNvPr>
          <p:cNvSpPr>
            <a:spLocks noGrp="1"/>
          </p:cNvSpPr>
          <p:nvPr/>
        </p:nvSpPr>
        <p:spPr>
          <a:xfrm>
            <a:off x="609600" y="5876925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3677C"/>
                </a:solidFill>
                <a:latin typeface="Aptos"/>
                <a:ea typeface="Aptos"/>
                <a:cs typeface="Aptos"/>
                <a:hlinkClick r:id="rId3"/>
              </a:rPr>
              <a:t>Abrir evidencia en vivo → PoC · Calidad medida (evals)</a:t>
            </a:r>
          </a:p>
        </p:txBody>
      </p:sp>
      <p:sp>
        <p:nvSpPr>
          <p:cNvPr id="24" name="footer-note-7">
            <a:extLst>
              <a:ext uri="{FF2B5EF4-FFF2-40B4-BE49-F238E27FC236}">
                <a16:creationId xmlns:a16="http://schemas.microsoft.com/office/drawing/2014/main" id="{FE7F2008-8DB7-4498-B2BF-9726A2B914AC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933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0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Fuente: golden v1.0 · run 2 · run 3 offline policy replay</a:t>
            </a:r>
          </a:p>
        </p:txBody>
      </p:sp>
      <p:sp>
        <p:nvSpPr>
          <p:cNvPr id="25" name="footer-page-7">
            <a:extLst>
              <a:ext uri="{FF2B5EF4-FFF2-40B4-BE49-F238E27FC236}">
                <a16:creationId xmlns:a16="http://schemas.microsoft.com/office/drawing/2014/main" id="{7070EDE2-7B2B-4C4A-B535-B3A1717ACBB0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050" b="1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46041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yebrow-3">
            <a:extLst>
              <a:ext uri="{FF2B5EF4-FFF2-40B4-BE49-F238E27FC236}">
                <a16:creationId xmlns:a16="http://schemas.microsoft.com/office/drawing/2014/main" id="{0007C191-C9A4-49B7-81D9-704DC5520522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CASO DE NEGOCIO</a:t>
            </a:r>
          </a:p>
        </p:txBody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0B8C117D-F8DD-43EB-AB1D-F22B5C4ECE0B}"/>
              </a:ext>
            </a:extLst>
          </p:cNvPr>
          <p:cNvSpPr>
            <a:spLocks noGrp="1"/>
          </p:cNvSpPr>
          <p:nvPr/>
        </p:nvSpPr>
        <p:spPr>
          <a:xfrm>
            <a:off x="609600" y="714375"/>
            <a:ext cx="109728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9861"/>
          </a:bodyPr>
          <a:lstStyle/>
          <a:p>
            <a:pPr algn="l">
              <a:buNone/>
              <a:defRPr sz="36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El valor se calcula con datos del cliente, no con una promesa genérica.</a:t>
            </a:r>
          </a:p>
        </p:txBody>
      </p:sp>
      <p:sp>
        <p:nvSpPr>
          <p:cNvPr id="3" name="title-rule-3">
            <a:extLst>
              <a:ext uri="{FF2B5EF4-FFF2-40B4-BE49-F238E27FC236}">
                <a16:creationId xmlns:a16="http://schemas.microsoft.com/office/drawing/2014/main" id="{C1DD277E-4DF9-4AAF-8C8B-EF5B75D33D3D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value-n-0">
            <a:extLst>
              <a:ext uri="{FF2B5EF4-FFF2-40B4-BE49-F238E27FC236}">
                <a16:creationId xmlns:a16="http://schemas.microsoft.com/office/drawing/2014/main" id="{E54D12C2-89BF-406E-B0D6-960732232176}"/>
              </a:ext>
            </a:extLst>
          </p:cNvPr>
          <p:cNvSpPr>
            <a:spLocks noGrp="1"/>
          </p:cNvSpPr>
          <p:nvPr/>
        </p:nvSpPr>
        <p:spPr>
          <a:xfrm>
            <a:off x="609600" y="25527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value-title-0">
            <a:extLst>
              <a:ext uri="{FF2B5EF4-FFF2-40B4-BE49-F238E27FC236}">
                <a16:creationId xmlns:a16="http://schemas.microsoft.com/office/drawing/2014/main" id="{2A0CD413-BF7E-4B67-B14D-CACED3D9A878}"/>
              </a:ext>
            </a:extLst>
          </p:cNvPr>
          <p:cNvSpPr>
            <a:spLocks noGrp="1"/>
          </p:cNvSpPr>
          <p:nvPr/>
        </p:nvSpPr>
        <p:spPr>
          <a:xfrm>
            <a:off x="609600" y="2990850"/>
            <a:ext cx="3143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Capacidad recuperada</a:t>
            </a:r>
          </a:p>
        </p:txBody>
      </p:sp>
      <p:sp>
        <p:nvSpPr>
          <p:cNvPr id="6" name="value-body-0">
            <a:extLst>
              <a:ext uri="{FF2B5EF4-FFF2-40B4-BE49-F238E27FC236}">
                <a16:creationId xmlns:a16="http://schemas.microsoft.com/office/drawing/2014/main" id="{74BC6809-6714-400E-821D-4D23D3780646}"/>
              </a:ext>
            </a:extLst>
          </p:cNvPr>
          <p:cNvSpPr>
            <a:spLocks noGrp="1"/>
          </p:cNvSpPr>
          <p:nvPr/>
        </p:nvSpPr>
        <p:spPr>
          <a:xfrm>
            <a:off x="609600" y="3781425"/>
            <a:ext cx="314325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Horas hoy destinadas a descarga, recarga, búsqueda y seguimiento que pasan a excepciones de mayor valor.</a:t>
            </a:r>
          </a:p>
        </p:txBody>
      </p:sp>
      <p:sp>
        <p:nvSpPr>
          <p:cNvPr id="7" name="value-n-1">
            <a:extLst>
              <a:ext uri="{FF2B5EF4-FFF2-40B4-BE49-F238E27FC236}">
                <a16:creationId xmlns:a16="http://schemas.microsoft.com/office/drawing/2014/main" id="{9FFDE03E-05EA-408A-8866-EF3BB3DEDA7E}"/>
              </a:ext>
            </a:extLst>
          </p:cNvPr>
          <p:cNvSpPr>
            <a:spLocks noGrp="1"/>
          </p:cNvSpPr>
          <p:nvPr/>
        </p:nvSpPr>
        <p:spPr>
          <a:xfrm>
            <a:off x="4305300" y="25527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value-title-1">
            <a:extLst>
              <a:ext uri="{FF2B5EF4-FFF2-40B4-BE49-F238E27FC236}">
                <a16:creationId xmlns:a16="http://schemas.microsoft.com/office/drawing/2014/main" id="{14D7F67D-44E8-48D8-B57A-87388FBD7497}"/>
              </a:ext>
            </a:extLst>
          </p:cNvPr>
          <p:cNvSpPr>
            <a:spLocks noGrp="1"/>
          </p:cNvSpPr>
          <p:nvPr/>
        </p:nvSpPr>
        <p:spPr>
          <a:xfrm>
            <a:off x="4305300" y="2990850"/>
            <a:ext cx="3143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Excepciones evitadas</a:t>
            </a:r>
          </a:p>
        </p:txBody>
      </p:sp>
      <p:sp>
        <p:nvSpPr>
          <p:cNvPr id="9" name="value-body-1">
            <a:extLst>
              <a:ext uri="{FF2B5EF4-FFF2-40B4-BE49-F238E27FC236}">
                <a16:creationId xmlns:a16="http://schemas.microsoft.com/office/drawing/2014/main" id="{225BCC07-7590-4873-8CE2-931510776453}"/>
              </a:ext>
            </a:extLst>
          </p:cNvPr>
          <p:cNvSpPr>
            <a:spLocks noGrp="1"/>
          </p:cNvSpPr>
          <p:nvPr/>
        </p:nvSpPr>
        <p:spPr>
          <a:xfrm>
            <a:off x="4305300" y="3781425"/>
            <a:ext cx="314325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Duplicados, errores de routing y divergencias detectadas antes del lote de pago.</a:t>
            </a:r>
          </a:p>
        </p:txBody>
      </p:sp>
      <p:sp>
        <p:nvSpPr>
          <p:cNvPr id="10" name="value-n-2">
            <a:extLst>
              <a:ext uri="{FF2B5EF4-FFF2-40B4-BE49-F238E27FC236}">
                <a16:creationId xmlns:a16="http://schemas.microsoft.com/office/drawing/2014/main" id="{F664EDE2-BCAC-4CAD-A57B-05773678EFE7}"/>
              </a:ext>
            </a:extLst>
          </p:cNvPr>
          <p:cNvSpPr>
            <a:spLocks noGrp="1"/>
          </p:cNvSpPr>
          <p:nvPr/>
        </p:nvSpPr>
        <p:spPr>
          <a:xfrm>
            <a:off x="8001000" y="25527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1" name="value-title-2">
            <a:extLst>
              <a:ext uri="{FF2B5EF4-FFF2-40B4-BE49-F238E27FC236}">
                <a16:creationId xmlns:a16="http://schemas.microsoft.com/office/drawing/2014/main" id="{7A41C2F9-FE67-4EC7-B2BC-9960930BDC80}"/>
              </a:ext>
            </a:extLst>
          </p:cNvPr>
          <p:cNvSpPr>
            <a:spLocks noGrp="1"/>
          </p:cNvSpPr>
          <p:nvPr/>
        </p:nvSpPr>
        <p:spPr>
          <a:xfrm>
            <a:off x="8001000" y="2990850"/>
            <a:ext cx="3143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Gobierno demostrable</a:t>
            </a:r>
          </a:p>
        </p:txBody>
      </p:sp>
      <p:sp>
        <p:nvSpPr>
          <p:cNvPr id="12" name="value-body-2">
            <a:extLst>
              <a:ext uri="{FF2B5EF4-FFF2-40B4-BE49-F238E27FC236}">
                <a16:creationId xmlns:a16="http://schemas.microsoft.com/office/drawing/2014/main" id="{1B273593-C248-4CF4-9E80-2D704D016E26}"/>
              </a:ext>
            </a:extLst>
          </p:cNvPr>
          <p:cNvSpPr>
            <a:spLocks noGrp="1"/>
          </p:cNvSpPr>
          <p:nvPr/>
        </p:nvSpPr>
        <p:spPr>
          <a:xfrm>
            <a:off x="8001000" y="3781425"/>
            <a:ext cx="314325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Tiempo y esfuerzo de control, auditoría y reconstrucción de decisiones reducidos por evidencia nativa.</a:t>
            </a:r>
          </a:p>
        </p:txBody>
      </p:sp>
      <p:sp>
        <p:nvSpPr>
          <p:cNvPr id="13" name="value-bottom-rule">
            <a:extLst>
              <a:ext uri="{FF2B5EF4-FFF2-40B4-BE49-F238E27FC236}">
                <a16:creationId xmlns:a16="http://schemas.microsoft.com/office/drawing/2014/main" id="{F7B3953D-DAED-40B7-8BCA-FB98AA783F47}"/>
              </a:ext>
            </a:extLst>
          </p:cNvPr>
          <p:cNvSpPr>
            <a:spLocks noGrp="1"/>
          </p:cNvSpPr>
          <p:nvPr/>
        </p:nvSpPr>
        <p:spPr>
          <a:xfrm>
            <a:off x="609600" y="5429250"/>
            <a:ext cx="109728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human-gate-claim">
            <a:extLst>
              <a:ext uri="{FF2B5EF4-FFF2-40B4-BE49-F238E27FC236}">
                <a16:creationId xmlns:a16="http://schemas.microsoft.com/office/drawing/2014/main" id="{FF7002F2-1BB5-4534-AB41-B3370E8FCCE5}"/>
              </a:ext>
            </a:extLst>
          </p:cNvPr>
          <p:cNvSpPr>
            <a:spLocks noGrp="1"/>
          </p:cNvSpPr>
          <p:nvPr/>
        </p:nvSpPr>
        <p:spPr>
          <a:xfrm>
            <a:off x="609600" y="5667375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Discovery + muestra controlada = baseline, métricas de aceptación y business case del cliente.</a:t>
            </a:r>
          </a:p>
        </p:txBody>
      </p:sp>
      <p:sp>
        <p:nvSpPr>
          <p:cNvPr id="15" name="footer-note-3">
            <a:extLst>
              <a:ext uri="{FF2B5EF4-FFF2-40B4-BE49-F238E27FC236}">
                <a16:creationId xmlns:a16="http://schemas.microsoft.com/office/drawing/2014/main" id="{74DF850F-817F-47AA-84F2-06A796C063D0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933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0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AP Control Tower · product pitch → CFO Office</a:t>
            </a:r>
          </a:p>
        </p:txBody>
      </p:sp>
      <p:sp>
        <p:nvSpPr>
          <p:cNvPr id="16" name="footer-page-3">
            <a:extLst>
              <a:ext uri="{FF2B5EF4-FFF2-40B4-BE49-F238E27FC236}">
                <a16:creationId xmlns:a16="http://schemas.microsoft.com/office/drawing/2014/main" id="{3573E8F8-4153-4B61-9084-E43562EE1573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050" b="1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30809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eyebrow-4">
            <a:extLst>
              <a:ext uri="{FF2B5EF4-FFF2-40B4-BE49-F238E27FC236}">
                <a16:creationId xmlns:a16="http://schemas.microsoft.com/office/drawing/2014/main" id="{05D19340-E0BD-45CA-A209-1B265368356D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ARQUITECTURA DE INTEGRACIÓN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D5E6CB7C-B5BC-481F-A43E-AF4906A2AE57}"/>
              </a:ext>
            </a:extLst>
          </p:cNvPr>
          <p:cNvSpPr>
            <a:spLocks noGrp="1"/>
          </p:cNvSpPr>
          <p:nvPr/>
        </p:nvSpPr>
        <p:spPr>
          <a:xfrm>
            <a:off x="609600" y="714375"/>
            <a:ext cx="109728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9861"/>
          </a:bodyPr>
          <a:lstStyle/>
          <a:p>
            <a:pPr algn="l">
              <a:buNone/>
              <a:defRPr sz="36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Integrar con el entorno del cliente sin reemplazar autoridad humana.</a:t>
            </a:r>
          </a:p>
        </p:txBody>
      </p:sp>
      <p:sp>
        <p:nvSpPr>
          <p:cNvPr id="3" name="title-rule-4">
            <a:extLst>
              <a:ext uri="{FF2B5EF4-FFF2-40B4-BE49-F238E27FC236}">
                <a16:creationId xmlns:a16="http://schemas.microsoft.com/office/drawing/2014/main" id="{FF9237F5-17BD-4B2E-9723-674EA5669FA3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flow-top-connector-0">
            <a:extLst>
              <a:ext uri="{FF2B5EF4-FFF2-40B4-BE49-F238E27FC236}">
                <a16:creationId xmlns:a16="http://schemas.microsoft.com/office/drawing/2014/main" id="{82576B63-DE8C-4342-BC25-ACCDF48552BE}"/>
              </a:ext>
            </a:extLst>
          </p:cNvPr>
          <p:cNvSpPr>
            <a:spLocks noGrp="1"/>
          </p:cNvSpPr>
          <p:nvPr/>
        </p:nvSpPr>
        <p:spPr>
          <a:xfrm>
            <a:off x="3124200" y="3000375"/>
            <a:ext cx="304800" cy="19050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flow-top-connector-1">
            <a:extLst>
              <a:ext uri="{FF2B5EF4-FFF2-40B4-BE49-F238E27FC236}">
                <a16:creationId xmlns:a16="http://schemas.microsoft.com/office/drawing/2014/main" id="{7CFCB77F-3704-4F9E-9B59-C658E3A47B6A}"/>
              </a:ext>
            </a:extLst>
          </p:cNvPr>
          <p:cNvSpPr>
            <a:spLocks noGrp="1"/>
          </p:cNvSpPr>
          <p:nvPr/>
        </p:nvSpPr>
        <p:spPr>
          <a:xfrm>
            <a:off x="5943600" y="3000375"/>
            <a:ext cx="304800" cy="19050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flow-top-connector-2">
            <a:extLst>
              <a:ext uri="{FF2B5EF4-FFF2-40B4-BE49-F238E27FC236}">
                <a16:creationId xmlns:a16="http://schemas.microsoft.com/office/drawing/2014/main" id="{F5992587-795F-453F-AC8F-039C581F0B8C}"/>
              </a:ext>
            </a:extLst>
          </p:cNvPr>
          <p:cNvSpPr>
            <a:spLocks noGrp="1"/>
          </p:cNvSpPr>
          <p:nvPr/>
        </p:nvSpPr>
        <p:spPr>
          <a:xfrm>
            <a:off x="8763000" y="3000375"/>
            <a:ext cx="304800" cy="19050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flow-turn-down">
            <a:extLst>
              <a:ext uri="{FF2B5EF4-FFF2-40B4-BE49-F238E27FC236}">
                <a16:creationId xmlns:a16="http://schemas.microsoft.com/office/drawing/2014/main" id="{EEE43739-0EF3-45D9-B8AF-88D6EDC6ED0F}"/>
              </a:ext>
            </a:extLst>
          </p:cNvPr>
          <p:cNvSpPr>
            <a:spLocks noGrp="1"/>
          </p:cNvSpPr>
          <p:nvPr/>
        </p:nvSpPr>
        <p:spPr>
          <a:xfrm>
            <a:off x="10325100" y="3543300"/>
            <a:ext cx="19050" cy="0"/>
          </a:xfrm>
          <a:prstGeom prst="rect">
            <a:avLst/>
          </a:prstGeom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flow-bottom-connector-0">
            <a:extLst>
              <a:ext uri="{FF2B5EF4-FFF2-40B4-BE49-F238E27FC236}">
                <a16:creationId xmlns:a16="http://schemas.microsoft.com/office/drawing/2014/main" id="{2759393E-73B6-4642-AA49-2FBC184EEBA3}"/>
              </a:ext>
            </a:extLst>
          </p:cNvPr>
          <p:cNvSpPr>
            <a:spLocks noGrp="1"/>
          </p:cNvSpPr>
          <p:nvPr/>
        </p:nvSpPr>
        <p:spPr>
          <a:xfrm>
            <a:off x="3124200" y="4810125"/>
            <a:ext cx="304800" cy="19050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flow-bottom-connector-1">
            <a:extLst>
              <a:ext uri="{FF2B5EF4-FFF2-40B4-BE49-F238E27FC236}">
                <a16:creationId xmlns:a16="http://schemas.microsoft.com/office/drawing/2014/main" id="{F82877CF-D540-442E-994D-CA29F88E1F63}"/>
              </a:ext>
            </a:extLst>
          </p:cNvPr>
          <p:cNvSpPr>
            <a:spLocks noGrp="1"/>
          </p:cNvSpPr>
          <p:nvPr/>
        </p:nvSpPr>
        <p:spPr>
          <a:xfrm>
            <a:off x="5943600" y="4810125"/>
            <a:ext cx="304800" cy="19050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flow-bottom-connector-2">
            <a:extLst>
              <a:ext uri="{FF2B5EF4-FFF2-40B4-BE49-F238E27FC236}">
                <a16:creationId xmlns:a16="http://schemas.microsoft.com/office/drawing/2014/main" id="{499A7F0A-69F2-49D4-BEB1-A67F7D38EA81}"/>
              </a:ext>
            </a:extLst>
          </p:cNvPr>
          <p:cNvSpPr>
            <a:spLocks noGrp="1"/>
          </p:cNvSpPr>
          <p:nvPr/>
        </p:nvSpPr>
        <p:spPr>
          <a:xfrm>
            <a:off x="8763000" y="4810125"/>
            <a:ext cx="304800" cy="19050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op-0-box">
            <a:extLst>
              <a:ext uri="{FF2B5EF4-FFF2-40B4-BE49-F238E27FC236}">
                <a16:creationId xmlns:a16="http://schemas.microsoft.com/office/drawing/2014/main" id="{DA236283-AE94-4389-95DC-223A628457E9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25146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op-0-n">
            <a:extLst>
              <a:ext uri="{FF2B5EF4-FFF2-40B4-BE49-F238E27FC236}">
                <a16:creationId xmlns:a16="http://schemas.microsoft.com/office/drawing/2014/main" id="{752E1761-5CB4-4E8C-BF8B-9FFCF94F51F8}"/>
              </a:ext>
            </a:extLst>
          </p:cNvPr>
          <p:cNvSpPr>
            <a:spLocks noGrp="1"/>
          </p:cNvSpPr>
          <p:nvPr/>
        </p:nvSpPr>
        <p:spPr>
          <a:xfrm>
            <a:off x="762000" y="260985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top-0-title">
            <a:extLst>
              <a:ext uri="{FF2B5EF4-FFF2-40B4-BE49-F238E27FC236}">
                <a16:creationId xmlns:a16="http://schemas.microsoft.com/office/drawing/2014/main" id="{CB696B1F-E60A-48F3-B761-C2D477BC6DD9}"/>
              </a:ext>
            </a:extLst>
          </p:cNvPr>
          <p:cNvSpPr>
            <a:spLocks noGrp="1"/>
          </p:cNvSpPr>
          <p:nvPr/>
        </p:nvSpPr>
        <p:spPr>
          <a:xfrm>
            <a:off x="762000" y="287655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Email / AP inbox</a:t>
            </a:r>
          </a:p>
        </p:txBody>
      </p:sp>
      <p:sp>
        <p:nvSpPr>
          <p:cNvPr id="14" name="top-0-detail">
            <a:extLst>
              <a:ext uri="{FF2B5EF4-FFF2-40B4-BE49-F238E27FC236}">
                <a16:creationId xmlns:a16="http://schemas.microsoft.com/office/drawing/2014/main" id="{CC5F568C-E6A0-46C2-8763-181847ADC38F}"/>
              </a:ext>
            </a:extLst>
          </p:cNvPr>
          <p:cNvSpPr>
            <a:spLocks noGrp="1"/>
          </p:cNvSpPr>
          <p:nvPr/>
        </p:nvSpPr>
        <p:spPr>
          <a:xfrm>
            <a:off x="762000" y="3181350"/>
            <a:ext cx="2209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Entrada principal o documental</a:t>
            </a:r>
          </a:p>
        </p:txBody>
      </p:sp>
      <p:sp>
        <p:nvSpPr>
          <p:cNvPr id="15" name="top-1-box">
            <a:extLst>
              <a:ext uri="{FF2B5EF4-FFF2-40B4-BE49-F238E27FC236}">
                <a16:creationId xmlns:a16="http://schemas.microsoft.com/office/drawing/2014/main" id="{756827FC-79AC-4A2A-813B-BB3A8C3575EF}"/>
              </a:ext>
            </a:extLst>
          </p:cNvPr>
          <p:cNvSpPr>
            <a:spLocks noGrp="1"/>
          </p:cNvSpPr>
          <p:nvPr/>
        </p:nvSpPr>
        <p:spPr>
          <a:xfrm>
            <a:off x="3429000" y="2476500"/>
            <a:ext cx="25146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op-1-n">
            <a:extLst>
              <a:ext uri="{FF2B5EF4-FFF2-40B4-BE49-F238E27FC236}">
                <a16:creationId xmlns:a16="http://schemas.microsoft.com/office/drawing/2014/main" id="{CD35CA53-7D1F-4160-8670-598C1E72E75B}"/>
              </a:ext>
            </a:extLst>
          </p:cNvPr>
          <p:cNvSpPr>
            <a:spLocks noGrp="1"/>
          </p:cNvSpPr>
          <p:nvPr/>
        </p:nvSpPr>
        <p:spPr>
          <a:xfrm>
            <a:off x="3581400" y="260985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top-1-title">
            <a:extLst>
              <a:ext uri="{FF2B5EF4-FFF2-40B4-BE49-F238E27FC236}">
                <a16:creationId xmlns:a16="http://schemas.microsoft.com/office/drawing/2014/main" id="{38CE0CBB-CF58-4CE0-A799-13D6099922D2}"/>
              </a:ext>
            </a:extLst>
          </p:cNvPr>
          <p:cNvSpPr>
            <a:spLocks noGrp="1"/>
          </p:cNvSpPr>
          <p:nvPr/>
        </p:nvSpPr>
        <p:spPr>
          <a:xfrm>
            <a:off x="3581400" y="287655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077"/>
          </a:bodyPr>
          <a:lstStyle/>
          <a:p>
            <a:pPr algn="l">
              <a:buNone/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Fuentes complementarias</a:t>
            </a:r>
          </a:p>
        </p:txBody>
      </p:sp>
      <p:sp>
        <p:nvSpPr>
          <p:cNvPr id="18" name="top-1-detail">
            <a:extLst>
              <a:ext uri="{FF2B5EF4-FFF2-40B4-BE49-F238E27FC236}">
                <a16:creationId xmlns:a16="http://schemas.microsoft.com/office/drawing/2014/main" id="{C8D7E7F4-60FF-4EA3-9E11-D76239B199CE}"/>
              </a:ext>
            </a:extLst>
          </p:cNvPr>
          <p:cNvSpPr>
            <a:spLocks noGrp="1"/>
          </p:cNvSpPr>
          <p:nvPr/>
        </p:nvSpPr>
        <p:spPr>
          <a:xfrm>
            <a:off x="3581400" y="3181350"/>
            <a:ext cx="2209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Portal · DMS · CRM</a:t>
            </a:r>
          </a:p>
        </p:txBody>
      </p:sp>
      <p:sp>
        <p:nvSpPr>
          <p:cNvPr id="19" name="top-2-box">
            <a:extLst>
              <a:ext uri="{FF2B5EF4-FFF2-40B4-BE49-F238E27FC236}">
                <a16:creationId xmlns:a16="http://schemas.microsoft.com/office/drawing/2014/main" id="{7614A8C0-BCEC-4438-BE53-88AB23AAB704}"/>
              </a:ext>
            </a:extLst>
          </p:cNvPr>
          <p:cNvSpPr>
            <a:spLocks noGrp="1"/>
          </p:cNvSpPr>
          <p:nvPr/>
        </p:nvSpPr>
        <p:spPr>
          <a:xfrm>
            <a:off x="6248400" y="2476500"/>
            <a:ext cx="25146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op-2-n">
            <a:extLst>
              <a:ext uri="{FF2B5EF4-FFF2-40B4-BE49-F238E27FC236}">
                <a16:creationId xmlns:a16="http://schemas.microsoft.com/office/drawing/2014/main" id="{37F25719-7BE4-46C0-8201-3337A79B1CD6}"/>
              </a:ext>
            </a:extLst>
          </p:cNvPr>
          <p:cNvSpPr>
            <a:spLocks noGrp="1"/>
          </p:cNvSpPr>
          <p:nvPr/>
        </p:nvSpPr>
        <p:spPr>
          <a:xfrm>
            <a:off x="6400800" y="260985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" name="top-2-title">
            <a:extLst>
              <a:ext uri="{FF2B5EF4-FFF2-40B4-BE49-F238E27FC236}">
                <a16:creationId xmlns:a16="http://schemas.microsoft.com/office/drawing/2014/main" id="{C42B4A5E-64DA-40D9-B231-CE220C50A8D4}"/>
              </a:ext>
            </a:extLst>
          </p:cNvPr>
          <p:cNvSpPr>
            <a:spLocks noGrp="1"/>
          </p:cNvSpPr>
          <p:nvPr/>
        </p:nvSpPr>
        <p:spPr>
          <a:xfrm>
            <a:off x="6400800" y="287655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AP Control Tower</a:t>
            </a:r>
          </a:p>
        </p:txBody>
      </p:sp>
      <p:sp>
        <p:nvSpPr>
          <p:cNvPr id="22" name="top-2-detail">
            <a:extLst>
              <a:ext uri="{FF2B5EF4-FFF2-40B4-BE49-F238E27FC236}">
                <a16:creationId xmlns:a16="http://schemas.microsoft.com/office/drawing/2014/main" id="{0D8A14F0-213A-48C1-9B26-F804D5907856}"/>
              </a:ext>
            </a:extLst>
          </p:cNvPr>
          <p:cNvSpPr>
            <a:spLocks noGrp="1"/>
          </p:cNvSpPr>
          <p:nvPr/>
        </p:nvSpPr>
        <p:spPr>
          <a:xfrm>
            <a:off x="6400800" y="3181350"/>
            <a:ext cx="2209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Evidencia + routing + controles</a:t>
            </a:r>
          </a:p>
        </p:txBody>
      </p:sp>
      <p:sp>
        <p:nvSpPr>
          <p:cNvPr id="23" name="top-3-box">
            <a:extLst>
              <a:ext uri="{FF2B5EF4-FFF2-40B4-BE49-F238E27FC236}">
                <a16:creationId xmlns:a16="http://schemas.microsoft.com/office/drawing/2014/main" id="{830518E0-0977-4F89-9F50-E7BF3BD4E2A8}"/>
              </a:ext>
            </a:extLst>
          </p:cNvPr>
          <p:cNvSpPr>
            <a:spLocks noGrp="1"/>
          </p:cNvSpPr>
          <p:nvPr/>
        </p:nvSpPr>
        <p:spPr>
          <a:xfrm>
            <a:off x="9067800" y="2476500"/>
            <a:ext cx="25146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op-3-n">
            <a:extLst>
              <a:ext uri="{FF2B5EF4-FFF2-40B4-BE49-F238E27FC236}">
                <a16:creationId xmlns:a16="http://schemas.microsoft.com/office/drawing/2014/main" id="{398AB920-100F-4C17-B48B-61116DC6E8B0}"/>
              </a:ext>
            </a:extLst>
          </p:cNvPr>
          <p:cNvSpPr>
            <a:spLocks noGrp="1"/>
          </p:cNvSpPr>
          <p:nvPr/>
        </p:nvSpPr>
        <p:spPr>
          <a:xfrm>
            <a:off x="9220200" y="260985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5" name="top-3-title">
            <a:extLst>
              <a:ext uri="{FF2B5EF4-FFF2-40B4-BE49-F238E27FC236}">
                <a16:creationId xmlns:a16="http://schemas.microsoft.com/office/drawing/2014/main" id="{302DC78B-53B1-43C0-8F7C-14792CD5F73D}"/>
              </a:ext>
            </a:extLst>
          </p:cNvPr>
          <p:cNvSpPr>
            <a:spLocks noGrp="1"/>
          </p:cNvSpPr>
          <p:nvPr/>
        </p:nvSpPr>
        <p:spPr>
          <a:xfrm>
            <a:off x="9220200" y="287655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ERP del cliente</a:t>
            </a:r>
          </a:p>
        </p:txBody>
      </p:sp>
      <p:sp>
        <p:nvSpPr>
          <p:cNvPr id="26" name="top-3-detail">
            <a:extLst>
              <a:ext uri="{FF2B5EF4-FFF2-40B4-BE49-F238E27FC236}">
                <a16:creationId xmlns:a16="http://schemas.microsoft.com/office/drawing/2014/main" id="{55C6B52C-BFD7-4610-B156-26E94EE30D4F}"/>
              </a:ext>
            </a:extLst>
          </p:cNvPr>
          <p:cNvSpPr>
            <a:spLocks noGrp="1"/>
          </p:cNvSpPr>
          <p:nvPr/>
        </p:nvSpPr>
        <p:spPr>
          <a:xfrm>
            <a:off x="9220200" y="3181350"/>
            <a:ext cx="2209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Proveedores · PO · contabilización</a:t>
            </a:r>
          </a:p>
        </p:txBody>
      </p:sp>
      <p:sp>
        <p:nvSpPr>
          <p:cNvPr id="27" name="bottom-0-box">
            <a:extLst>
              <a:ext uri="{FF2B5EF4-FFF2-40B4-BE49-F238E27FC236}">
                <a16:creationId xmlns:a16="http://schemas.microsoft.com/office/drawing/2014/main" id="{42BD8547-70B5-4201-8522-2A9104D53F57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25146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bottom-0-n">
            <a:extLst>
              <a:ext uri="{FF2B5EF4-FFF2-40B4-BE49-F238E27FC236}">
                <a16:creationId xmlns:a16="http://schemas.microsoft.com/office/drawing/2014/main" id="{2C8E0CF7-FF31-4B20-B2EE-36B0EA5069AC}"/>
              </a:ext>
            </a:extLst>
          </p:cNvPr>
          <p:cNvSpPr>
            <a:spLocks noGrp="1"/>
          </p:cNvSpPr>
          <p:nvPr/>
        </p:nvSpPr>
        <p:spPr>
          <a:xfrm>
            <a:off x="762000" y="441960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29" name="bottom-0-title">
            <a:extLst>
              <a:ext uri="{FF2B5EF4-FFF2-40B4-BE49-F238E27FC236}">
                <a16:creationId xmlns:a16="http://schemas.microsoft.com/office/drawing/2014/main" id="{ECF3C0C4-8B22-4E7A-A0E6-FCC0F930B8CE}"/>
              </a:ext>
            </a:extLst>
          </p:cNvPr>
          <p:cNvSpPr>
            <a:spLocks noGrp="1"/>
          </p:cNvSpPr>
          <p:nvPr/>
        </p:nvSpPr>
        <p:spPr>
          <a:xfrm>
            <a:off x="762000" y="468630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Audit trail</a:t>
            </a:r>
          </a:p>
        </p:txBody>
      </p:sp>
      <p:sp>
        <p:nvSpPr>
          <p:cNvPr id="30" name="bottom-0-detail">
            <a:extLst>
              <a:ext uri="{FF2B5EF4-FFF2-40B4-BE49-F238E27FC236}">
                <a16:creationId xmlns:a16="http://schemas.microsoft.com/office/drawing/2014/main" id="{D0F8E7C0-DA84-47AD-94DC-6435D47A190A}"/>
              </a:ext>
            </a:extLst>
          </p:cNvPr>
          <p:cNvSpPr>
            <a:spLocks noGrp="1"/>
          </p:cNvSpPr>
          <p:nvPr/>
        </p:nvSpPr>
        <p:spPr>
          <a:xfrm>
            <a:off x="762000" y="4991100"/>
            <a:ext cx="2209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Controles y decisiones verificables</a:t>
            </a:r>
          </a:p>
        </p:txBody>
      </p:sp>
      <p:sp>
        <p:nvSpPr>
          <p:cNvPr id="31" name="bottom-1-box">
            <a:extLst>
              <a:ext uri="{FF2B5EF4-FFF2-40B4-BE49-F238E27FC236}">
                <a16:creationId xmlns:a16="http://schemas.microsoft.com/office/drawing/2014/main" id="{569A2307-09B2-45D3-BEEC-A26B059EFC01}"/>
              </a:ext>
            </a:extLst>
          </p:cNvPr>
          <p:cNvSpPr>
            <a:spLocks noGrp="1"/>
          </p:cNvSpPr>
          <p:nvPr/>
        </p:nvSpPr>
        <p:spPr>
          <a:xfrm>
            <a:off x="3429000" y="4286250"/>
            <a:ext cx="2514600" cy="1066800"/>
          </a:xfrm>
          <a:prstGeom prst="roundRect">
            <a:avLst>
              <a:gd name="adj" fmla="val 7143"/>
            </a:avLst>
          </a:prstGeom>
          <a:solidFill>
            <a:srgbClr val="E3F1EC"/>
          </a:solidFill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2" name="bottom-1-n">
            <a:extLst>
              <a:ext uri="{FF2B5EF4-FFF2-40B4-BE49-F238E27FC236}">
                <a16:creationId xmlns:a16="http://schemas.microsoft.com/office/drawing/2014/main" id="{B9C7B27D-0524-4B88-99A3-A56B83D1296C}"/>
              </a:ext>
            </a:extLst>
          </p:cNvPr>
          <p:cNvSpPr>
            <a:spLocks noGrp="1"/>
          </p:cNvSpPr>
          <p:nvPr/>
        </p:nvSpPr>
        <p:spPr>
          <a:xfrm>
            <a:off x="3581400" y="441960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3" name="bottom-1-title">
            <a:extLst>
              <a:ext uri="{FF2B5EF4-FFF2-40B4-BE49-F238E27FC236}">
                <a16:creationId xmlns:a16="http://schemas.microsoft.com/office/drawing/2014/main" id="{8385F921-DAFA-4E96-8568-D896E38BE7CC}"/>
              </a:ext>
            </a:extLst>
          </p:cNvPr>
          <p:cNvSpPr>
            <a:spLocks noGrp="1"/>
          </p:cNvSpPr>
          <p:nvPr/>
        </p:nvSpPr>
        <p:spPr>
          <a:xfrm>
            <a:off x="3581400" y="468630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Banco del cliente</a:t>
            </a:r>
          </a:p>
        </p:txBody>
      </p:sp>
      <p:sp>
        <p:nvSpPr>
          <p:cNvPr id="34" name="bottom-1-detail">
            <a:extLst>
              <a:ext uri="{FF2B5EF4-FFF2-40B4-BE49-F238E27FC236}">
                <a16:creationId xmlns:a16="http://schemas.microsoft.com/office/drawing/2014/main" id="{F1D1C6B5-18AF-4422-96FA-40BA7177952E}"/>
              </a:ext>
            </a:extLst>
          </p:cNvPr>
          <p:cNvSpPr>
            <a:spLocks noGrp="1"/>
          </p:cNvSpPr>
          <p:nvPr/>
        </p:nvSpPr>
        <p:spPr>
          <a:xfrm>
            <a:off x="3581400" y="4991100"/>
            <a:ext cx="2209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Propuesta; ejecución separada</a:t>
            </a:r>
          </a:p>
        </p:txBody>
      </p:sp>
      <p:sp>
        <p:nvSpPr>
          <p:cNvPr id="35" name="bottom-2-box">
            <a:extLst>
              <a:ext uri="{FF2B5EF4-FFF2-40B4-BE49-F238E27FC236}">
                <a16:creationId xmlns:a16="http://schemas.microsoft.com/office/drawing/2014/main" id="{6953269A-DEAA-4BB5-B88D-A6A756CD7250}"/>
              </a:ext>
            </a:extLst>
          </p:cNvPr>
          <p:cNvSpPr>
            <a:spLocks noGrp="1"/>
          </p:cNvSpPr>
          <p:nvPr/>
        </p:nvSpPr>
        <p:spPr>
          <a:xfrm>
            <a:off x="6248400" y="4286250"/>
            <a:ext cx="25146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6" name="bottom-2-n">
            <a:extLst>
              <a:ext uri="{FF2B5EF4-FFF2-40B4-BE49-F238E27FC236}">
                <a16:creationId xmlns:a16="http://schemas.microsoft.com/office/drawing/2014/main" id="{4D209D89-D26B-4DDD-BD22-7BE258E02BE2}"/>
              </a:ext>
            </a:extLst>
          </p:cNvPr>
          <p:cNvSpPr>
            <a:spLocks noGrp="1"/>
          </p:cNvSpPr>
          <p:nvPr/>
        </p:nvSpPr>
        <p:spPr>
          <a:xfrm>
            <a:off x="6400800" y="441960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7" name="bottom-2-title">
            <a:extLst>
              <a:ext uri="{FF2B5EF4-FFF2-40B4-BE49-F238E27FC236}">
                <a16:creationId xmlns:a16="http://schemas.microsoft.com/office/drawing/2014/main" id="{82430FC0-E3AE-462D-8E83-B865DDAD8CED}"/>
              </a:ext>
            </a:extLst>
          </p:cNvPr>
          <p:cNvSpPr>
            <a:spLocks noGrp="1"/>
          </p:cNvSpPr>
          <p:nvPr/>
        </p:nvSpPr>
        <p:spPr>
          <a:xfrm>
            <a:off x="6400800" y="468630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Treasury / cash</a:t>
            </a:r>
          </a:p>
        </p:txBody>
      </p:sp>
      <p:sp>
        <p:nvSpPr>
          <p:cNvPr id="38" name="bottom-2-detail">
            <a:extLst>
              <a:ext uri="{FF2B5EF4-FFF2-40B4-BE49-F238E27FC236}">
                <a16:creationId xmlns:a16="http://schemas.microsoft.com/office/drawing/2014/main" id="{59F56F20-E8DA-4F74-9798-9B0A38602504}"/>
              </a:ext>
            </a:extLst>
          </p:cNvPr>
          <p:cNvSpPr>
            <a:spLocks noGrp="1"/>
          </p:cNvSpPr>
          <p:nvPr/>
        </p:nvSpPr>
        <p:spPr>
          <a:xfrm>
            <a:off x="6400800" y="4991100"/>
            <a:ext cx="2209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Obligaciones y vencimientos</a:t>
            </a:r>
          </a:p>
        </p:txBody>
      </p:sp>
      <p:sp>
        <p:nvSpPr>
          <p:cNvPr id="39" name="bottom-3-box">
            <a:extLst>
              <a:ext uri="{FF2B5EF4-FFF2-40B4-BE49-F238E27FC236}">
                <a16:creationId xmlns:a16="http://schemas.microsoft.com/office/drawing/2014/main" id="{F0E10960-90A7-4938-932B-282FAC7DE4A1}"/>
              </a:ext>
            </a:extLst>
          </p:cNvPr>
          <p:cNvSpPr>
            <a:spLocks noGrp="1"/>
          </p:cNvSpPr>
          <p:nvPr/>
        </p:nvSpPr>
        <p:spPr>
          <a:xfrm>
            <a:off x="9067800" y="4286250"/>
            <a:ext cx="25146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0" name="bottom-3-n">
            <a:extLst>
              <a:ext uri="{FF2B5EF4-FFF2-40B4-BE49-F238E27FC236}">
                <a16:creationId xmlns:a16="http://schemas.microsoft.com/office/drawing/2014/main" id="{E5EED8A2-7597-4611-9FEC-30C8D863CD4A}"/>
              </a:ext>
            </a:extLst>
          </p:cNvPr>
          <p:cNvSpPr>
            <a:spLocks noGrp="1"/>
          </p:cNvSpPr>
          <p:nvPr/>
        </p:nvSpPr>
        <p:spPr>
          <a:xfrm>
            <a:off x="9220200" y="441960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1" name="bottom-3-title">
            <a:extLst>
              <a:ext uri="{FF2B5EF4-FFF2-40B4-BE49-F238E27FC236}">
                <a16:creationId xmlns:a16="http://schemas.microsoft.com/office/drawing/2014/main" id="{2D50F2D9-32DD-427A-B8E7-A1E0E667804B}"/>
              </a:ext>
            </a:extLst>
          </p:cNvPr>
          <p:cNvSpPr>
            <a:spLocks noGrp="1"/>
          </p:cNvSpPr>
          <p:nvPr/>
        </p:nvSpPr>
        <p:spPr>
          <a:xfrm>
            <a:off x="9220200" y="468630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Aprobación humana</a:t>
            </a:r>
          </a:p>
        </p:txBody>
      </p:sp>
      <p:sp>
        <p:nvSpPr>
          <p:cNvPr id="42" name="bottom-3-detail">
            <a:extLst>
              <a:ext uri="{FF2B5EF4-FFF2-40B4-BE49-F238E27FC236}">
                <a16:creationId xmlns:a16="http://schemas.microsoft.com/office/drawing/2014/main" id="{B7B189F9-02C3-4F27-B983-321C9352FFD1}"/>
              </a:ext>
            </a:extLst>
          </p:cNvPr>
          <p:cNvSpPr>
            <a:spLocks noGrp="1"/>
          </p:cNvSpPr>
          <p:nvPr/>
        </p:nvSpPr>
        <p:spPr>
          <a:xfrm>
            <a:off x="9220200" y="4991100"/>
            <a:ext cx="2209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Segregación + nivel de autoridad</a:t>
            </a:r>
          </a:p>
        </p:txBody>
      </p:sp>
      <p:sp>
        <p:nvSpPr>
          <p:cNvPr id="43" name="flow-top-arrow-0">
            <a:extLst>
              <a:ext uri="{FF2B5EF4-FFF2-40B4-BE49-F238E27FC236}">
                <a16:creationId xmlns:a16="http://schemas.microsoft.com/office/drawing/2014/main" id="{79E07E5D-6622-4BA6-A658-1C48323C13D5}"/>
              </a:ext>
            </a:extLst>
          </p:cNvPr>
          <p:cNvSpPr>
            <a:spLocks noGrp="1"/>
          </p:cNvSpPr>
          <p:nvPr/>
        </p:nvSpPr>
        <p:spPr>
          <a:xfrm>
            <a:off x="3181350" y="284797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7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44" name="flow-bottom-arrow-0">
            <a:extLst>
              <a:ext uri="{FF2B5EF4-FFF2-40B4-BE49-F238E27FC236}">
                <a16:creationId xmlns:a16="http://schemas.microsoft.com/office/drawing/2014/main" id="{6DC2DA16-AB9A-4C56-9F25-52E3D4116195}"/>
              </a:ext>
            </a:extLst>
          </p:cNvPr>
          <p:cNvSpPr>
            <a:spLocks noGrp="1"/>
          </p:cNvSpPr>
          <p:nvPr/>
        </p:nvSpPr>
        <p:spPr>
          <a:xfrm>
            <a:off x="3181350" y="46577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75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←</a:t>
            </a:r>
          </a:p>
        </p:txBody>
      </p:sp>
      <p:sp>
        <p:nvSpPr>
          <p:cNvPr id="45" name="flow-top-arrow-1">
            <a:extLst>
              <a:ext uri="{FF2B5EF4-FFF2-40B4-BE49-F238E27FC236}">
                <a16:creationId xmlns:a16="http://schemas.microsoft.com/office/drawing/2014/main" id="{579DC809-E88F-4A59-A071-197355422A8F}"/>
              </a:ext>
            </a:extLst>
          </p:cNvPr>
          <p:cNvSpPr>
            <a:spLocks noGrp="1"/>
          </p:cNvSpPr>
          <p:nvPr/>
        </p:nvSpPr>
        <p:spPr>
          <a:xfrm>
            <a:off x="6000750" y="284797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7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46" name="flow-bottom-arrow-1">
            <a:extLst>
              <a:ext uri="{FF2B5EF4-FFF2-40B4-BE49-F238E27FC236}">
                <a16:creationId xmlns:a16="http://schemas.microsoft.com/office/drawing/2014/main" id="{305169B9-6E4C-465A-A881-4336C602A621}"/>
              </a:ext>
            </a:extLst>
          </p:cNvPr>
          <p:cNvSpPr>
            <a:spLocks noGrp="1"/>
          </p:cNvSpPr>
          <p:nvPr/>
        </p:nvSpPr>
        <p:spPr>
          <a:xfrm>
            <a:off x="6000750" y="46577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75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←</a:t>
            </a:r>
          </a:p>
        </p:txBody>
      </p:sp>
      <p:sp>
        <p:nvSpPr>
          <p:cNvPr id="47" name="flow-top-arrow-2">
            <a:extLst>
              <a:ext uri="{FF2B5EF4-FFF2-40B4-BE49-F238E27FC236}">
                <a16:creationId xmlns:a16="http://schemas.microsoft.com/office/drawing/2014/main" id="{3920AC14-D669-42AC-A50C-91C68FEBF1CE}"/>
              </a:ext>
            </a:extLst>
          </p:cNvPr>
          <p:cNvSpPr>
            <a:spLocks noGrp="1"/>
          </p:cNvSpPr>
          <p:nvPr/>
        </p:nvSpPr>
        <p:spPr>
          <a:xfrm>
            <a:off x="8820150" y="284797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7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48" name="flow-bottom-arrow-2">
            <a:extLst>
              <a:ext uri="{FF2B5EF4-FFF2-40B4-BE49-F238E27FC236}">
                <a16:creationId xmlns:a16="http://schemas.microsoft.com/office/drawing/2014/main" id="{93AA67ED-CC56-4128-B817-FFAA50B6E101}"/>
              </a:ext>
            </a:extLst>
          </p:cNvPr>
          <p:cNvSpPr>
            <a:spLocks noGrp="1"/>
          </p:cNvSpPr>
          <p:nvPr/>
        </p:nvSpPr>
        <p:spPr>
          <a:xfrm>
            <a:off x="8820150" y="46577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75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←</a:t>
            </a:r>
          </a:p>
        </p:txBody>
      </p:sp>
      <p:sp>
        <p:nvSpPr>
          <p:cNvPr id="49" name="flow-down-arrow">
            <a:extLst>
              <a:ext uri="{FF2B5EF4-FFF2-40B4-BE49-F238E27FC236}">
                <a16:creationId xmlns:a16="http://schemas.microsoft.com/office/drawing/2014/main" id="{FC2640F6-8B29-48DF-AF20-E5CC73D3C45A}"/>
              </a:ext>
            </a:extLst>
          </p:cNvPr>
          <p:cNvSpPr>
            <a:spLocks noGrp="1"/>
          </p:cNvSpPr>
          <p:nvPr/>
        </p:nvSpPr>
        <p:spPr>
          <a:xfrm>
            <a:off x="10229850" y="3762375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0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50" name="flow-automation-label">
            <a:extLst>
              <a:ext uri="{FF2B5EF4-FFF2-40B4-BE49-F238E27FC236}">
                <a16:creationId xmlns:a16="http://schemas.microsoft.com/office/drawing/2014/main" id="{B36C4150-1500-4C16-9422-0C2D6491B4A2}"/>
              </a:ext>
            </a:extLst>
          </p:cNvPr>
          <p:cNvSpPr>
            <a:spLocks noGrp="1"/>
          </p:cNvSpPr>
          <p:nvPr/>
        </p:nvSpPr>
        <p:spPr>
          <a:xfrm>
            <a:off x="609600" y="218122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INTEGRACIÓN MODULAR</a:t>
            </a:r>
          </a:p>
        </p:txBody>
      </p:sp>
      <p:sp>
        <p:nvSpPr>
          <p:cNvPr id="51" name="flow-governance-label">
            <a:extLst>
              <a:ext uri="{FF2B5EF4-FFF2-40B4-BE49-F238E27FC236}">
                <a16:creationId xmlns:a16="http://schemas.microsoft.com/office/drawing/2014/main" id="{B97B4131-B146-40FA-AFF0-C9855F6F8D29}"/>
              </a:ext>
            </a:extLst>
          </p:cNvPr>
          <p:cNvSpPr>
            <a:spLocks noGrp="1"/>
          </p:cNvSpPr>
          <p:nvPr/>
        </p:nvSpPr>
        <p:spPr>
          <a:xfrm>
            <a:off x="609600" y="39909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CONTROL HUMANO PRESERVADO</a:t>
            </a:r>
          </a:p>
        </p:txBody>
      </p:sp>
      <p:sp>
        <p:nvSpPr>
          <p:cNvPr id="52" name="footer-note-4">
            <a:extLst>
              <a:ext uri="{FF2B5EF4-FFF2-40B4-BE49-F238E27FC236}">
                <a16:creationId xmlns:a16="http://schemas.microsoft.com/office/drawing/2014/main" id="{4BC78CE1-1B93-4818-94FE-68FBBE41314D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933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0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AP Control Tower · product pitch → CFO Office</a:t>
            </a:r>
          </a:p>
        </p:txBody>
      </p:sp>
      <p:sp>
        <p:nvSpPr>
          <p:cNvPr id="53" name="footer-page-4">
            <a:extLst>
              <a:ext uri="{FF2B5EF4-FFF2-40B4-BE49-F238E27FC236}">
                <a16:creationId xmlns:a16="http://schemas.microsoft.com/office/drawing/2014/main" id="{1C479FD3-565F-4D2B-A99A-18CD51FFB572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050" b="1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29330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yebrow-9">
            <a:extLst>
              <a:ext uri="{FF2B5EF4-FFF2-40B4-BE49-F238E27FC236}">
                <a16:creationId xmlns:a16="http://schemas.microsoft.com/office/drawing/2014/main" id="{531978A4-A23E-4AF3-9BE7-B8B293F6E6C5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CAMINO A DECISIÓN</a:t>
            </a:r>
          </a:p>
        </p:txBody>
      </p:sp>
      <p:sp>
        <p:nvSpPr>
          <p:cNvPr id="2" name="title-9">
            <a:extLst>
              <a:ext uri="{FF2B5EF4-FFF2-40B4-BE49-F238E27FC236}">
                <a16:creationId xmlns:a16="http://schemas.microsoft.com/office/drawing/2014/main" id="{7C524514-3DA7-464B-90B5-CC2313F30E7B}"/>
              </a:ext>
            </a:extLst>
          </p:cNvPr>
          <p:cNvSpPr>
            <a:spLocks noGrp="1"/>
          </p:cNvSpPr>
          <p:nvPr/>
        </p:nvSpPr>
        <p:spPr>
          <a:xfrm>
            <a:off x="609600" y="714375"/>
            <a:ext cx="109728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2220"/>
          </a:bodyPr>
          <a:lstStyle/>
          <a:p>
            <a:pPr algn="l">
              <a:buNone/>
              <a:defRPr sz="36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Una muestra controlada convierte interés en un plan defendible.</a:t>
            </a:r>
          </a:p>
        </p:txBody>
      </p:sp>
      <p:sp>
        <p:nvSpPr>
          <p:cNvPr id="3" name="title-rule-9">
            <a:extLst>
              <a:ext uri="{FF2B5EF4-FFF2-40B4-BE49-F238E27FC236}">
                <a16:creationId xmlns:a16="http://schemas.microsoft.com/office/drawing/2014/main" id="{20854CF2-A126-4F48-B22B-D23A95FCBE96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imeline-main">
            <a:extLst>
              <a:ext uri="{FF2B5EF4-FFF2-40B4-BE49-F238E27FC236}">
                <a16:creationId xmlns:a16="http://schemas.microsoft.com/office/drawing/2014/main" id="{A75AD826-FF1F-451B-89FE-4E29DBE29477}"/>
              </a:ext>
            </a:extLst>
          </p:cNvPr>
          <p:cNvSpPr>
            <a:spLocks noGrp="1"/>
          </p:cNvSpPr>
          <p:nvPr/>
        </p:nvSpPr>
        <p:spPr>
          <a:xfrm>
            <a:off x="857250" y="3409950"/>
            <a:ext cx="10477500" cy="19050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imeline-dot-0">
            <a:extLst>
              <a:ext uri="{FF2B5EF4-FFF2-40B4-BE49-F238E27FC236}">
                <a16:creationId xmlns:a16="http://schemas.microsoft.com/office/drawing/2014/main" id="{24A20707-07E8-422A-8902-8B810EC95603}"/>
              </a:ext>
            </a:extLst>
          </p:cNvPr>
          <p:cNvSpPr>
            <a:spLocks noGrp="1"/>
          </p:cNvSpPr>
          <p:nvPr/>
        </p:nvSpPr>
        <p:spPr>
          <a:xfrm>
            <a:off x="857250" y="3314700"/>
            <a:ext cx="190500" cy="190500"/>
          </a:xfrm>
          <a:prstGeom prst="ellipse">
            <a:avLst/>
          </a:prstGeom>
          <a:solidFill>
            <a:srgbClr val="1B728B"/>
          </a:solidFill>
          <a:ln w="19050">
            <a:solidFill>
              <a:srgbClr val="1B728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imeline-dot-1">
            <a:extLst>
              <a:ext uri="{FF2B5EF4-FFF2-40B4-BE49-F238E27FC236}">
                <a16:creationId xmlns:a16="http://schemas.microsoft.com/office/drawing/2014/main" id="{D46C5C18-E220-4204-80B8-F82CF3064188}"/>
              </a:ext>
            </a:extLst>
          </p:cNvPr>
          <p:cNvSpPr>
            <a:spLocks noGrp="1"/>
          </p:cNvSpPr>
          <p:nvPr/>
        </p:nvSpPr>
        <p:spPr>
          <a:xfrm>
            <a:off x="3667125" y="3314700"/>
            <a:ext cx="190500" cy="190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imeline-dot-2">
            <a:extLst>
              <a:ext uri="{FF2B5EF4-FFF2-40B4-BE49-F238E27FC236}">
                <a16:creationId xmlns:a16="http://schemas.microsoft.com/office/drawing/2014/main" id="{E91768F1-630B-4EF8-B53C-321646DA56A5}"/>
              </a:ext>
            </a:extLst>
          </p:cNvPr>
          <p:cNvSpPr>
            <a:spLocks noGrp="1"/>
          </p:cNvSpPr>
          <p:nvPr/>
        </p:nvSpPr>
        <p:spPr>
          <a:xfrm>
            <a:off x="6477000" y="3314700"/>
            <a:ext cx="190500" cy="190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imeline-dot-3">
            <a:extLst>
              <a:ext uri="{FF2B5EF4-FFF2-40B4-BE49-F238E27FC236}">
                <a16:creationId xmlns:a16="http://schemas.microsoft.com/office/drawing/2014/main" id="{CD25940B-995A-4F3C-BF72-580BE3755C8D}"/>
              </a:ext>
            </a:extLst>
          </p:cNvPr>
          <p:cNvSpPr>
            <a:spLocks noGrp="1"/>
          </p:cNvSpPr>
          <p:nvPr/>
        </p:nvSpPr>
        <p:spPr>
          <a:xfrm>
            <a:off x="9286875" y="3314700"/>
            <a:ext cx="190500" cy="190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stage-1-n">
            <a:extLst>
              <a:ext uri="{FF2B5EF4-FFF2-40B4-BE49-F238E27FC236}">
                <a16:creationId xmlns:a16="http://schemas.microsoft.com/office/drawing/2014/main" id="{7B2730FA-25FF-4038-93BB-F19F7066714D}"/>
              </a:ext>
            </a:extLst>
          </p:cNvPr>
          <p:cNvSpPr>
            <a:spLocks noGrp="1"/>
          </p:cNvSpPr>
          <p:nvPr/>
        </p:nvSpPr>
        <p:spPr>
          <a:xfrm>
            <a:off x="857250" y="1952625"/>
            <a:ext cx="438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2222"/>
          </a:bodyPr>
          <a:lstStyle/>
          <a:p>
            <a:pPr algn="l">
              <a:buNone/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01 · 90 minutos</a:t>
            </a:r>
          </a:p>
        </p:txBody>
      </p:sp>
      <p:sp>
        <p:nvSpPr>
          <p:cNvPr id="10" name="stage-1-title">
            <a:extLst>
              <a:ext uri="{FF2B5EF4-FFF2-40B4-BE49-F238E27FC236}">
                <a16:creationId xmlns:a16="http://schemas.microsoft.com/office/drawing/2014/main" id="{08614E61-85DC-468A-B5EB-6F7F80F6452B}"/>
              </a:ext>
            </a:extLst>
          </p:cNvPr>
          <p:cNvSpPr>
            <a:spLocks noGrp="1"/>
          </p:cNvSpPr>
          <p:nvPr/>
        </p:nvSpPr>
        <p:spPr>
          <a:xfrm>
            <a:off x="857250" y="2286000"/>
            <a:ext cx="2286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Discovery ejecutivo</a:t>
            </a:r>
          </a:p>
        </p:txBody>
      </p:sp>
      <p:sp>
        <p:nvSpPr>
          <p:cNvPr id="11" name="stage-1-body">
            <a:extLst>
              <a:ext uri="{FF2B5EF4-FFF2-40B4-BE49-F238E27FC236}">
                <a16:creationId xmlns:a16="http://schemas.microsoft.com/office/drawing/2014/main" id="{1C00EB84-DE2B-4507-8D8D-BAB4A735D71D}"/>
              </a:ext>
            </a:extLst>
          </p:cNvPr>
          <p:cNvSpPr>
            <a:spLocks noGrp="1"/>
          </p:cNvSpPr>
          <p:nvPr/>
        </p:nvSpPr>
        <p:spPr>
          <a:xfrm>
            <a:off x="857250" y="2733675"/>
            <a:ext cx="2286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Volumen, tiempos, excepciones, sistemas y controles prioritarios.</a:t>
            </a:r>
          </a:p>
        </p:txBody>
      </p:sp>
      <p:sp>
        <p:nvSpPr>
          <p:cNvPr id="12" name="stage-2-n">
            <a:extLst>
              <a:ext uri="{FF2B5EF4-FFF2-40B4-BE49-F238E27FC236}">
                <a16:creationId xmlns:a16="http://schemas.microsoft.com/office/drawing/2014/main" id="{54B40B38-4E2A-4FDD-B0D4-75E17B02E437}"/>
              </a:ext>
            </a:extLst>
          </p:cNvPr>
          <p:cNvSpPr>
            <a:spLocks noGrp="1"/>
          </p:cNvSpPr>
          <p:nvPr/>
        </p:nvSpPr>
        <p:spPr>
          <a:xfrm>
            <a:off x="3667125" y="3733800"/>
            <a:ext cx="438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2222"/>
          </a:bodyPr>
          <a:lstStyle/>
          <a:p>
            <a:pPr algn="l">
              <a:buNone/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02 · muestra</a:t>
            </a:r>
          </a:p>
        </p:txBody>
      </p:sp>
      <p:sp>
        <p:nvSpPr>
          <p:cNvPr id="13" name="stage-2-title">
            <a:extLst>
              <a:ext uri="{FF2B5EF4-FFF2-40B4-BE49-F238E27FC236}">
                <a16:creationId xmlns:a16="http://schemas.microsoft.com/office/drawing/2014/main" id="{80A87D3D-672F-4451-A1A5-D1D46361D575}"/>
              </a:ext>
            </a:extLst>
          </p:cNvPr>
          <p:cNvSpPr>
            <a:spLocks noGrp="1"/>
          </p:cNvSpPr>
          <p:nvPr/>
        </p:nvSpPr>
        <p:spPr>
          <a:xfrm>
            <a:off x="3667125" y="4067175"/>
            <a:ext cx="2286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Validación controlada</a:t>
            </a:r>
          </a:p>
        </p:txBody>
      </p:sp>
      <p:sp>
        <p:nvSpPr>
          <p:cNvPr id="14" name="stage-2-body">
            <a:extLst>
              <a:ext uri="{FF2B5EF4-FFF2-40B4-BE49-F238E27FC236}">
                <a16:creationId xmlns:a16="http://schemas.microsoft.com/office/drawing/2014/main" id="{8B007CF3-487E-4A4C-80C3-FC25F3EC3CBE}"/>
              </a:ext>
            </a:extLst>
          </p:cNvPr>
          <p:cNvSpPr>
            <a:spLocks noGrp="1"/>
          </p:cNvSpPr>
          <p:nvPr/>
        </p:nvSpPr>
        <p:spPr>
          <a:xfrm>
            <a:off x="3667125" y="4514850"/>
            <a:ext cx="2286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Documentos representativos, extracción y rutas de excepción.</a:t>
            </a:r>
          </a:p>
        </p:txBody>
      </p:sp>
      <p:sp>
        <p:nvSpPr>
          <p:cNvPr id="15" name="stage-3-n">
            <a:extLst>
              <a:ext uri="{FF2B5EF4-FFF2-40B4-BE49-F238E27FC236}">
                <a16:creationId xmlns:a16="http://schemas.microsoft.com/office/drawing/2014/main" id="{BFE133AC-AFDD-44CA-B8B9-B4F82BB122A7}"/>
              </a:ext>
            </a:extLst>
          </p:cNvPr>
          <p:cNvSpPr>
            <a:spLocks noGrp="1"/>
          </p:cNvSpPr>
          <p:nvPr/>
        </p:nvSpPr>
        <p:spPr>
          <a:xfrm>
            <a:off x="6477000" y="1952625"/>
            <a:ext cx="438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2222"/>
          </a:bodyPr>
          <a:lstStyle/>
          <a:p>
            <a:pPr algn="l">
              <a:buNone/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03 · diseño</a:t>
            </a:r>
          </a:p>
        </p:txBody>
      </p:sp>
      <p:sp>
        <p:nvSpPr>
          <p:cNvPr id="16" name="stage-3-title">
            <a:extLst>
              <a:ext uri="{FF2B5EF4-FFF2-40B4-BE49-F238E27FC236}">
                <a16:creationId xmlns:a16="http://schemas.microsoft.com/office/drawing/2014/main" id="{9DB9104B-CDDD-4AB1-8946-E820FBEE50B4}"/>
              </a:ext>
            </a:extLst>
          </p:cNvPr>
          <p:cNvSpPr>
            <a:spLocks noGrp="1"/>
          </p:cNvSpPr>
          <p:nvPr/>
        </p:nvSpPr>
        <p:spPr>
          <a:xfrm>
            <a:off x="6477000" y="2286000"/>
            <a:ext cx="2286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Diseño de integración</a:t>
            </a:r>
          </a:p>
        </p:txBody>
      </p:sp>
      <p:sp>
        <p:nvSpPr>
          <p:cNvPr id="17" name="stage-3-body">
            <a:extLst>
              <a:ext uri="{FF2B5EF4-FFF2-40B4-BE49-F238E27FC236}">
                <a16:creationId xmlns:a16="http://schemas.microsoft.com/office/drawing/2014/main" id="{84B65F89-62CF-4F43-9776-02DA6A903E87}"/>
              </a:ext>
            </a:extLst>
          </p:cNvPr>
          <p:cNvSpPr>
            <a:spLocks noGrp="1"/>
          </p:cNvSpPr>
          <p:nvPr/>
        </p:nvSpPr>
        <p:spPr>
          <a:xfrm>
            <a:off x="6477000" y="2733675"/>
            <a:ext cx="2286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Arquitectura objetivo, responsabilidades, controles y alcance.</a:t>
            </a:r>
          </a:p>
        </p:txBody>
      </p:sp>
      <p:sp>
        <p:nvSpPr>
          <p:cNvPr id="18" name="stage-4-n">
            <a:extLst>
              <a:ext uri="{FF2B5EF4-FFF2-40B4-BE49-F238E27FC236}">
                <a16:creationId xmlns:a16="http://schemas.microsoft.com/office/drawing/2014/main" id="{936835D0-98D9-400D-B16D-70555FD35FF9}"/>
              </a:ext>
            </a:extLst>
          </p:cNvPr>
          <p:cNvSpPr>
            <a:spLocks noGrp="1"/>
          </p:cNvSpPr>
          <p:nvPr/>
        </p:nvSpPr>
        <p:spPr>
          <a:xfrm>
            <a:off x="9286875" y="3733800"/>
            <a:ext cx="438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2222"/>
          </a:bodyPr>
          <a:lstStyle/>
          <a:p>
            <a:pPr algn="l">
              <a:buNone/>
              <a:defRPr sz="1125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04 · decisión</a:t>
            </a:r>
          </a:p>
        </p:txBody>
      </p:sp>
      <p:sp>
        <p:nvSpPr>
          <p:cNvPr id="19" name="stage-4-title">
            <a:extLst>
              <a:ext uri="{FF2B5EF4-FFF2-40B4-BE49-F238E27FC236}">
                <a16:creationId xmlns:a16="http://schemas.microsoft.com/office/drawing/2014/main" id="{1581A07D-304A-4491-946E-E5BFDA1ADDBE}"/>
              </a:ext>
            </a:extLst>
          </p:cNvPr>
          <p:cNvSpPr>
            <a:spLocks noGrp="1"/>
          </p:cNvSpPr>
          <p:nvPr/>
        </p:nvSpPr>
        <p:spPr>
          <a:xfrm>
            <a:off x="9286875" y="4067175"/>
            <a:ext cx="2286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Plan de despliegue</a:t>
            </a:r>
          </a:p>
        </p:txBody>
      </p:sp>
      <p:sp>
        <p:nvSpPr>
          <p:cNvPr id="20" name="stage-4-body">
            <a:extLst>
              <a:ext uri="{FF2B5EF4-FFF2-40B4-BE49-F238E27FC236}">
                <a16:creationId xmlns:a16="http://schemas.microsoft.com/office/drawing/2014/main" id="{F5B04E12-F23F-4EAF-8C1E-2DA4F305005A}"/>
              </a:ext>
            </a:extLst>
          </p:cNvPr>
          <p:cNvSpPr>
            <a:spLocks noGrp="1"/>
          </p:cNvSpPr>
          <p:nvPr/>
        </p:nvSpPr>
        <p:spPr>
          <a:xfrm>
            <a:off x="9286875" y="4514850"/>
            <a:ext cx="2286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Criterios de éxito, aceptación, gobierno operativo y próximos módulos.</a:t>
            </a:r>
          </a:p>
        </p:txBody>
      </p:sp>
      <p:sp>
        <p:nvSpPr>
          <p:cNvPr id="21" name="timeline-live">
            <a:extLst>
              <a:ext uri="{FF2B5EF4-FFF2-40B4-BE49-F238E27FC236}">
                <a16:creationId xmlns:a16="http://schemas.microsoft.com/office/drawing/2014/main" id="{3408500A-4961-47C1-9650-DF2B6F19306D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533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Disponible hoy: demo guiada + PoC + golden records + evals</a:t>
            </a:r>
          </a:p>
        </p:txBody>
      </p:sp>
      <p:sp>
        <p:nvSpPr>
          <p:cNvPr id="22" name="timeline-principle">
            <a:extLst>
              <a:ext uri="{FF2B5EF4-FFF2-40B4-BE49-F238E27FC236}">
                <a16:creationId xmlns:a16="http://schemas.microsoft.com/office/drawing/2014/main" id="{D4F3E4CE-BED3-4BEB-9CDF-0E6999A9DD87}"/>
              </a:ext>
            </a:extLst>
          </p:cNvPr>
          <p:cNvSpPr>
            <a:spLocks noGrp="1"/>
          </p:cNvSpPr>
          <p:nvPr/>
        </p:nvSpPr>
        <p:spPr>
          <a:xfrm>
            <a:off x="6762750" y="5715000"/>
            <a:ext cx="4819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7617"/>
          </a:bodyPr>
          <a:lstStyle/>
          <a:p>
            <a:pPr algn="r">
              <a:buNone/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Sin big bang: primero AP, luego módulos conectados sobre shared state.</a:t>
            </a:r>
          </a:p>
        </p:txBody>
      </p:sp>
      <p:sp>
        <p:nvSpPr>
          <p:cNvPr id="23" name="footer-note-9">
            <a:extLst>
              <a:ext uri="{FF2B5EF4-FFF2-40B4-BE49-F238E27FC236}">
                <a16:creationId xmlns:a16="http://schemas.microsoft.com/office/drawing/2014/main" id="{540642E0-4338-4C0C-A544-6D1A5D07EC6F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933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0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AP Control Tower · product pitch → CFO Office</a:t>
            </a:r>
          </a:p>
        </p:txBody>
      </p:sp>
      <p:sp>
        <p:nvSpPr>
          <p:cNvPr id="24" name="footer-page-9">
            <a:extLst>
              <a:ext uri="{FF2B5EF4-FFF2-40B4-BE49-F238E27FC236}">
                <a16:creationId xmlns:a16="http://schemas.microsoft.com/office/drawing/2014/main" id="{5C06CEEA-C8DD-4F20-8741-235036724C3D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050" b="1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1036604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eyebrow-6">
            <a:extLst>
              <a:ext uri="{FF2B5EF4-FFF2-40B4-BE49-F238E27FC236}">
                <a16:creationId xmlns:a16="http://schemas.microsoft.com/office/drawing/2014/main" id="{F70154EC-9200-4F57-84D4-28680CCF0792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CFO OFFICE · SHARED STATE</a:t>
            </a:r>
          </a:p>
        </p:txBody>
      </p:sp>
      <p:sp>
        <p:nvSpPr>
          <p:cNvPr id="2" name="title-6">
            <a:extLst>
              <a:ext uri="{FF2B5EF4-FFF2-40B4-BE49-F238E27FC236}">
                <a16:creationId xmlns:a16="http://schemas.microsoft.com/office/drawing/2014/main" id="{96824595-DA18-4C8F-8675-45A8961DB575}"/>
              </a:ext>
            </a:extLst>
          </p:cNvPr>
          <p:cNvSpPr>
            <a:spLocks noGrp="1"/>
          </p:cNvSpPr>
          <p:nvPr/>
        </p:nvSpPr>
        <p:spPr>
          <a:xfrm>
            <a:off x="609600" y="714375"/>
            <a:ext cx="109728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1151"/>
          </a:bodyPr>
          <a:lstStyle/>
          <a:p>
            <a:pPr algn="l">
              <a:buNone/>
              <a:defRPr sz="36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AP crea los primeros objetos de un estado financiero compartido.</a:t>
            </a:r>
          </a:p>
        </p:txBody>
      </p:sp>
      <p:sp>
        <p:nvSpPr>
          <p:cNvPr id="3" name="title-rule-6">
            <a:extLst>
              <a:ext uri="{FF2B5EF4-FFF2-40B4-BE49-F238E27FC236}">
                <a16:creationId xmlns:a16="http://schemas.microsoft.com/office/drawing/2014/main" id="{1A6E6817-FB65-4536-BF14-BF498392CB6C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case-n-0">
            <a:extLst>
              <a:ext uri="{FF2B5EF4-FFF2-40B4-BE49-F238E27FC236}">
                <a16:creationId xmlns:a16="http://schemas.microsoft.com/office/drawing/2014/main" id="{E48A7220-FADC-4CF7-AE19-1F1F34CB67D6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case-title-0">
            <a:extLst>
              <a:ext uri="{FF2B5EF4-FFF2-40B4-BE49-F238E27FC236}">
                <a16:creationId xmlns:a16="http://schemas.microsoft.com/office/drawing/2014/main" id="{0246F083-3E6C-432A-A7B6-E63086E21262}"/>
              </a:ext>
            </a:extLst>
          </p:cNvPr>
          <p:cNvSpPr>
            <a:spLocks noGrp="1"/>
          </p:cNvSpPr>
          <p:nvPr/>
        </p:nvSpPr>
        <p:spPr>
          <a:xfrm>
            <a:off x="1200150" y="2476500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Proveedor</a:t>
            </a:r>
          </a:p>
        </p:txBody>
      </p:sp>
      <p:sp>
        <p:nvSpPr>
          <p:cNvPr id="6" name="case-body-0">
            <a:extLst>
              <a:ext uri="{FF2B5EF4-FFF2-40B4-BE49-F238E27FC236}">
                <a16:creationId xmlns:a16="http://schemas.microsoft.com/office/drawing/2014/main" id="{1FE128F6-B751-408F-9894-80A4A646B143}"/>
              </a:ext>
            </a:extLst>
          </p:cNvPr>
          <p:cNvSpPr>
            <a:spLocks noGrp="1"/>
          </p:cNvSpPr>
          <p:nvPr/>
        </p:nvSpPr>
        <p:spPr>
          <a:xfrm>
            <a:off x="1200150" y="2895600"/>
            <a:ext cx="447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Identidad, condiciones y maestro vigente.</a:t>
            </a:r>
          </a:p>
        </p:txBody>
      </p:sp>
      <p:sp>
        <p:nvSpPr>
          <p:cNvPr id="7" name="case-rule-0">
            <a:extLst>
              <a:ext uri="{FF2B5EF4-FFF2-40B4-BE49-F238E27FC236}">
                <a16:creationId xmlns:a16="http://schemas.microsoft.com/office/drawing/2014/main" id="{2781B842-5D77-48A3-907C-3F2A6367BCF0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49530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case-n-1">
            <a:extLst>
              <a:ext uri="{FF2B5EF4-FFF2-40B4-BE49-F238E27FC236}">
                <a16:creationId xmlns:a16="http://schemas.microsoft.com/office/drawing/2014/main" id="{017C45F4-286E-4F0A-A0CA-F710BB30C717}"/>
              </a:ext>
            </a:extLst>
          </p:cNvPr>
          <p:cNvSpPr>
            <a:spLocks noGrp="1"/>
          </p:cNvSpPr>
          <p:nvPr/>
        </p:nvSpPr>
        <p:spPr>
          <a:xfrm>
            <a:off x="609600" y="35814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ase-title-1">
            <a:extLst>
              <a:ext uri="{FF2B5EF4-FFF2-40B4-BE49-F238E27FC236}">
                <a16:creationId xmlns:a16="http://schemas.microsoft.com/office/drawing/2014/main" id="{02D0F877-AB5A-4E26-B4E7-79C413F1C877}"/>
              </a:ext>
            </a:extLst>
          </p:cNvPr>
          <p:cNvSpPr>
            <a:spLocks noGrp="1"/>
          </p:cNvSpPr>
          <p:nvPr/>
        </p:nvSpPr>
        <p:spPr>
          <a:xfrm>
            <a:off x="1200150" y="3581400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Factura</a:t>
            </a:r>
          </a:p>
        </p:txBody>
      </p:sp>
      <p:sp>
        <p:nvSpPr>
          <p:cNvPr id="10" name="case-body-1">
            <a:extLst>
              <a:ext uri="{FF2B5EF4-FFF2-40B4-BE49-F238E27FC236}">
                <a16:creationId xmlns:a16="http://schemas.microsoft.com/office/drawing/2014/main" id="{4F72B81E-3B38-4F26-998A-4E3083DDB591}"/>
              </a:ext>
            </a:extLst>
          </p:cNvPr>
          <p:cNvSpPr>
            <a:spLocks noGrp="1"/>
          </p:cNvSpPr>
          <p:nvPr/>
        </p:nvSpPr>
        <p:spPr>
          <a:xfrm>
            <a:off x="1200150" y="4000500"/>
            <a:ext cx="447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Documento, campos, evidencia y estado.</a:t>
            </a:r>
          </a:p>
        </p:txBody>
      </p:sp>
      <p:sp>
        <p:nvSpPr>
          <p:cNvPr id="11" name="case-rule-1">
            <a:extLst>
              <a:ext uri="{FF2B5EF4-FFF2-40B4-BE49-F238E27FC236}">
                <a16:creationId xmlns:a16="http://schemas.microsoft.com/office/drawing/2014/main" id="{F6D888F3-2D29-452B-AFA1-9CE8B57CCB97}"/>
              </a:ext>
            </a:extLst>
          </p:cNvPr>
          <p:cNvSpPr>
            <a:spLocks noGrp="1"/>
          </p:cNvSpPr>
          <p:nvPr/>
        </p:nvSpPr>
        <p:spPr>
          <a:xfrm>
            <a:off x="609600" y="4514850"/>
            <a:ext cx="49530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case-n-2">
            <a:extLst>
              <a:ext uri="{FF2B5EF4-FFF2-40B4-BE49-F238E27FC236}">
                <a16:creationId xmlns:a16="http://schemas.microsoft.com/office/drawing/2014/main" id="{EF21F923-0FDB-4437-B0CF-4645BCE9B883}"/>
              </a:ext>
            </a:extLst>
          </p:cNvPr>
          <p:cNvSpPr>
            <a:spLocks noGrp="1"/>
          </p:cNvSpPr>
          <p:nvPr/>
        </p:nvSpPr>
        <p:spPr>
          <a:xfrm>
            <a:off x="609600" y="46863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case-title-2">
            <a:extLst>
              <a:ext uri="{FF2B5EF4-FFF2-40B4-BE49-F238E27FC236}">
                <a16:creationId xmlns:a16="http://schemas.microsoft.com/office/drawing/2014/main" id="{CDC8E5DF-A53D-4227-A965-FEBBF2374DA3}"/>
              </a:ext>
            </a:extLst>
          </p:cNvPr>
          <p:cNvSpPr>
            <a:spLocks noGrp="1"/>
          </p:cNvSpPr>
          <p:nvPr/>
        </p:nvSpPr>
        <p:spPr>
          <a:xfrm>
            <a:off x="1200150" y="4686300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PO o contrato</a:t>
            </a:r>
          </a:p>
        </p:txBody>
      </p:sp>
      <p:sp>
        <p:nvSpPr>
          <p:cNvPr id="14" name="case-body-2">
            <a:extLst>
              <a:ext uri="{FF2B5EF4-FFF2-40B4-BE49-F238E27FC236}">
                <a16:creationId xmlns:a16="http://schemas.microsoft.com/office/drawing/2014/main" id="{A22E486A-81C6-4D14-8A46-14B809099A39}"/>
              </a:ext>
            </a:extLst>
          </p:cNvPr>
          <p:cNvSpPr>
            <a:spLocks noGrp="1"/>
          </p:cNvSpPr>
          <p:nvPr/>
        </p:nvSpPr>
        <p:spPr>
          <a:xfrm>
            <a:off x="1200150" y="5105400"/>
            <a:ext cx="447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Compromiso, saldo y autorización.</a:t>
            </a:r>
          </a:p>
        </p:txBody>
      </p:sp>
      <p:sp>
        <p:nvSpPr>
          <p:cNvPr id="15" name="case-n-3">
            <a:extLst>
              <a:ext uri="{FF2B5EF4-FFF2-40B4-BE49-F238E27FC236}">
                <a16:creationId xmlns:a16="http://schemas.microsoft.com/office/drawing/2014/main" id="{0DB16C3E-83CA-40BE-9B81-69363179ABDB}"/>
              </a:ext>
            </a:extLst>
          </p:cNvPr>
          <p:cNvSpPr>
            <a:spLocks noGrp="1"/>
          </p:cNvSpPr>
          <p:nvPr/>
        </p:nvSpPr>
        <p:spPr>
          <a:xfrm>
            <a:off x="6286500" y="24765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6" name="case-title-3">
            <a:extLst>
              <a:ext uri="{FF2B5EF4-FFF2-40B4-BE49-F238E27FC236}">
                <a16:creationId xmlns:a16="http://schemas.microsoft.com/office/drawing/2014/main" id="{D17EDBCE-2932-42CC-8AD5-138A371D10F3}"/>
              </a:ext>
            </a:extLst>
          </p:cNvPr>
          <p:cNvSpPr>
            <a:spLocks noGrp="1"/>
          </p:cNvSpPr>
          <p:nvPr/>
        </p:nvSpPr>
        <p:spPr>
          <a:xfrm>
            <a:off x="6877050" y="2476500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Excepción</a:t>
            </a:r>
          </a:p>
        </p:txBody>
      </p:sp>
      <p:sp>
        <p:nvSpPr>
          <p:cNvPr id="17" name="case-body-3">
            <a:extLst>
              <a:ext uri="{FF2B5EF4-FFF2-40B4-BE49-F238E27FC236}">
                <a16:creationId xmlns:a16="http://schemas.microsoft.com/office/drawing/2014/main" id="{498AFE51-AD49-4B5B-BBA8-28E1E34C8104}"/>
              </a:ext>
            </a:extLst>
          </p:cNvPr>
          <p:cNvSpPr>
            <a:spLocks noGrp="1"/>
          </p:cNvSpPr>
          <p:nvPr/>
        </p:nvSpPr>
        <p:spPr>
          <a:xfrm>
            <a:off x="6877050" y="2895600"/>
            <a:ext cx="447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Motivo, responsable, decisión y timestamp.</a:t>
            </a:r>
          </a:p>
        </p:txBody>
      </p:sp>
      <p:sp>
        <p:nvSpPr>
          <p:cNvPr id="18" name="case-rule-3">
            <a:extLst>
              <a:ext uri="{FF2B5EF4-FFF2-40B4-BE49-F238E27FC236}">
                <a16:creationId xmlns:a16="http://schemas.microsoft.com/office/drawing/2014/main" id="{2F1304CA-13A2-4845-B0B6-A413BC254CF2}"/>
              </a:ext>
            </a:extLst>
          </p:cNvPr>
          <p:cNvSpPr>
            <a:spLocks noGrp="1"/>
          </p:cNvSpPr>
          <p:nvPr/>
        </p:nvSpPr>
        <p:spPr>
          <a:xfrm>
            <a:off x="6286500" y="3409950"/>
            <a:ext cx="49530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case-n-4">
            <a:extLst>
              <a:ext uri="{FF2B5EF4-FFF2-40B4-BE49-F238E27FC236}">
                <a16:creationId xmlns:a16="http://schemas.microsoft.com/office/drawing/2014/main" id="{CC661A55-EC23-4D46-ACC4-28DDDE29916A}"/>
              </a:ext>
            </a:extLst>
          </p:cNvPr>
          <p:cNvSpPr>
            <a:spLocks noGrp="1"/>
          </p:cNvSpPr>
          <p:nvPr/>
        </p:nvSpPr>
        <p:spPr>
          <a:xfrm>
            <a:off x="6286500" y="35814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0" name="case-title-4">
            <a:extLst>
              <a:ext uri="{FF2B5EF4-FFF2-40B4-BE49-F238E27FC236}">
                <a16:creationId xmlns:a16="http://schemas.microsoft.com/office/drawing/2014/main" id="{89ED4E1E-DA7D-415E-9D11-D29D96CC5EB3}"/>
              </a:ext>
            </a:extLst>
          </p:cNvPr>
          <p:cNvSpPr>
            <a:spLocks noGrp="1"/>
          </p:cNvSpPr>
          <p:nvPr/>
        </p:nvSpPr>
        <p:spPr>
          <a:xfrm>
            <a:off x="6877050" y="3581400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Obligación de pago</a:t>
            </a:r>
          </a:p>
        </p:txBody>
      </p:sp>
      <p:sp>
        <p:nvSpPr>
          <p:cNvPr id="21" name="case-body-4">
            <a:extLst>
              <a:ext uri="{FF2B5EF4-FFF2-40B4-BE49-F238E27FC236}">
                <a16:creationId xmlns:a16="http://schemas.microsoft.com/office/drawing/2014/main" id="{D26C37DE-526B-4A43-AD1D-A214E16715A1}"/>
              </a:ext>
            </a:extLst>
          </p:cNvPr>
          <p:cNvSpPr>
            <a:spLocks noGrp="1"/>
          </p:cNvSpPr>
          <p:nvPr/>
        </p:nvSpPr>
        <p:spPr>
          <a:xfrm>
            <a:off x="6877050" y="4000500"/>
            <a:ext cx="447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Importe, vencimiento, aprobación y condición.</a:t>
            </a:r>
          </a:p>
        </p:txBody>
      </p:sp>
      <p:sp>
        <p:nvSpPr>
          <p:cNvPr id="22" name="case-rule-4">
            <a:extLst>
              <a:ext uri="{FF2B5EF4-FFF2-40B4-BE49-F238E27FC236}">
                <a16:creationId xmlns:a16="http://schemas.microsoft.com/office/drawing/2014/main" id="{9C7EC94C-FC26-4450-A811-9EB002238DEF}"/>
              </a:ext>
            </a:extLst>
          </p:cNvPr>
          <p:cNvSpPr>
            <a:spLocks noGrp="1"/>
          </p:cNvSpPr>
          <p:nvPr/>
        </p:nvSpPr>
        <p:spPr>
          <a:xfrm>
            <a:off x="6286500" y="4514850"/>
            <a:ext cx="49530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case-n-5">
            <a:extLst>
              <a:ext uri="{FF2B5EF4-FFF2-40B4-BE49-F238E27FC236}">
                <a16:creationId xmlns:a16="http://schemas.microsoft.com/office/drawing/2014/main" id="{0A928686-3BD9-4F74-9E3B-2903D4041729}"/>
              </a:ext>
            </a:extLst>
          </p:cNvPr>
          <p:cNvSpPr>
            <a:spLocks noGrp="1"/>
          </p:cNvSpPr>
          <p:nvPr/>
        </p:nvSpPr>
        <p:spPr>
          <a:xfrm>
            <a:off x="6286500" y="46863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4" name="case-title-5">
            <a:extLst>
              <a:ext uri="{FF2B5EF4-FFF2-40B4-BE49-F238E27FC236}">
                <a16:creationId xmlns:a16="http://schemas.microsoft.com/office/drawing/2014/main" id="{F4A6B686-2832-48F8-8805-C3F8AEE39E94}"/>
              </a:ext>
            </a:extLst>
          </p:cNvPr>
          <p:cNvSpPr>
            <a:spLocks noGrp="1"/>
          </p:cNvSpPr>
          <p:nvPr/>
        </p:nvSpPr>
        <p:spPr>
          <a:xfrm>
            <a:off x="6877050" y="4686300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Audit trail</a:t>
            </a:r>
          </a:p>
        </p:txBody>
      </p:sp>
      <p:sp>
        <p:nvSpPr>
          <p:cNvPr id="25" name="case-body-5">
            <a:extLst>
              <a:ext uri="{FF2B5EF4-FFF2-40B4-BE49-F238E27FC236}">
                <a16:creationId xmlns:a16="http://schemas.microsoft.com/office/drawing/2014/main" id="{2D37135B-A474-46C6-B583-CFF05E8DE399}"/>
              </a:ext>
            </a:extLst>
          </p:cNvPr>
          <p:cNvSpPr>
            <a:spLocks noGrp="1"/>
          </p:cNvSpPr>
          <p:nvPr/>
        </p:nvSpPr>
        <p:spPr>
          <a:xfrm>
            <a:off x="6877050" y="5105400"/>
            <a:ext cx="447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Controles, cambios y sign-offs encadenados.</a:t>
            </a:r>
          </a:p>
        </p:txBody>
      </p:sp>
      <p:sp>
        <p:nvSpPr>
          <p:cNvPr id="26" name="cases-close">
            <a:extLst>
              <a:ext uri="{FF2B5EF4-FFF2-40B4-BE49-F238E27FC236}">
                <a16:creationId xmlns:a16="http://schemas.microsoft.com/office/drawing/2014/main" id="{A9CF19C9-67EE-4A0D-ADA5-CDD6ACD33C08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El mismo estado se reutiliza en AR, cash, cierre, reporting y Board Pack.</a:t>
            </a:r>
          </a:p>
        </p:txBody>
      </p:sp>
      <p:sp>
        <p:nvSpPr>
          <p:cNvPr id="27" name="footer-note-6">
            <a:extLst>
              <a:ext uri="{FF2B5EF4-FFF2-40B4-BE49-F238E27FC236}">
                <a16:creationId xmlns:a16="http://schemas.microsoft.com/office/drawing/2014/main" id="{401D5FD4-566A-40DC-870D-5C7CE4BD26BE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933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0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AP Control Tower · product pitch → CFO Office</a:t>
            </a:r>
          </a:p>
        </p:txBody>
      </p:sp>
      <p:sp>
        <p:nvSpPr>
          <p:cNvPr id="28" name="footer-page-6">
            <a:extLst>
              <a:ext uri="{FF2B5EF4-FFF2-40B4-BE49-F238E27FC236}">
                <a16:creationId xmlns:a16="http://schemas.microsoft.com/office/drawing/2014/main" id="{AFCDA68A-E290-4D0F-BD72-148CE019A724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050" b="1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00620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eyebrow-4">
            <a:extLst>
              <a:ext uri="{FF2B5EF4-FFF2-40B4-BE49-F238E27FC236}">
                <a16:creationId xmlns:a16="http://schemas.microsoft.com/office/drawing/2014/main" id="{05D19340-E0BD-45CA-A209-1B265368356D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VISIÓN CFO OFFICE · ROADMAP MODULAR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D5E6CB7C-B5BC-481F-A43E-AF4906A2AE57}"/>
              </a:ext>
            </a:extLst>
          </p:cNvPr>
          <p:cNvSpPr>
            <a:spLocks noGrp="1"/>
          </p:cNvSpPr>
          <p:nvPr/>
        </p:nvSpPr>
        <p:spPr>
          <a:xfrm>
            <a:off x="609600" y="714375"/>
            <a:ext cx="109728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863"/>
          </a:bodyPr>
          <a:lstStyle/>
          <a:p>
            <a:pPr algn="l">
              <a:buNone/>
              <a:defRPr sz="36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Cada módulo suma valor sin reconstruir la base financiera.</a:t>
            </a:r>
          </a:p>
        </p:txBody>
      </p:sp>
      <p:sp>
        <p:nvSpPr>
          <p:cNvPr id="3" name="title-rule-4">
            <a:extLst>
              <a:ext uri="{FF2B5EF4-FFF2-40B4-BE49-F238E27FC236}">
                <a16:creationId xmlns:a16="http://schemas.microsoft.com/office/drawing/2014/main" id="{FF9237F5-17BD-4B2E-9723-674EA5669FA3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flow-top-connector-0">
            <a:extLst>
              <a:ext uri="{FF2B5EF4-FFF2-40B4-BE49-F238E27FC236}">
                <a16:creationId xmlns:a16="http://schemas.microsoft.com/office/drawing/2014/main" id="{82576B63-DE8C-4342-BC25-ACCDF48552BE}"/>
              </a:ext>
            </a:extLst>
          </p:cNvPr>
          <p:cNvSpPr>
            <a:spLocks noGrp="1"/>
          </p:cNvSpPr>
          <p:nvPr/>
        </p:nvSpPr>
        <p:spPr>
          <a:xfrm>
            <a:off x="3124200" y="3000375"/>
            <a:ext cx="304800" cy="19050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flow-top-connector-1">
            <a:extLst>
              <a:ext uri="{FF2B5EF4-FFF2-40B4-BE49-F238E27FC236}">
                <a16:creationId xmlns:a16="http://schemas.microsoft.com/office/drawing/2014/main" id="{7CFCB77F-3704-4F9E-9B59-C658E3A47B6A}"/>
              </a:ext>
            </a:extLst>
          </p:cNvPr>
          <p:cNvSpPr>
            <a:spLocks noGrp="1"/>
          </p:cNvSpPr>
          <p:nvPr/>
        </p:nvSpPr>
        <p:spPr>
          <a:xfrm>
            <a:off x="5943600" y="3000375"/>
            <a:ext cx="304800" cy="19050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flow-top-connector-2">
            <a:extLst>
              <a:ext uri="{FF2B5EF4-FFF2-40B4-BE49-F238E27FC236}">
                <a16:creationId xmlns:a16="http://schemas.microsoft.com/office/drawing/2014/main" id="{F5992587-795F-453F-AC8F-039C581F0B8C}"/>
              </a:ext>
            </a:extLst>
          </p:cNvPr>
          <p:cNvSpPr>
            <a:spLocks noGrp="1"/>
          </p:cNvSpPr>
          <p:nvPr/>
        </p:nvSpPr>
        <p:spPr>
          <a:xfrm>
            <a:off x="8763000" y="3000375"/>
            <a:ext cx="304800" cy="19050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flow-turn-down">
            <a:extLst>
              <a:ext uri="{FF2B5EF4-FFF2-40B4-BE49-F238E27FC236}">
                <a16:creationId xmlns:a16="http://schemas.microsoft.com/office/drawing/2014/main" id="{EEE43739-0EF3-45D9-B8AF-88D6EDC6ED0F}"/>
              </a:ext>
            </a:extLst>
          </p:cNvPr>
          <p:cNvSpPr>
            <a:spLocks noGrp="1"/>
          </p:cNvSpPr>
          <p:nvPr/>
        </p:nvSpPr>
        <p:spPr>
          <a:xfrm>
            <a:off x="10325100" y="3543300"/>
            <a:ext cx="19050" cy="0"/>
          </a:xfrm>
          <a:prstGeom prst="rect">
            <a:avLst/>
          </a:prstGeom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flow-bottom-connector-0">
            <a:extLst>
              <a:ext uri="{FF2B5EF4-FFF2-40B4-BE49-F238E27FC236}">
                <a16:creationId xmlns:a16="http://schemas.microsoft.com/office/drawing/2014/main" id="{2759393E-73B6-4642-AA49-2FBC184EEBA3}"/>
              </a:ext>
            </a:extLst>
          </p:cNvPr>
          <p:cNvSpPr>
            <a:spLocks noGrp="1"/>
          </p:cNvSpPr>
          <p:nvPr/>
        </p:nvSpPr>
        <p:spPr>
          <a:xfrm>
            <a:off x="3124200" y="4810125"/>
            <a:ext cx="304800" cy="19050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flow-bottom-connector-1">
            <a:extLst>
              <a:ext uri="{FF2B5EF4-FFF2-40B4-BE49-F238E27FC236}">
                <a16:creationId xmlns:a16="http://schemas.microsoft.com/office/drawing/2014/main" id="{F82877CF-D540-442E-994D-CA29F88E1F63}"/>
              </a:ext>
            </a:extLst>
          </p:cNvPr>
          <p:cNvSpPr>
            <a:spLocks noGrp="1"/>
          </p:cNvSpPr>
          <p:nvPr/>
        </p:nvSpPr>
        <p:spPr>
          <a:xfrm>
            <a:off x="5943600" y="4810125"/>
            <a:ext cx="304800" cy="19050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flow-bottom-connector-2">
            <a:extLst>
              <a:ext uri="{FF2B5EF4-FFF2-40B4-BE49-F238E27FC236}">
                <a16:creationId xmlns:a16="http://schemas.microsoft.com/office/drawing/2014/main" id="{499A7F0A-69F2-49D4-BEB1-A67F7D38EA81}"/>
              </a:ext>
            </a:extLst>
          </p:cNvPr>
          <p:cNvSpPr>
            <a:spLocks noGrp="1"/>
          </p:cNvSpPr>
          <p:nvPr/>
        </p:nvSpPr>
        <p:spPr>
          <a:xfrm>
            <a:off x="8763000" y="4810125"/>
            <a:ext cx="304800" cy="19050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op-0-box">
            <a:extLst>
              <a:ext uri="{FF2B5EF4-FFF2-40B4-BE49-F238E27FC236}">
                <a16:creationId xmlns:a16="http://schemas.microsoft.com/office/drawing/2014/main" id="{DA236283-AE94-4389-95DC-223A628457E9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25146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op-0-n">
            <a:extLst>
              <a:ext uri="{FF2B5EF4-FFF2-40B4-BE49-F238E27FC236}">
                <a16:creationId xmlns:a16="http://schemas.microsoft.com/office/drawing/2014/main" id="{752E1761-5CB4-4E8C-BF8B-9FFCF94F51F8}"/>
              </a:ext>
            </a:extLst>
          </p:cNvPr>
          <p:cNvSpPr>
            <a:spLocks noGrp="1"/>
          </p:cNvSpPr>
          <p:nvPr/>
        </p:nvSpPr>
        <p:spPr>
          <a:xfrm>
            <a:off x="762000" y="260985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65476"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01 · AHORA</a:t>
            </a:r>
          </a:p>
        </p:txBody>
      </p:sp>
      <p:sp>
        <p:nvSpPr>
          <p:cNvPr id="13" name="top-0-title">
            <a:extLst>
              <a:ext uri="{FF2B5EF4-FFF2-40B4-BE49-F238E27FC236}">
                <a16:creationId xmlns:a16="http://schemas.microsoft.com/office/drawing/2014/main" id="{CB696B1F-E60A-48F3-B761-C2D477BC6DD9}"/>
              </a:ext>
            </a:extLst>
          </p:cNvPr>
          <p:cNvSpPr>
            <a:spLocks noGrp="1"/>
          </p:cNvSpPr>
          <p:nvPr/>
        </p:nvSpPr>
        <p:spPr>
          <a:xfrm>
            <a:off x="762000" y="287655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AP Control Tower</a:t>
            </a:r>
          </a:p>
        </p:txBody>
      </p:sp>
      <p:sp>
        <p:nvSpPr>
          <p:cNvPr id="14" name="top-0-detail">
            <a:extLst>
              <a:ext uri="{FF2B5EF4-FFF2-40B4-BE49-F238E27FC236}">
                <a16:creationId xmlns:a16="http://schemas.microsoft.com/office/drawing/2014/main" id="{CC5F568C-E6A0-46C2-8763-181847ADC38F}"/>
              </a:ext>
            </a:extLst>
          </p:cNvPr>
          <p:cNvSpPr>
            <a:spLocks noGrp="1"/>
          </p:cNvSpPr>
          <p:nvPr/>
        </p:nvSpPr>
        <p:spPr>
          <a:xfrm>
            <a:off x="762000" y="3181350"/>
            <a:ext cx="2209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Invoice → obligación gobernada</a:t>
            </a:r>
          </a:p>
        </p:txBody>
      </p:sp>
      <p:sp>
        <p:nvSpPr>
          <p:cNvPr id="15" name="top-1-box">
            <a:extLst>
              <a:ext uri="{FF2B5EF4-FFF2-40B4-BE49-F238E27FC236}">
                <a16:creationId xmlns:a16="http://schemas.microsoft.com/office/drawing/2014/main" id="{756827FC-79AC-4A2A-813B-BB3A8C3575EF}"/>
              </a:ext>
            </a:extLst>
          </p:cNvPr>
          <p:cNvSpPr>
            <a:spLocks noGrp="1"/>
          </p:cNvSpPr>
          <p:nvPr/>
        </p:nvSpPr>
        <p:spPr>
          <a:xfrm>
            <a:off x="3429000" y="2476500"/>
            <a:ext cx="25146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op-1-n">
            <a:extLst>
              <a:ext uri="{FF2B5EF4-FFF2-40B4-BE49-F238E27FC236}">
                <a16:creationId xmlns:a16="http://schemas.microsoft.com/office/drawing/2014/main" id="{CD35CA53-7D1F-4160-8670-598C1E72E75B}"/>
              </a:ext>
            </a:extLst>
          </p:cNvPr>
          <p:cNvSpPr>
            <a:spLocks noGrp="1"/>
          </p:cNvSpPr>
          <p:nvPr/>
        </p:nvSpPr>
        <p:spPr>
          <a:xfrm>
            <a:off x="3581400" y="260985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top-1-title">
            <a:extLst>
              <a:ext uri="{FF2B5EF4-FFF2-40B4-BE49-F238E27FC236}">
                <a16:creationId xmlns:a16="http://schemas.microsoft.com/office/drawing/2014/main" id="{38CE0CBB-CF58-4CE0-A799-13D6099922D2}"/>
              </a:ext>
            </a:extLst>
          </p:cNvPr>
          <p:cNvSpPr>
            <a:spLocks noGrp="1"/>
          </p:cNvSpPr>
          <p:nvPr/>
        </p:nvSpPr>
        <p:spPr>
          <a:xfrm>
            <a:off x="3581400" y="287655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AR / O2C</a:t>
            </a:r>
          </a:p>
        </p:txBody>
      </p:sp>
      <p:sp>
        <p:nvSpPr>
          <p:cNvPr id="18" name="top-1-detail">
            <a:extLst>
              <a:ext uri="{FF2B5EF4-FFF2-40B4-BE49-F238E27FC236}">
                <a16:creationId xmlns:a16="http://schemas.microsoft.com/office/drawing/2014/main" id="{C8D7E7F4-60FF-4EA3-9E11-D76239B199CE}"/>
              </a:ext>
            </a:extLst>
          </p:cNvPr>
          <p:cNvSpPr>
            <a:spLocks noGrp="1"/>
          </p:cNvSpPr>
          <p:nvPr/>
        </p:nvSpPr>
        <p:spPr>
          <a:xfrm>
            <a:off x="3581400" y="3181350"/>
            <a:ext cx="2209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Billing → cobro → cash app</a:t>
            </a:r>
          </a:p>
        </p:txBody>
      </p:sp>
      <p:sp>
        <p:nvSpPr>
          <p:cNvPr id="19" name="top-2-box">
            <a:extLst>
              <a:ext uri="{FF2B5EF4-FFF2-40B4-BE49-F238E27FC236}">
                <a16:creationId xmlns:a16="http://schemas.microsoft.com/office/drawing/2014/main" id="{7614A8C0-BCEC-4438-BE53-88AB23AAB704}"/>
              </a:ext>
            </a:extLst>
          </p:cNvPr>
          <p:cNvSpPr>
            <a:spLocks noGrp="1"/>
          </p:cNvSpPr>
          <p:nvPr/>
        </p:nvSpPr>
        <p:spPr>
          <a:xfrm>
            <a:off x="6248400" y="2476500"/>
            <a:ext cx="25146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op-2-n">
            <a:extLst>
              <a:ext uri="{FF2B5EF4-FFF2-40B4-BE49-F238E27FC236}">
                <a16:creationId xmlns:a16="http://schemas.microsoft.com/office/drawing/2014/main" id="{37F25719-7BE4-46C0-8201-3337A79B1CD6}"/>
              </a:ext>
            </a:extLst>
          </p:cNvPr>
          <p:cNvSpPr>
            <a:spLocks noGrp="1"/>
          </p:cNvSpPr>
          <p:nvPr/>
        </p:nvSpPr>
        <p:spPr>
          <a:xfrm>
            <a:off x="6400800" y="260985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" name="top-2-title">
            <a:extLst>
              <a:ext uri="{FF2B5EF4-FFF2-40B4-BE49-F238E27FC236}">
                <a16:creationId xmlns:a16="http://schemas.microsoft.com/office/drawing/2014/main" id="{C42B4A5E-64DA-40D9-B231-CE220C50A8D4}"/>
              </a:ext>
            </a:extLst>
          </p:cNvPr>
          <p:cNvSpPr>
            <a:spLocks noGrp="1"/>
          </p:cNvSpPr>
          <p:nvPr/>
        </p:nvSpPr>
        <p:spPr>
          <a:xfrm>
            <a:off x="6400800" y="287655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Cash &amp; Treasury</a:t>
            </a:r>
          </a:p>
        </p:txBody>
      </p:sp>
      <p:sp>
        <p:nvSpPr>
          <p:cNvPr id="22" name="top-2-detail">
            <a:extLst>
              <a:ext uri="{FF2B5EF4-FFF2-40B4-BE49-F238E27FC236}">
                <a16:creationId xmlns:a16="http://schemas.microsoft.com/office/drawing/2014/main" id="{0D8A14F0-213A-48C1-9B26-F804D5907856}"/>
              </a:ext>
            </a:extLst>
          </p:cNvPr>
          <p:cNvSpPr>
            <a:spLocks noGrp="1"/>
          </p:cNvSpPr>
          <p:nvPr/>
        </p:nvSpPr>
        <p:spPr>
          <a:xfrm>
            <a:off x="6400800" y="3181350"/>
            <a:ext cx="2209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Posición + forecast + propuestas</a:t>
            </a:r>
          </a:p>
        </p:txBody>
      </p:sp>
      <p:sp>
        <p:nvSpPr>
          <p:cNvPr id="23" name="top-3-box">
            <a:extLst>
              <a:ext uri="{FF2B5EF4-FFF2-40B4-BE49-F238E27FC236}">
                <a16:creationId xmlns:a16="http://schemas.microsoft.com/office/drawing/2014/main" id="{830518E0-0977-4F89-9F50-E7BF3BD4E2A8}"/>
              </a:ext>
            </a:extLst>
          </p:cNvPr>
          <p:cNvSpPr>
            <a:spLocks noGrp="1"/>
          </p:cNvSpPr>
          <p:nvPr/>
        </p:nvSpPr>
        <p:spPr>
          <a:xfrm>
            <a:off x="9067800" y="2476500"/>
            <a:ext cx="25146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op-3-n">
            <a:extLst>
              <a:ext uri="{FF2B5EF4-FFF2-40B4-BE49-F238E27FC236}">
                <a16:creationId xmlns:a16="http://schemas.microsoft.com/office/drawing/2014/main" id="{398AB920-100F-4C17-B48B-61116DC6E8B0}"/>
              </a:ext>
            </a:extLst>
          </p:cNvPr>
          <p:cNvSpPr>
            <a:spLocks noGrp="1"/>
          </p:cNvSpPr>
          <p:nvPr/>
        </p:nvSpPr>
        <p:spPr>
          <a:xfrm>
            <a:off x="9220200" y="260985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5" name="top-3-title">
            <a:extLst>
              <a:ext uri="{FF2B5EF4-FFF2-40B4-BE49-F238E27FC236}">
                <a16:creationId xmlns:a16="http://schemas.microsoft.com/office/drawing/2014/main" id="{302DC78B-53B1-43C0-8F7C-14792CD5F73D}"/>
              </a:ext>
            </a:extLst>
          </p:cNvPr>
          <p:cNvSpPr>
            <a:spLocks noGrp="1"/>
          </p:cNvSpPr>
          <p:nvPr/>
        </p:nvSpPr>
        <p:spPr>
          <a:xfrm>
            <a:off x="9220200" y="287655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Month-End Close</a:t>
            </a:r>
          </a:p>
        </p:txBody>
      </p:sp>
      <p:sp>
        <p:nvSpPr>
          <p:cNvPr id="26" name="top-3-detail">
            <a:extLst>
              <a:ext uri="{FF2B5EF4-FFF2-40B4-BE49-F238E27FC236}">
                <a16:creationId xmlns:a16="http://schemas.microsoft.com/office/drawing/2014/main" id="{55C6B52C-BFD7-4610-B156-26E94EE30D4F}"/>
              </a:ext>
            </a:extLst>
          </p:cNvPr>
          <p:cNvSpPr>
            <a:spLocks noGrp="1"/>
          </p:cNvSpPr>
          <p:nvPr/>
        </p:nvSpPr>
        <p:spPr>
          <a:xfrm>
            <a:off x="9220200" y="3181350"/>
            <a:ext cx="2209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Record → close → reconcile</a:t>
            </a:r>
          </a:p>
        </p:txBody>
      </p:sp>
      <p:sp>
        <p:nvSpPr>
          <p:cNvPr id="27" name="bottom-0-box">
            <a:extLst>
              <a:ext uri="{FF2B5EF4-FFF2-40B4-BE49-F238E27FC236}">
                <a16:creationId xmlns:a16="http://schemas.microsoft.com/office/drawing/2014/main" id="{42BD8547-70B5-4201-8522-2A9104D53F57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25146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bottom-0-n">
            <a:extLst>
              <a:ext uri="{FF2B5EF4-FFF2-40B4-BE49-F238E27FC236}">
                <a16:creationId xmlns:a16="http://schemas.microsoft.com/office/drawing/2014/main" id="{2C8E0CF7-FF31-4B20-B2EE-36B0EA5069AC}"/>
              </a:ext>
            </a:extLst>
          </p:cNvPr>
          <p:cNvSpPr>
            <a:spLocks noGrp="1"/>
          </p:cNvSpPr>
          <p:nvPr/>
        </p:nvSpPr>
        <p:spPr>
          <a:xfrm>
            <a:off x="762000" y="441960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65476"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08 · VISIÓN</a:t>
            </a:r>
          </a:p>
        </p:txBody>
      </p:sp>
      <p:sp>
        <p:nvSpPr>
          <p:cNvPr id="29" name="bottom-0-title">
            <a:extLst>
              <a:ext uri="{FF2B5EF4-FFF2-40B4-BE49-F238E27FC236}">
                <a16:creationId xmlns:a16="http://schemas.microsoft.com/office/drawing/2014/main" id="{ECF3C0C4-8B22-4E7A-A0E6-FCC0F930B8CE}"/>
              </a:ext>
            </a:extLst>
          </p:cNvPr>
          <p:cNvSpPr>
            <a:spLocks noGrp="1"/>
          </p:cNvSpPr>
          <p:nvPr/>
        </p:nvSpPr>
        <p:spPr>
          <a:xfrm>
            <a:off x="762000" y="468630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Governed Finance</a:t>
            </a:r>
          </a:p>
        </p:txBody>
      </p:sp>
      <p:sp>
        <p:nvSpPr>
          <p:cNvPr id="30" name="bottom-0-detail">
            <a:extLst>
              <a:ext uri="{FF2B5EF4-FFF2-40B4-BE49-F238E27FC236}">
                <a16:creationId xmlns:a16="http://schemas.microsoft.com/office/drawing/2014/main" id="{D0F8E7C0-DA84-47AD-94DC-6435D47A190A}"/>
              </a:ext>
            </a:extLst>
          </p:cNvPr>
          <p:cNvSpPr>
            <a:spLocks noGrp="1"/>
          </p:cNvSpPr>
          <p:nvPr/>
        </p:nvSpPr>
        <p:spPr>
          <a:xfrm>
            <a:off x="762000" y="4991100"/>
            <a:ext cx="2209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Shared state + audit trail</a:t>
            </a:r>
          </a:p>
        </p:txBody>
      </p:sp>
      <p:sp>
        <p:nvSpPr>
          <p:cNvPr id="31" name="bottom-1-box">
            <a:extLst>
              <a:ext uri="{FF2B5EF4-FFF2-40B4-BE49-F238E27FC236}">
                <a16:creationId xmlns:a16="http://schemas.microsoft.com/office/drawing/2014/main" id="{569A2307-09B2-45D3-BEEC-A26B059EFC01}"/>
              </a:ext>
            </a:extLst>
          </p:cNvPr>
          <p:cNvSpPr>
            <a:spLocks noGrp="1"/>
          </p:cNvSpPr>
          <p:nvPr/>
        </p:nvSpPr>
        <p:spPr>
          <a:xfrm>
            <a:off x="3429000" y="4286250"/>
            <a:ext cx="2514600" cy="1066800"/>
          </a:xfrm>
          <a:prstGeom prst="roundRect">
            <a:avLst>
              <a:gd name="adj" fmla="val 7143"/>
            </a:avLst>
          </a:prstGeom>
          <a:solidFill>
            <a:srgbClr val="E3F1EC"/>
          </a:solidFill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2" name="bottom-1-n">
            <a:extLst>
              <a:ext uri="{FF2B5EF4-FFF2-40B4-BE49-F238E27FC236}">
                <a16:creationId xmlns:a16="http://schemas.microsoft.com/office/drawing/2014/main" id="{B9C7B27D-0524-4B88-99A3-A56B83D1296C}"/>
              </a:ext>
            </a:extLst>
          </p:cNvPr>
          <p:cNvSpPr>
            <a:spLocks noGrp="1"/>
          </p:cNvSpPr>
          <p:nvPr/>
        </p:nvSpPr>
        <p:spPr>
          <a:xfrm>
            <a:off x="3581400" y="441960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3" name="bottom-1-title">
            <a:extLst>
              <a:ext uri="{FF2B5EF4-FFF2-40B4-BE49-F238E27FC236}">
                <a16:creationId xmlns:a16="http://schemas.microsoft.com/office/drawing/2014/main" id="{8385F921-DAFA-4E96-8568-D896E38BE7CC}"/>
              </a:ext>
            </a:extLst>
          </p:cNvPr>
          <p:cNvSpPr>
            <a:spLocks noGrp="1"/>
          </p:cNvSpPr>
          <p:nvPr/>
        </p:nvSpPr>
        <p:spPr>
          <a:xfrm>
            <a:off x="3581400" y="468630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CFO Orchestrator</a:t>
            </a:r>
          </a:p>
        </p:txBody>
      </p:sp>
      <p:sp>
        <p:nvSpPr>
          <p:cNvPr id="34" name="bottom-1-detail">
            <a:extLst>
              <a:ext uri="{FF2B5EF4-FFF2-40B4-BE49-F238E27FC236}">
                <a16:creationId xmlns:a16="http://schemas.microsoft.com/office/drawing/2014/main" id="{F1D1C6B5-18AF-4422-96FA-40BA7177952E}"/>
              </a:ext>
            </a:extLst>
          </p:cNvPr>
          <p:cNvSpPr>
            <a:spLocks noGrp="1"/>
          </p:cNvSpPr>
          <p:nvPr/>
        </p:nvSpPr>
        <p:spPr>
          <a:xfrm>
            <a:off x="3581400" y="4991100"/>
            <a:ext cx="2209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Analiza · controla · coordina</a:t>
            </a:r>
          </a:p>
        </p:txBody>
      </p:sp>
      <p:sp>
        <p:nvSpPr>
          <p:cNvPr id="35" name="bottom-2-box">
            <a:extLst>
              <a:ext uri="{FF2B5EF4-FFF2-40B4-BE49-F238E27FC236}">
                <a16:creationId xmlns:a16="http://schemas.microsoft.com/office/drawing/2014/main" id="{6953269A-DEAA-4BB5-B88D-A6A756CD7250}"/>
              </a:ext>
            </a:extLst>
          </p:cNvPr>
          <p:cNvSpPr>
            <a:spLocks noGrp="1"/>
          </p:cNvSpPr>
          <p:nvPr/>
        </p:nvSpPr>
        <p:spPr>
          <a:xfrm>
            <a:off x="6248400" y="4286250"/>
            <a:ext cx="25146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6" name="bottom-2-n">
            <a:extLst>
              <a:ext uri="{FF2B5EF4-FFF2-40B4-BE49-F238E27FC236}">
                <a16:creationId xmlns:a16="http://schemas.microsoft.com/office/drawing/2014/main" id="{4D209D89-D26B-4DDD-BD22-7BE258E02BE2}"/>
              </a:ext>
            </a:extLst>
          </p:cNvPr>
          <p:cNvSpPr>
            <a:spLocks noGrp="1"/>
          </p:cNvSpPr>
          <p:nvPr/>
        </p:nvSpPr>
        <p:spPr>
          <a:xfrm>
            <a:off x="6400800" y="441960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7" name="bottom-2-title">
            <a:extLst>
              <a:ext uri="{FF2B5EF4-FFF2-40B4-BE49-F238E27FC236}">
                <a16:creationId xmlns:a16="http://schemas.microsoft.com/office/drawing/2014/main" id="{82430FC0-E3AE-462D-8E83-B865DDAD8CED}"/>
              </a:ext>
            </a:extLst>
          </p:cNvPr>
          <p:cNvSpPr>
            <a:spLocks noGrp="1"/>
          </p:cNvSpPr>
          <p:nvPr/>
        </p:nvSpPr>
        <p:spPr>
          <a:xfrm>
            <a:off x="6400800" y="468630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Board Pack</a:t>
            </a:r>
          </a:p>
        </p:txBody>
      </p:sp>
      <p:sp>
        <p:nvSpPr>
          <p:cNvPr id="38" name="bottom-2-detail">
            <a:extLst>
              <a:ext uri="{FF2B5EF4-FFF2-40B4-BE49-F238E27FC236}">
                <a16:creationId xmlns:a16="http://schemas.microsoft.com/office/drawing/2014/main" id="{59F56F20-E8DA-4F74-9798-9B0A38602504}"/>
              </a:ext>
            </a:extLst>
          </p:cNvPr>
          <p:cNvSpPr>
            <a:spLocks noGrp="1"/>
          </p:cNvSpPr>
          <p:nvPr/>
        </p:nvSpPr>
        <p:spPr>
          <a:xfrm>
            <a:off x="6400800" y="4991100"/>
            <a:ext cx="2209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Narrativa + evidencia gobernada</a:t>
            </a:r>
          </a:p>
        </p:txBody>
      </p:sp>
      <p:sp>
        <p:nvSpPr>
          <p:cNvPr id="39" name="bottom-3-box">
            <a:extLst>
              <a:ext uri="{FF2B5EF4-FFF2-40B4-BE49-F238E27FC236}">
                <a16:creationId xmlns:a16="http://schemas.microsoft.com/office/drawing/2014/main" id="{F0E10960-90A7-4938-932B-282FAC7DE4A1}"/>
              </a:ext>
            </a:extLst>
          </p:cNvPr>
          <p:cNvSpPr>
            <a:spLocks noGrp="1"/>
          </p:cNvSpPr>
          <p:nvPr/>
        </p:nvSpPr>
        <p:spPr>
          <a:xfrm>
            <a:off x="9067800" y="4286250"/>
            <a:ext cx="25146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0" name="bottom-3-n">
            <a:extLst>
              <a:ext uri="{FF2B5EF4-FFF2-40B4-BE49-F238E27FC236}">
                <a16:creationId xmlns:a16="http://schemas.microsoft.com/office/drawing/2014/main" id="{E5EED8A2-7597-4611-9FEC-30C8D863CD4A}"/>
              </a:ext>
            </a:extLst>
          </p:cNvPr>
          <p:cNvSpPr>
            <a:spLocks noGrp="1"/>
          </p:cNvSpPr>
          <p:nvPr/>
        </p:nvSpPr>
        <p:spPr>
          <a:xfrm>
            <a:off x="9220200" y="441960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1" name="bottom-3-title">
            <a:extLst>
              <a:ext uri="{FF2B5EF4-FFF2-40B4-BE49-F238E27FC236}">
                <a16:creationId xmlns:a16="http://schemas.microsoft.com/office/drawing/2014/main" id="{2D50F2D9-32DD-427A-B8E7-A1E0E667804B}"/>
              </a:ext>
            </a:extLst>
          </p:cNvPr>
          <p:cNvSpPr>
            <a:spLocks noGrp="1"/>
          </p:cNvSpPr>
          <p:nvPr/>
        </p:nvSpPr>
        <p:spPr>
          <a:xfrm>
            <a:off x="9220200" y="468630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Reporting</a:t>
            </a:r>
          </a:p>
        </p:txBody>
      </p:sp>
      <p:sp>
        <p:nvSpPr>
          <p:cNvPr id="42" name="bottom-3-detail">
            <a:extLst>
              <a:ext uri="{FF2B5EF4-FFF2-40B4-BE49-F238E27FC236}">
                <a16:creationId xmlns:a16="http://schemas.microsoft.com/office/drawing/2014/main" id="{B7B189F9-02C3-4F27-B983-321C9352FFD1}"/>
              </a:ext>
            </a:extLst>
          </p:cNvPr>
          <p:cNvSpPr>
            <a:spLocks noGrp="1"/>
          </p:cNvSpPr>
          <p:nvPr/>
        </p:nvSpPr>
        <p:spPr>
          <a:xfrm>
            <a:off x="9220200" y="4991100"/>
            <a:ext cx="2209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Estados + management view</a:t>
            </a:r>
          </a:p>
        </p:txBody>
      </p:sp>
      <p:sp>
        <p:nvSpPr>
          <p:cNvPr id="43" name="flow-top-arrow-0">
            <a:extLst>
              <a:ext uri="{FF2B5EF4-FFF2-40B4-BE49-F238E27FC236}">
                <a16:creationId xmlns:a16="http://schemas.microsoft.com/office/drawing/2014/main" id="{79E07E5D-6622-4BA6-A658-1C48323C13D5}"/>
              </a:ext>
            </a:extLst>
          </p:cNvPr>
          <p:cNvSpPr>
            <a:spLocks noGrp="1"/>
          </p:cNvSpPr>
          <p:nvPr/>
        </p:nvSpPr>
        <p:spPr>
          <a:xfrm>
            <a:off x="3181350" y="284797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7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44" name="flow-bottom-arrow-0">
            <a:extLst>
              <a:ext uri="{FF2B5EF4-FFF2-40B4-BE49-F238E27FC236}">
                <a16:creationId xmlns:a16="http://schemas.microsoft.com/office/drawing/2014/main" id="{6DC2DA16-AB9A-4C56-9F25-52E3D4116195}"/>
              </a:ext>
            </a:extLst>
          </p:cNvPr>
          <p:cNvSpPr>
            <a:spLocks noGrp="1"/>
          </p:cNvSpPr>
          <p:nvPr/>
        </p:nvSpPr>
        <p:spPr>
          <a:xfrm>
            <a:off x="3181350" y="46577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75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←</a:t>
            </a:r>
          </a:p>
        </p:txBody>
      </p:sp>
      <p:sp>
        <p:nvSpPr>
          <p:cNvPr id="45" name="flow-top-arrow-1">
            <a:extLst>
              <a:ext uri="{FF2B5EF4-FFF2-40B4-BE49-F238E27FC236}">
                <a16:creationId xmlns:a16="http://schemas.microsoft.com/office/drawing/2014/main" id="{579DC809-E88F-4A59-A071-197355422A8F}"/>
              </a:ext>
            </a:extLst>
          </p:cNvPr>
          <p:cNvSpPr>
            <a:spLocks noGrp="1"/>
          </p:cNvSpPr>
          <p:nvPr/>
        </p:nvSpPr>
        <p:spPr>
          <a:xfrm>
            <a:off x="6000750" y="284797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7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46" name="flow-bottom-arrow-1">
            <a:extLst>
              <a:ext uri="{FF2B5EF4-FFF2-40B4-BE49-F238E27FC236}">
                <a16:creationId xmlns:a16="http://schemas.microsoft.com/office/drawing/2014/main" id="{305169B9-6E4C-465A-A881-4336C602A621}"/>
              </a:ext>
            </a:extLst>
          </p:cNvPr>
          <p:cNvSpPr>
            <a:spLocks noGrp="1"/>
          </p:cNvSpPr>
          <p:nvPr/>
        </p:nvSpPr>
        <p:spPr>
          <a:xfrm>
            <a:off x="6000750" y="46577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75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←</a:t>
            </a:r>
          </a:p>
        </p:txBody>
      </p:sp>
      <p:sp>
        <p:nvSpPr>
          <p:cNvPr id="47" name="flow-top-arrow-2">
            <a:extLst>
              <a:ext uri="{FF2B5EF4-FFF2-40B4-BE49-F238E27FC236}">
                <a16:creationId xmlns:a16="http://schemas.microsoft.com/office/drawing/2014/main" id="{3920AC14-D669-42AC-A50C-91C68FEBF1CE}"/>
              </a:ext>
            </a:extLst>
          </p:cNvPr>
          <p:cNvSpPr>
            <a:spLocks noGrp="1"/>
          </p:cNvSpPr>
          <p:nvPr/>
        </p:nvSpPr>
        <p:spPr>
          <a:xfrm>
            <a:off x="8820150" y="284797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7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48" name="flow-bottom-arrow-2">
            <a:extLst>
              <a:ext uri="{FF2B5EF4-FFF2-40B4-BE49-F238E27FC236}">
                <a16:creationId xmlns:a16="http://schemas.microsoft.com/office/drawing/2014/main" id="{93AA67ED-CC56-4128-B817-FFAA50B6E101}"/>
              </a:ext>
            </a:extLst>
          </p:cNvPr>
          <p:cNvSpPr>
            <a:spLocks noGrp="1"/>
          </p:cNvSpPr>
          <p:nvPr/>
        </p:nvSpPr>
        <p:spPr>
          <a:xfrm>
            <a:off x="8820150" y="46577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75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←</a:t>
            </a:r>
          </a:p>
        </p:txBody>
      </p:sp>
      <p:sp>
        <p:nvSpPr>
          <p:cNvPr id="49" name="flow-down-arrow">
            <a:extLst>
              <a:ext uri="{FF2B5EF4-FFF2-40B4-BE49-F238E27FC236}">
                <a16:creationId xmlns:a16="http://schemas.microsoft.com/office/drawing/2014/main" id="{FC2640F6-8B29-48DF-AF20-E5CC73D3C45A}"/>
              </a:ext>
            </a:extLst>
          </p:cNvPr>
          <p:cNvSpPr>
            <a:spLocks noGrp="1"/>
          </p:cNvSpPr>
          <p:nvPr/>
        </p:nvSpPr>
        <p:spPr>
          <a:xfrm>
            <a:off x="10229850" y="3762375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0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50" name="flow-automation-label">
            <a:extLst>
              <a:ext uri="{FF2B5EF4-FFF2-40B4-BE49-F238E27FC236}">
                <a16:creationId xmlns:a16="http://schemas.microsoft.com/office/drawing/2014/main" id="{B36C4150-1500-4C16-9422-0C2D6491B4A2}"/>
              </a:ext>
            </a:extLst>
          </p:cNvPr>
          <p:cNvSpPr>
            <a:spLocks noGrp="1"/>
          </p:cNvSpPr>
          <p:nvPr/>
        </p:nvSpPr>
        <p:spPr>
          <a:xfrm>
            <a:off x="609600" y="218122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VALOR MODULAR Y DATOS COMPARTIDOS</a:t>
            </a:r>
          </a:p>
        </p:txBody>
      </p:sp>
      <p:sp>
        <p:nvSpPr>
          <p:cNvPr id="51" name="flow-governance-label">
            <a:extLst>
              <a:ext uri="{FF2B5EF4-FFF2-40B4-BE49-F238E27FC236}">
                <a16:creationId xmlns:a16="http://schemas.microsoft.com/office/drawing/2014/main" id="{B97B4131-B146-40FA-AFF0-C9855F6F8D29}"/>
              </a:ext>
            </a:extLst>
          </p:cNvPr>
          <p:cNvSpPr>
            <a:spLocks noGrp="1"/>
          </p:cNvSpPr>
          <p:nvPr/>
        </p:nvSpPr>
        <p:spPr>
          <a:xfrm>
            <a:off x="609600" y="39909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GOBIERNO END-TO-END</a:t>
            </a:r>
          </a:p>
        </p:txBody>
      </p:sp>
      <p:sp>
        <p:nvSpPr>
          <p:cNvPr id="52" name="footer-note-4">
            <a:extLst>
              <a:ext uri="{FF2B5EF4-FFF2-40B4-BE49-F238E27FC236}">
                <a16:creationId xmlns:a16="http://schemas.microsoft.com/office/drawing/2014/main" id="{4BC78CE1-1B93-4818-94FE-68FBBE41314D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933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0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AP Control Tower · product pitch → CFO Office</a:t>
            </a:r>
          </a:p>
        </p:txBody>
      </p:sp>
      <p:sp>
        <p:nvSpPr>
          <p:cNvPr id="53" name="footer-page-4">
            <a:extLst>
              <a:ext uri="{FF2B5EF4-FFF2-40B4-BE49-F238E27FC236}">
                <a16:creationId xmlns:a16="http://schemas.microsoft.com/office/drawing/2014/main" id="{1C479FD3-565F-4D2B-A99A-18CD51FFB572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050" b="1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293302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losing-kicker">
            <a:extLst>
              <a:ext uri="{FF2B5EF4-FFF2-40B4-BE49-F238E27FC236}">
                <a16:creationId xmlns:a16="http://schemas.microsoft.com/office/drawing/2014/main" id="{4A147700-B1C5-41EB-89E3-1349E96F1415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 i="0">
                <a:solidFill>
                  <a:srgbClr val="6EC0D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6EC0D7"/>
                </a:solidFill>
                <a:latin typeface="Aptos"/>
                <a:ea typeface="Aptos"/>
                <a:cs typeface="Aptos"/>
              </a:rPr>
              <a:t>PRÓXIMO PASO</a:t>
            </a:r>
          </a:p>
        </p:txBody>
      </p:sp>
      <p:sp>
        <p:nvSpPr>
          <p:cNvPr id="2" name="closing-title">
            <a:extLst>
              <a:ext uri="{FF2B5EF4-FFF2-40B4-BE49-F238E27FC236}">
                <a16:creationId xmlns:a16="http://schemas.microsoft.com/office/drawing/2014/main" id="{7D4A4B76-8FAF-4CD5-97EB-E6F3E15A0EFB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99060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4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Empecemos con AP. Preservemos el camino hacia CFO Office.</a:t>
            </a:r>
          </a:p>
        </p:txBody>
      </p:sp>
      <p:sp>
        <p:nvSpPr>
          <p:cNvPr id="3" name="closing-sub">
            <a:extLst>
              <a:ext uri="{FF2B5EF4-FFF2-40B4-BE49-F238E27FC236}">
                <a16:creationId xmlns:a16="http://schemas.microsoft.com/office/drawing/2014/main" id="{F19E54AB-C069-44FA-9473-6FFD582ED5CA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8382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0" i="0">
                <a:solidFill>
                  <a:srgbClr val="AFC0D1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AFC0D1"/>
                </a:solidFill>
                <a:latin typeface="Aptos"/>
                <a:ea typeface="Aptos"/>
                <a:cs typeface="Aptos"/>
              </a:rPr>
              <a:t>Un discovery ejecutivo y una muestra controlada convierten el circuito actual en alcance, evidencia y business case.</a:t>
            </a:r>
          </a:p>
        </p:txBody>
      </p:sp>
      <p:sp>
        <p:nvSpPr>
          <p:cNvPr id="4" name="closing-rule">
            <a:extLst>
              <a:ext uri="{FF2B5EF4-FFF2-40B4-BE49-F238E27FC236}">
                <a16:creationId xmlns:a16="http://schemas.microsoft.com/office/drawing/2014/main" id="{ACE4BFDC-3CE5-48F2-BED9-BD94F30AF5D3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10972800" cy="9525"/>
          </a:xfrm>
          <a:prstGeom prst="rect">
            <a:avLst/>
          </a:prstGeom>
          <a:solidFill>
            <a:srgbClr val="28405A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closing-demo">
            <a:extLst>
              <a:ext uri="{FF2B5EF4-FFF2-40B4-BE49-F238E27FC236}">
                <a16:creationId xmlns:a16="http://schemas.microsoft.com/office/drawing/2014/main" id="{928ECE7A-9C5A-4677-B80E-790BBC9C55DC}"/>
              </a:ext>
            </a:extLst>
          </p:cNvPr>
          <p:cNvSpPr>
            <a:spLocks noGrp="1"/>
          </p:cNvSpPr>
          <p:nvPr/>
        </p:nvSpPr>
        <p:spPr>
          <a:xfrm>
            <a:off x="609600" y="468630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350">
                <a:solidFill>
                  <a:srgbClr val="AFC0D1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AFC0D1"/>
                </a:solidFill>
                <a:latin typeface="Aptos"/>
                <a:ea typeface="Aptos"/>
                <a:cs typeface="Aptos"/>
                <a:hlinkClick r:id="rId3"/>
              </a:rPr>
              <a:t>Demo guiada: </a:t>
            </a:r>
            <a:r>
              <a:rPr sz="1350" b="1" u="sng">
                <a:solidFill>
                  <a:srgbClr val="AFC0D1"/>
                </a:solidFill>
                <a:latin typeface="Aptos"/>
                <a:ea typeface="Aptos"/>
                <a:cs typeface="Aptos"/>
                <a:hlinkClick r:id="rId3"/>
              </a:rPr>
              <a:t>abrir experiencia ↗</a:t>
            </a:r>
          </a:p>
        </p:txBody>
      </p:sp>
      <p:sp>
        <p:nvSpPr>
          <p:cNvPr id="6" name="closing-poc">
            <a:extLst>
              <a:ext uri="{FF2B5EF4-FFF2-40B4-BE49-F238E27FC236}">
                <a16:creationId xmlns:a16="http://schemas.microsoft.com/office/drawing/2014/main" id="{81609419-824F-4760-8411-A35DB3376318}"/>
              </a:ext>
            </a:extLst>
          </p:cNvPr>
          <p:cNvSpPr>
            <a:spLocks noGrp="1"/>
          </p:cNvSpPr>
          <p:nvPr/>
        </p:nvSpPr>
        <p:spPr>
          <a:xfrm>
            <a:off x="609600" y="5191125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350">
                <a:solidFill>
                  <a:srgbClr val="AFC0D1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AFC0D1"/>
                </a:solidFill>
                <a:latin typeface="Aptos"/>
                <a:ea typeface="Aptos"/>
                <a:cs typeface="Aptos"/>
                <a:hlinkClick r:id="rId4"/>
              </a:rPr>
              <a:t>PoC + evals: abrir evidencia ↗</a:t>
            </a:r>
          </a:p>
        </p:txBody>
      </p:sp>
      <p:sp>
        <p:nvSpPr>
          <p:cNvPr id="7" name="closing-access">
            <a:extLst>
              <a:ext uri="{FF2B5EF4-FFF2-40B4-BE49-F238E27FC236}">
                <a16:creationId xmlns:a16="http://schemas.microsoft.com/office/drawing/2014/main" id="{DECFE51D-745B-4C86-9284-5E97A10E1357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533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7F95A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7F95AA"/>
                </a:solidFill>
                <a:latin typeface="Aptos"/>
                <a:ea typeface="Aptos"/>
                <a:cs typeface="Aptos"/>
              </a:rPr>
              <a:t>Accesos protegidos · solicitar la clave al equipo fundador</a:t>
            </a:r>
          </a:p>
        </p:txBody>
      </p:sp>
      <p:sp>
        <p:nvSpPr>
          <p:cNvPr id="8" name="closing-contact-label">
            <a:extLst>
              <a:ext uri="{FF2B5EF4-FFF2-40B4-BE49-F238E27FC236}">
                <a16:creationId xmlns:a16="http://schemas.microsoft.com/office/drawing/2014/main" id="{DC7AD022-14B5-4C0F-950D-5551279EAD56}"/>
              </a:ext>
            </a:extLst>
          </p:cNvPr>
          <p:cNvSpPr>
            <a:spLocks noGrp="1"/>
          </p:cNvSpPr>
          <p:nvPr/>
        </p:nvSpPr>
        <p:spPr>
          <a:xfrm>
            <a:off x="6953250" y="44767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6EC0D7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6EC0D7"/>
                </a:solidFill>
                <a:latin typeface="Aptos"/>
                <a:ea typeface="Aptos"/>
                <a:cs typeface="Aptos"/>
              </a:rPr>
              <a:t>COORDINAR CON EL EQUIPO FUNDADOR</a:t>
            </a:r>
          </a:p>
        </p:txBody>
      </p:sp>
      <p:sp>
        <p:nvSpPr>
          <p:cNvPr id="9" name="closing-mariana">
            <a:extLst>
              <a:ext uri="{FF2B5EF4-FFF2-40B4-BE49-F238E27FC236}">
                <a16:creationId xmlns:a16="http://schemas.microsoft.com/office/drawing/2014/main" id="{417766F8-9C66-49CD-A9A1-54FB8EF32C98}"/>
              </a:ext>
            </a:extLst>
          </p:cNvPr>
          <p:cNvSpPr>
            <a:spLocks noGrp="1"/>
          </p:cNvSpPr>
          <p:nvPr/>
        </p:nvSpPr>
        <p:spPr>
          <a:xfrm>
            <a:off x="6953250" y="4905375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575">
                <a:solidFill>
                  <a:srgbClr val="AFC0D1"/>
                </a:solidFill>
                <a:latin typeface="Aptos"/>
                <a:ea typeface="Aptos"/>
                <a:cs typeface="Aptos"/>
              </a:defRPr>
            </a:pPr>
            <a:r>
              <a:rPr sz="1575" b="1" u="none">
                <a:solidFill>
                  <a:srgbClr val="AFC0D1"/>
                </a:solidFill>
                <a:latin typeface="Aptos"/>
                <a:ea typeface="Aptos"/>
                <a:cs typeface="Aptos"/>
              </a:rPr>
              <a:t>Discovery ejecutivo</a:t>
            </a:r>
          </a:p>
        </p:txBody>
      </p:sp>
      <p:sp>
        <p:nvSpPr>
          <p:cNvPr id="10" name="closing-nicolas">
            <a:extLst>
              <a:ext uri="{FF2B5EF4-FFF2-40B4-BE49-F238E27FC236}">
                <a16:creationId xmlns:a16="http://schemas.microsoft.com/office/drawing/2014/main" id="{5AF2106D-543A-460E-89D3-0CB5DB9BFF1D}"/>
              </a:ext>
            </a:extLst>
          </p:cNvPr>
          <p:cNvSpPr>
            <a:spLocks noGrp="1"/>
          </p:cNvSpPr>
          <p:nvPr/>
        </p:nvSpPr>
        <p:spPr>
          <a:xfrm>
            <a:off x="6953250" y="5381625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575">
                <a:solidFill>
                  <a:srgbClr val="AFC0D1"/>
                </a:solidFill>
                <a:latin typeface="Aptos"/>
                <a:ea typeface="Aptos"/>
                <a:cs typeface="Aptos"/>
              </a:defRPr>
            </a:pPr>
            <a:r>
              <a:rPr sz="1575" b="1" u="none">
                <a:solidFill>
                  <a:srgbClr val="AFC0D1"/>
                </a:solidFill>
                <a:latin typeface="Aptos"/>
                <a:ea typeface="Aptos"/>
                <a:cs typeface="Aptos"/>
              </a:rPr>
              <a:t>Muestra controlada</a:t>
            </a:r>
          </a:p>
        </p:txBody>
      </p:sp>
      <p:sp>
        <p:nvSpPr>
          <p:cNvPr id="11" name="footer-note-10">
            <a:extLst>
              <a:ext uri="{FF2B5EF4-FFF2-40B4-BE49-F238E27FC236}">
                <a16:creationId xmlns:a16="http://schemas.microsoft.com/office/drawing/2014/main" id="{E2420543-BA93-4EC5-B423-D1C99D332FAB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933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0" i="0">
                <a:solidFill>
                  <a:srgbClr val="8EA1B5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8EA1B5"/>
                </a:solidFill>
                <a:latin typeface="Aptos"/>
                <a:ea typeface="Aptos"/>
                <a:cs typeface="Aptos"/>
              </a:rPr>
              <a:t>AP Control Tower · product pitch → CFO Office</a:t>
            </a:r>
          </a:p>
        </p:txBody>
      </p:sp>
      <p:sp>
        <p:nvSpPr>
          <p:cNvPr id="12" name="footer-page-10">
            <a:extLst>
              <a:ext uri="{FF2B5EF4-FFF2-40B4-BE49-F238E27FC236}">
                <a16:creationId xmlns:a16="http://schemas.microsoft.com/office/drawing/2014/main" id="{663563E7-5A59-426F-AD6E-B65D68133499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050" b="1" i="0">
                <a:solidFill>
                  <a:srgbClr val="8EA1B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8EA1B5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5365193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1568</Words>
  <Application>Microsoft Office PowerPoint</Application>
  <DocSecurity>0</DocSecurity>
  <PresentationFormat>Panorámica</PresentationFormat>
  <Paragraphs>312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Aptos</vt:lpstr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ignacio viola</cp:lastModifiedBy>
  <cp:revision>1</cp:revision>
  <dcterms:created xsi:type="dcterms:W3CDTF">2026-07-16T14:51:04Z</dcterms:created>
  <dcterms:modified xsi:type="dcterms:W3CDTF">2026-07-16T20:38:07Z</dcterms:modified>
</cp:coreProperties>
</file>