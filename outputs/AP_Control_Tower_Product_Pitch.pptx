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0f059900bb41e8" /><Relationship Type="http://schemas.openxmlformats.org/officeDocument/2006/relationships/extended-properties" Target="/docProps/app.xml" Id="R1a924887124944cd" /><Relationship Type="http://schemas.openxmlformats.org/officeDocument/2006/relationships/officeDocument" Target="/ppt/presentation.xml" Id="R832afc5ca50749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7acecaa011460b"/>
  </p:sldMasterIdLst>
  <p:notesMasterIdLst>
    <p:notesMasterId xmlns:r="http://schemas.openxmlformats.org/officeDocument/2006/relationships" r:id="R8440413197cc40ea"/>
  </p:notesMasterIdLst>
  <p:sldIdLst>
    <p:sldId xmlns:r="http://schemas.openxmlformats.org/officeDocument/2006/relationships" id="256" r:id="Rda2167410cda49fe"/>
    <p:sldId xmlns:r="http://schemas.openxmlformats.org/officeDocument/2006/relationships" id="257" r:id="R1c1556f602934048"/>
    <p:sldId xmlns:r="http://schemas.openxmlformats.org/officeDocument/2006/relationships" id="258" r:id="R0f50825d3c0b4c71"/>
    <p:sldId xmlns:r="http://schemas.openxmlformats.org/officeDocument/2006/relationships" id="259" r:id="R562294c60155424b"/>
    <p:sldId xmlns:r="http://schemas.openxmlformats.org/officeDocument/2006/relationships" id="260" r:id="R9889c4a15f7441dd"/>
    <p:sldId xmlns:r="http://schemas.openxmlformats.org/officeDocument/2006/relationships" id="261" r:id="Rf098ac4560054474"/>
    <p:sldId xmlns:r="http://schemas.openxmlformats.org/officeDocument/2006/relationships" id="262" r:id="Rd2411aa1db394950"/>
    <p:sldId xmlns:r="http://schemas.openxmlformats.org/officeDocument/2006/relationships" id="263" r:id="Re09535995be64165"/>
    <p:sldId xmlns:r="http://schemas.openxmlformats.org/officeDocument/2006/relationships" id="264" r:id="R22dc55d63e4044bf"/>
    <p:sldId xmlns:r="http://schemas.openxmlformats.org/officeDocument/2006/relationships" id="265" r:id="Rfdc2890669ae46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12821607de41ca" /><Relationship Type="http://schemas.openxmlformats.org/officeDocument/2006/relationships/slideMaster" Target="/ppt/slideMasters/slideMaster1.xml" Id="Re07acecaa011460b" /><Relationship Type="http://schemas.openxmlformats.org/officeDocument/2006/relationships/notesMaster" Target="/ppt/notesMasters/notesMaster1.xml" Id="R8440413197cc40ea" /><Relationship Type="http://schemas.openxmlformats.org/officeDocument/2006/relationships/presProps" Target="/ppt/presProps.xml" Id="Re4670de8717f43cf" /><Relationship Type="http://schemas.openxmlformats.org/officeDocument/2006/relationships/tableStyles" Target="/ppt/tableStyles.xml" Id="R1f0b3dd44cb049b3" /><Relationship Type="http://schemas.openxmlformats.org/officeDocument/2006/relationships/slide" Target="/ppt/slides/slide1.xml" Id="Rda2167410cda49fe" /><Relationship Type="http://schemas.openxmlformats.org/officeDocument/2006/relationships/slide" Target="/ppt/slides/slide2.xml" Id="R1c1556f602934048" /><Relationship Type="http://schemas.openxmlformats.org/officeDocument/2006/relationships/slide" Target="/ppt/slides/slide3.xml" Id="R0f50825d3c0b4c71" /><Relationship Type="http://schemas.openxmlformats.org/officeDocument/2006/relationships/slide" Target="/ppt/slides/slide4.xml" Id="R562294c60155424b" /><Relationship Type="http://schemas.openxmlformats.org/officeDocument/2006/relationships/slide" Target="/ppt/slides/slide5.xml" Id="R9889c4a15f7441dd" /><Relationship Type="http://schemas.openxmlformats.org/officeDocument/2006/relationships/slide" Target="/ppt/slides/slide6.xml" Id="Rf098ac4560054474" /><Relationship Type="http://schemas.openxmlformats.org/officeDocument/2006/relationships/slide" Target="/ppt/slides/slide7.xml" Id="Rd2411aa1db394950" /><Relationship Type="http://schemas.openxmlformats.org/officeDocument/2006/relationships/slide" Target="/ppt/slides/slide8.xml" Id="Re09535995be64165" /><Relationship Type="http://schemas.openxmlformats.org/officeDocument/2006/relationships/slide" Target="/ppt/slides/slide9.xml" Id="R22dc55d63e4044bf" /><Relationship Type="http://schemas.openxmlformats.org/officeDocument/2006/relationships/slide" Target="/ppt/slides/slide10.xml" Id="Rfdc2890669ae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4ee38ff08f4d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ccdd4a77e84a40" /><Relationship Type="http://schemas.openxmlformats.org/officeDocument/2006/relationships/notesMaster" Target="/ppt/notesMasters/notesMaster1.xml" Id="R1fc20af8e18949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40bc805a534cf0" /><Relationship Type="http://schemas.openxmlformats.org/officeDocument/2006/relationships/notesMaster" Target="/ppt/notesMasters/notesMaster1.xml" Id="R83acafd9e7c34c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93f4657b4549ba" /><Relationship Type="http://schemas.openxmlformats.org/officeDocument/2006/relationships/notesMaster" Target="/ppt/notesMasters/notesMaster1.xml" Id="R29d87fcb2a734d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e96f177dfa41f9" /><Relationship Type="http://schemas.openxmlformats.org/officeDocument/2006/relationships/notesMaster" Target="/ppt/notesMasters/notesMaster1.xml" Id="R6af8544e07ea4f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bbcd174cdb43ec" /><Relationship Type="http://schemas.openxmlformats.org/officeDocument/2006/relationships/notesMaster" Target="/ppt/notesMasters/notesMaster1.xml" Id="Rb5c186f2952e44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1ebe39d3714f47" /><Relationship Type="http://schemas.openxmlformats.org/officeDocument/2006/relationships/notesMaster" Target="/ppt/notesMasters/notesMaster1.xml" Id="R947e13eedce446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3875a5e4a54575" /><Relationship Type="http://schemas.openxmlformats.org/officeDocument/2006/relationships/notesMaster" Target="/ppt/notesMasters/notesMaster1.xml" Id="Rb23fc902d1344f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31c0e8dbe24925" /><Relationship Type="http://schemas.openxmlformats.org/officeDocument/2006/relationships/notesMaster" Target="/ppt/notesMasters/notesMaster1.xml" Id="Rad68086d6a8e41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e0a582aeb342a7" /><Relationship Type="http://schemas.openxmlformats.org/officeDocument/2006/relationships/notesMaster" Target="/ppt/notesMasters/notesMaster1.xml" Id="R0fe56a6eca9f45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124908c3664541" /><Relationship Type="http://schemas.openxmlformats.org/officeDocument/2006/relationships/notesMaster" Target="/ppt/notesMasters/notesMaster1.xml" Id="Rdcbe722276fe42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6cbee206548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37078e0bbb4135" /><Relationship Type="http://schemas.openxmlformats.org/officeDocument/2006/relationships/slideLayout" Target="/ppt/slideLayouts/slideLayout1.xml" Id="R7b2dd5096da841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2dd5096da841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a5a9d4df9494a" /><Relationship Type="http://schemas.openxmlformats.org/officeDocument/2006/relationships/image" Target="/ppt/media/image.png" Id="R154f37dd0ef446cf" /><Relationship Type="http://schemas.openxmlformats.org/officeDocument/2006/relationships/notesSlide" Target="/ppt/notesSlides/notesSlide1.xml" Id="R230034f94d5b4c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8f1c1c4cc44a1" /><Relationship Type="http://schemas.openxmlformats.org/officeDocument/2006/relationships/notesSlide" Target="/ppt/notesSlides/notesSlide2.xml" Id="R0cd2249ad1dc42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5ef5f83844bed" /><Relationship Type="http://schemas.openxmlformats.org/officeDocument/2006/relationships/notesSlide" Target="/ppt/notesSlides/notesSlide3.xml" Id="R5805802982414a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2dc3155114164" /><Relationship Type="http://schemas.openxmlformats.org/officeDocument/2006/relationships/notesSlide" Target="/ppt/notesSlides/notesSlide4.xml" Id="R1be5062fa58946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1f4a116d84351" /><Relationship Type="http://schemas.openxmlformats.org/officeDocument/2006/relationships/hyperlink" Target="https://ap-control-tower-597507822266.us-central1.run.app" TargetMode="External" Id="R6e88ed8c927846a2" /><Relationship Type="http://schemas.openxmlformats.org/officeDocument/2006/relationships/hyperlink" Target="https://ap-control-tower-trial-597507822266.us-central1.run.app" TargetMode="External" Id="Ra969c0b6946b447e" /><Relationship Type="http://schemas.openxmlformats.org/officeDocument/2006/relationships/notesSlide" Target="/ppt/notesSlides/notesSlide5.xml" Id="R22570de72bf14b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ffb71b5264338" /><Relationship Type="http://schemas.openxmlformats.org/officeDocument/2006/relationships/notesSlide" Target="/ppt/notesSlides/notesSlide6.xml" Id="R7a6f8088a0634a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1c82bdf88408e" /><Relationship Type="http://schemas.openxmlformats.org/officeDocument/2006/relationships/hyperlink" Target="https://ap-control-tower-597507822266.us-central1.run.app" TargetMode="External" Id="R87bc1a26bd01485e" /><Relationship Type="http://schemas.openxmlformats.org/officeDocument/2006/relationships/notesSlide" Target="/ppt/notesSlides/notesSlide7.xml" Id="R626d525c6d9b4b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601f3e08d42a5" /><Relationship Type="http://schemas.openxmlformats.org/officeDocument/2006/relationships/hyperlink" Target="https://docs.cloud.google.com/document-ai/docs/security" TargetMode="External" Id="Rd17a64af8f1048d2" /><Relationship Type="http://schemas.openxmlformats.org/officeDocument/2006/relationships/hyperlink" Target="https://cloud.google.com/terms/data-processing-addendum/" TargetMode="External" Id="R8df3fda2063c4a31" /><Relationship Type="http://schemas.openxmlformats.org/officeDocument/2006/relationships/hyperlink" Target="https://docs.cloud.google.com/run/docs/container-contract#file_system" TargetMode="External" Id="R8f674e8a4b7d475f" /><Relationship Type="http://schemas.openxmlformats.org/officeDocument/2006/relationships/notesSlide" Target="/ppt/notesSlides/notesSlide8.xml" Id="R5c7fc9a7487540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dc4d570f143ab" /><Relationship Type="http://schemas.openxmlformats.org/officeDocument/2006/relationships/notesSlide" Target="/ppt/notesSlides/notesSlide9.xml" Id="R84bf7c07d7bd4e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c79250f32453c" /><Relationship Type="http://schemas.openxmlformats.org/officeDocument/2006/relationships/hyperlink" Target="https://ap-control-tower-597507822266.us-central1.run.app" TargetMode="External" Id="Rf28be88062204250" /><Relationship Type="http://schemas.openxmlformats.org/officeDocument/2006/relationships/hyperlink" Target="https://ap-control-tower-trial-597507822266.us-central1.run.app" TargetMode="External" Id="R5f4f95ea204d432e" /><Relationship Type="http://schemas.openxmlformats.org/officeDocument/2006/relationships/hyperlink" Target="https://www.linkedin.com/in/ACoAAA0pGygBDxsieuNVAJ9SDPjnIPBfLUZdMjs?lipi=urn%3Ali%3Apage%3Ad_flagship3_messaging_conversation_detail%3BR6VirGSETdC2whWCh4UlVQ%3D%3D" TargetMode="External" Id="Re06185f717c940bf" /><Relationship Type="http://schemas.openxmlformats.org/officeDocument/2006/relationships/hyperlink" Target="https://www.linkedin.com/in/ACoAAAbsP7AB-PCw0iKRDEU44Sl5i_1YrcU_SfE" TargetMode="External" Id="R1e742cdab800447c" /><Relationship Type="http://schemas.openxmlformats.org/officeDocument/2006/relationships/notesSlide" Target="/ppt/notesSlides/notesSlide10.xml" Id="Ra62d8065fa6c46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-line">
            <a:extLst xmlns:a="http://schemas.openxmlformats.org/drawingml/2006/main">
              <a:ext uri="{FF2B5EF4-FFF2-40B4-BE49-F238E27FC236}">
                <a16:creationId xmlns:a16="http://schemas.microsoft.com/office/drawing/2014/main" id="{EC368574-8C10-4F14-B794-BEA67BB9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2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3F5D568-FF2B-48C0-9805-2F3420AE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PRODUCT PITCH · DEMO + PoC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B766E17-135E-402B-B044-0ACD4EEC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 Control Tower</a:t>
            </a:r>
          </a:p>
        </p:txBody>
      </p: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3A0F4ED7-FF1C-49FC-A005-C3C27747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Accounts Payable controlado, auditable y con decisión humana.</a:t>
            </a:r>
          </a:p>
        </p:txBody>
      </p:sp>
      <p:sp>
        <p:nvSpPr>
          <p:cNvPr id="5" name="cover-sub">
            <a:extLst xmlns:a="http://schemas.openxmlformats.org/drawingml/2006/main">
              <a:ext uri="{FF2B5EF4-FFF2-40B4-BE49-F238E27FC236}">
                <a16:creationId xmlns:a16="http://schemas.microsoft.com/office/drawing/2014/main" id="{BA912577-4B5A-45DA-9423-FCFFE2A5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AFC0D1"/>
                </a:solidFill>
                <a:latin typeface="Aptos"/>
                <a:ea typeface="Aptos"/>
                <a:cs typeface="Aptos"/>
              </a:rPr>
              <a:t>Convierte facturas dispersas en una propuesta de pago gobernada: lectura automática, controles, excepciones y evidencia en un solo circuito.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EFAA8EBB-F74B-431B-8725-676EE950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Demo guiada + PoC con documentos disponibles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B22B4C4F-CA8F-4BBC-B3E8-7F5A24F9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5295900" cy="4953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f37dd0ef446cf"/>
          <a:srcRect xmlns:a="http://schemas.openxmlformats.org/drawingml/2006/main" l="0" t="16976" r="0" b="169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2095500"/>
            <a:ext cx="4686300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9" name="cover-product-mask">
            <a:extLst xmlns:a="http://schemas.openxmlformats.org/drawingml/2006/main">
              <a:ext uri="{FF2B5EF4-FFF2-40B4-BE49-F238E27FC236}">
                <a16:creationId xmlns:a16="http://schemas.microsoft.com/office/drawing/2014/main" id="{AE9D0F21-B8CB-4F06-8F22-823BEB44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29100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note-1">
            <a:extLst xmlns:a="http://schemas.openxmlformats.org/drawingml/2006/main">
              <a:ext uri="{FF2B5EF4-FFF2-40B4-BE49-F238E27FC236}">
                <a16:creationId xmlns:a16="http://schemas.microsoft.com/office/drawing/2014/main" id="{DF2229A9-E8A7-48D3-B13A-75194145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AP Control Tower · Demo + PoC privado</a:t>
            </a:r>
          </a:p>
        </p:txBody>
      </p:sp>
      <p:sp>
        <p:nvSpPr>
          <p:cNvPr id="11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9CD60145-C331-4B59-8565-6A7EAA43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9794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CD0E838A-AF00-4FB9-8D82-06A94713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EL PROBLEMA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E89C620-B41E-4C95-8B90-579687C4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Cuando AP depende de email y planillas, cada excepción agrega riesgo.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85890714-497D-4AA5-9302-F8C4B18F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4665E176-B1D1-468C-8244-6F560621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No hace falta una operación masiva para perder visibilidad. Basta con que la evidencia, las reglas y las decisiones estén repartidas entre personas y herramientas.</a:t>
            </a:r>
          </a:p>
        </p:txBody>
      </p:sp>
      <p:sp>
        <p:nvSpPr>
          <p:cNvPr id="5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81542EB9-776C-487A-994B-FEC091C9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857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El costo aparece en retrabajo, demoras, pagos duplicados y dificultad para demostrar quién controló qué.</a:t>
            </a:r>
          </a:p>
        </p:txBody>
      </p:sp>
      <p:sp>
        <p:nvSpPr>
          <p:cNvPr id="6" name="problem-n-0">
            <a:extLst xmlns:a="http://schemas.openxmlformats.org/drawingml/2006/main">
              <a:ext uri="{FF2B5EF4-FFF2-40B4-BE49-F238E27FC236}">
                <a16:creationId xmlns:a16="http://schemas.microsoft.com/office/drawing/2014/main" id="{C7D26511-D86D-4048-9091-8CC57738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F2F015F6-B86E-4EF5-90A2-FF5D2B30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050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Facturas por email o PDF</a:t>
            </a:r>
          </a:p>
        </p:txBody>
      </p:sp>
      <p:sp>
        <p:nvSpPr>
          <p:cNvPr id="8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7AF78C3E-EEEC-4D75-ABC0-7D4A6C5B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050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La entrada no genera una cola única ni prioridad operativa.</a:t>
            </a:r>
          </a:p>
        </p:txBody>
      </p:sp>
      <p:sp>
        <p:nvSpPr>
          <p:cNvPr id="9" name="problem-rule-0">
            <a:extLst xmlns:a="http://schemas.openxmlformats.org/drawingml/2006/main">
              <a:ext uri="{FF2B5EF4-FFF2-40B4-BE49-F238E27FC236}">
                <a16:creationId xmlns:a16="http://schemas.microsoft.com/office/drawing/2014/main" id="{7ABA6B82-ADBD-408B-94B7-67FA9EF9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86075"/>
            <a:ext cx="636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n-1">
            <a:extLst xmlns:a="http://schemas.openxmlformats.org/drawingml/2006/main">
              <a:ext uri="{FF2B5EF4-FFF2-40B4-BE49-F238E27FC236}">
                <a16:creationId xmlns:a16="http://schemas.microsoft.com/office/drawing/2014/main" id="{760AF711-78B8-44DE-B6E0-05DD8281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29BA5F8E-E969-40AB-9107-F50E3375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480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Recarga entre herramientas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6F3E7BAA-FFB1-4B82-AF63-A45A425C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Datos repetidos en planillas, ERP y banca electrónica.</a:t>
            </a:r>
          </a:p>
        </p:txBody>
      </p:sp>
      <p:sp>
        <p:nvSpPr>
          <p:cNvPr id="13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DB5F9387-A948-49EE-82EA-250B75DE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29025"/>
            <a:ext cx="636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blem-n-2">
            <a:extLst xmlns:a="http://schemas.openxmlformats.org/drawingml/2006/main">
              <a:ext uri="{FF2B5EF4-FFF2-40B4-BE49-F238E27FC236}">
                <a16:creationId xmlns:a16="http://schemas.microsoft.com/office/drawing/2014/main" id="{52319835-1B4C-426C-85C1-A38071FF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E621816A-E2EC-4F9E-AB5F-6437D7BD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909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Excepciones por mensajes</a:t>
            </a:r>
          </a:p>
        </p:txBody>
      </p:sp>
      <p:sp>
        <p:nvSpPr>
          <p:cNvPr id="16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AE5B1C60-3AE3-4A08-B31A-2FB972E4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90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Faltantes y aprobaciones quedan dispersos en conversaciones.</a:t>
            </a:r>
          </a:p>
        </p:txBody>
      </p:sp>
      <p:sp>
        <p:nvSpPr>
          <p:cNvPr id="17" name="problem-rule-2">
            <a:extLst xmlns:a="http://schemas.openxmlformats.org/drawingml/2006/main">
              <a:ext uri="{FF2B5EF4-FFF2-40B4-BE49-F238E27FC236}">
                <a16:creationId xmlns:a16="http://schemas.microsoft.com/office/drawing/2014/main" id="{0C8B5079-7194-4CF2-A2D6-7DFD9D90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71975"/>
            <a:ext cx="636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blem-n-3">
            <a:extLst xmlns:a="http://schemas.openxmlformats.org/drawingml/2006/main">
              <a:ext uri="{FF2B5EF4-FFF2-40B4-BE49-F238E27FC236}">
                <a16:creationId xmlns:a16="http://schemas.microsoft.com/office/drawing/2014/main" id="{7E253A1B-DF82-4167-9728-6462A5A6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33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problem-title-3">
            <a:extLst xmlns:a="http://schemas.openxmlformats.org/drawingml/2006/main">
              <a:ext uri="{FF2B5EF4-FFF2-40B4-BE49-F238E27FC236}">
                <a16:creationId xmlns:a16="http://schemas.microsoft.com/office/drawing/2014/main" id="{5335A078-DF9C-40D2-8764-359A5A97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339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83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Cambios bancarios manuales</a:t>
            </a:r>
          </a:p>
        </p:txBody>
      </p:sp>
      <p:sp>
        <p:nvSpPr>
          <p:cNvPr id="20" name="problem-body-3">
            <a:extLst xmlns:a="http://schemas.openxmlformats.org/drawingml/2006/main">
              <a:ext uri="{FF2B5EF4-FFF2-40B4-BE49-F238E27FC236}">
                <a16:creationId xmlns:a16="http://schemas.microsoft.com/office/drawing/2014/main" id="{88FA3480-2B6A-48B3-BFD1-A52BD551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33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Un IBAN divergente puede avanzar sin comparación independiente.</a:t>
            </a:r>
          </a:p>
        </p:txBody>
      </p:sp>
      <p:sp>
        <p:nvSpPr>
          <p:cNvPr id="21" name="problem-rule-3">
            <a:extLst xmlns:a="http://schemas.openxmlformats.org/drawingml/2006/main">
              <a:ext uri="{FF2B5EF4-FFF2-40B4-BE49-F238E27FC236}">
                <a16:creationId xmlns:a16="http://schemas.microsoft.com/office/drawing/2014/main" id="{567A8D6E-FA64-4A1C-B0AC-58D4F81C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14925"/>
            <a:ext cx="636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roblem-n-4">
            <a:extLst xmlns:a="http://schemas.openxmlformats.org/drawingml/2006/main">
              <a:ext uri="{FF2B5EF4-FFF2-40B4-BE49-F238E27FC236}">
                <a16:creationId xmlns:a16="http://schemas.microsoft.com/office/drawing/2014/main" id="{A4BB511F-6303-4FE7-8E3A-73E50DAC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problem-title-4">
            <a:extLst xmlns:a="http://schemas.openxmlformats.org/drawingml/2006/main">
              <a:ext uri="{FF2B5EF4-FFF2-40B4-BE49-F238E27FC236}">
                <a16:creationId xmlns:a16="http://schemas.microsoft.com/office/drawing/2014/main" id="{B9D09FC1-A7D3-4A77-AF21-E10A868C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768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Auditoría posterior</a:t>
            </a:r>
          </a:p>
        </p:txBody>
      </p:sp>
      <p:sp>
        <p:nvSpPr>
          <p:cNvPr id="24" name="problem-body-4">
            <a:extLst xmlns:a="http://schemas.openxmlformats.org/drawingml/2006/main">
              <a:ext uri="{FF2B5EF4-FFF2-40B4-BE49-F238E27FC236}">
                <a16:creationId xmlns:a16="http://schemas.microsoft.com/office/drawing/2014/main" id="{0B485FB8-A416-43D5-81B9-3BCBC8F6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7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La evidencia se reconstruye después del pago, no durante el proceso.</a:t>
            </a:r>
          </a:p>
        </p:txBody>
      </p:sp>
      <p:sp>
        <p:nvSpPr>
          <p:cNvPr id="25" name="footer-note-2">
            <a:extLst xmlns:a="http://schemas.openxmlformats.org/drawingml/2006/main">
              <a:ext uri="{FF2B5EF4-FFF2-40B4-BE49-F238E27FC236}">
                <a16:creationId xmlns:a16="http://schemas.microsoft.com/office/drawing/2014/main" id="{36DDD6AE-EEF7-4E65-9776-BF968B98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Demo + PoC privado</a:t>
            </a:r>
          </a:p>
        </p:txBody>
      </p:sp>
      <p:sp>
        <p:nvSpPr>
          <p:cNvPr id="2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8F3ABA6-FB58-4FA6-AB19-6C0DD2F2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7288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0007C191-C9A4-49B7-81D9-704DC552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PROPUESTA DE VALOR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B8C117D-F8DD-43EB-AB1D-F22B5C4E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Automatizamos el trabajo repetitivo; la responsabilidad sigue siendo humana.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C1DD277E-4DF9-4AAF-8C8B-EF5B75D3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alue-n-0">
            <a:extLst xmlns:a="http://schemas.openxmlformats.org/drawingml/2006/main">
              <a:ext uri="{FF2B5EF4-FFF2-40B4-BE49-F238E27FC236}">
                <a16:creationId xmlns:a16="http://schemas.microsoft.com/office/drawing/2014/main" id="{E54D12C2-89BF-406E-B0D6-96073223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value-title-0">
            <a:extLst xmlns:a="http://schemas.openxmlformats.org/drawingml/2006/main">
              <a:ext uri="{FF2B5EF4-FFF2-40B4-BE49-F238E27FC236}">
                <a16:creationId xmlns:a16="http://schemas.microsoft.com/office/drawing/2014/main" id="{2A0CD413-BF7E-4B67-B14D-CACED3D9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Capacidad operativa</a:t>
            </a:r>
          </a:p>
        </p:txBody>
      </p:sp>
      <p:sp>
        <p:nvSpPr>
          <p:cNvPr id="6" name="value-body-0">
            <a:extLst xmlns:a="http://schemas.openxmlformats.org/drawingml/2006/main">
              <a:ext uri="{FF2B5EF4-FFF2-40B4-BE49-F238E27FC236}">
                <a16:creationId xmlns:a16="http://schemas.microsoft.com/office/drawing/2014/main" id="{74BC6809-6714-400E-821D-4D23D37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Lectura, extracción y búsqueda se automatizan. El equipo trabaja sobre una cola priorizada, no sobre el 100% de las facturas.</a:t>
            </a:r>
          </a:p>
        </p:txBody>
      </p:sp>
      <p:sp>
        <p:nvSpPr>
          <p:cNvPr id="7" name="value-n-1">
            <a:extLst xmlns:a="http://schemas.openxmlformats.org/drawingml/2006/main">
              <a:ext uri="{FF2B5EF4-FFF2-40B4-BE49-F238E27FC236}">
                <a16:creationId xmlns:a16="http://schemas.microsoft.com/office/drawing/2014/main" id="{9FFDE03E-05EA-408A-8866-EF3BB3DE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value-title-1">
            <a:extLst xmlns:a="http://schemas.openxmlformats.org/drawingml/2006/main">
              <a:ext uri="{FF2B5EF4-FFF2-40B4-BE49-F238E27FC236}">
                <a16:creationId xmlns:a16="http://schemas.microsoft.com/office/drawing/2014/main" id="{14D7F67D-44E8-48D8-B57A-87388FBD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Riesgo antes del pago</a:t>
            </a:r>
          </a:p>
        </p:txBody>
      </p:sp>
      <p:sp>
        <p:nvSpPr>
          <p:cNvPr id="9" name="value-body-1">
            <a:extLst xmlns:a="http://schemas.openxmlformats.org/drawingml/2006/main">
              <a:ext uri="{FF2B5EF4-FFF2-40B4-BE49-F238E27FC236}">
                <a16:creationId xmlns:a16="http://schemas.microsoft.com/office/drawing/2014/main" id="{225BCC07-7590-4873-8CE2-93151077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8142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Duplicados, desvíos, cambios de IBAN y diferencias contra ERP se detienen antes de integrar el lote.</a:t>
            </a:r>
          </a:p>
        </p:txBody>
      </p:sp>
      <p:sp>
        <p:nvSpPr>
          <p:cNvPr id="10" name="value-n-2">
            <a:extLst xmlns:a="http://schemas.openxmlformats.org/drawingml/2006/main">
              <a:ext uri="{FF2B5EF4-FFF2-40B4-BE49-F238E27FC236}">
                <a16:creationId xmlns:a16="http://schemas.microsoft.com/office/drawing/2014/main" id="{F664EDE2-BCAC-4CAD-A57B-05773678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52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value-title-2">
            <a:extLst xmlns:a="http://schemas.openxmlformats.org/drawingml/2006/main">
              <a:ext uri="{FF2B5EF4-FFF2-40B4-BE49-F238E27FC236}">
                <a16:creationId xmlns:a16="http://schemas.microsoft.com/office/drawing/2014/main" id="{7A41C2F9-FE67-4EC7-B2BC-9960930B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Gobierno y trazabilidad</a:t>
            </a:r>
          </a:p>
        </p:txBody>
      </p:sp>
      <p:sp>
        <p:nvSpPr>
          <p:cNvPr id="12" name="value-body-2">
            <a:extLst xmlns:a="http://schemas.openxmlformats.org/drawingml/2006/main">
              <a:ext uri="{FF2B5EF4-FFF2-40B4-BE49-F238E27FC236}">
                <a16:creationId xmlns:a16="http://schemas.microsoft.com/office/drawing/2014/main" id="{1B273593-C248-4CF4-9E80-2D704D01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8142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Cada control, corrección, sign-off y decisión queda asociado a evidencia, responsable y timestamp.</a:t>
            </a:r>
          </a:p>
        </p:txBody>
      </p:sp>
      <p:sp>
        <p:nvSpPr>
          <p:cNvPr id="13" name="value-bottom-rule">
            <a:extLst xmlns:a="http://schemas.openxmlformats.org/drawingml/2006/main">
              <a:ext uri="{FF2B5EF4-FFF2-40B4-BE49-F238E27FC236}">
                <a16:creationId xmlns:a16="http://schemas.microsoft.com/office/drawing/2014/main" id="{F7B3953D-DAED-40B7-8BCA-FB98AA78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uman-gate-claim">
            <a:extLst xmlns:a="http://schemas.openxmlformats.org/drawingml/2006/main">
              <a:ext uri="{FF2B5EF4-FFF2-40B4-BE49-F238E27FC236}">
                <a16:creationId xmlns:a16="http://schemas.microsoft.com/office/drawing/2014/main" id="{FF7002F2-1BB5-4534-AB41-B3370E8F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1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Límite operativo: el sistema prepara y controla; una persona aprueba o rechaza. No existe autopago.</a:t>
            </a:r>
          </a:p>
        </p:txBody>
      </p:sp>
      <p:sp>
        <p:nvSpPr>
          <p:cNvPr id="15" name="footer-note-3">
            <a:extLst xmlns:a="http://schemas.openxmlformats.org/drawingml/2006/main">
              <a:ext uri="{FF2B5EF4-FFF2-40B4-BE49-F238E27FC236}">
                <a16:creationId xmlns:a16="http://schemas.microsoft.com/office/drawing/2014/main" id="{74DF850F-817F-47AA-84F2-06A796C0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Demo + PoC privado</a:t>
            </a:r>
          </a:p>
        </p:txBody>
      </p:sp>
      <p:sp>
        <p:nvSpPr>
          <p:cNvPr id="1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573E8F8-4153-4B61-9084-E43562EE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0809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05D19340-E0BD-45CA-A209-1B265368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FLUJO CONTROLADO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5E6CB7C-B5BC-481F-A43E-AF4906A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La automatización llega hasta el límite correcto; el gate humano no se puede saltear.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FF9237F5-17BD-4B2E-9723-674EA566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top-connector-0">
            <a:extLst xmlns:a="http://schemas.openxmlformats.org/drawingml/2006/main">
              <a:ext uri="{FF2B5EF4-FFF2-40B4-BE49-F238E27FC236}">
                <a16:creationId xmlns:a16="http://schemas.microsoft.com/office/drawing/2014/main" id="{82576B63-DE8C-4342-BC25-ACCDF485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03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top-connector-1">
            <a:extLst xmlns:a="http://schemas.openxmlformats.org/drawingml/2006/main">
              <a:ext uri="{FF2B5EF4-FFF2-40B4-BE49-F238E27FC236}">
                <a16:creationId xmlns:a16="http://schemas.microsoft.com/office/drawing/2014/main" id="{7CFCB77F-3704-4F9E-9B59-C658E3A4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003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top-connector-2">
            <a:extLst xmlns:a="http://schemas.openxmlformats.org/drawingml/2006/main">
              <a:ext uri="{FF2B5EF4-FFF2-40B4-BE49-F238E27FC236}">
                <a16:creationId xmlns:a16="http://schemas.microsoft.com/office/drawing/2014/main" id="{F5992587-795F-453F-AC8F-039C581F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turn-down">
            <a:extLst xmlns:a="http://schemas.openxmlformats.org/drawingml/2006/main">
              <a:ext uri="{FF2B5EF4-FFF2-40B4-BE49-F238E27FC236}">
                <a16:creationId xmlns:a16="http://schemas.microsoft.com/office/drawing/2014/main" id="{EEE43739-0EF3-45D9-B8AF-88D6EDC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5433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8" name="flow-bottom-connector-0">
            <a:extLst xmlns:a="http://schemas.openxmlformats.org/drawingml/2006/main">
              <a:ext uri="{FF2B5EF4-FFF2-40B4-BE49-F238E27FC236}">
                <a16:creationId xmlns:a16="http://schemas.microsoft.com/office/drawing/2014/main" id="{2759393E-73B6-4642-AA49-2FBC184E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101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bottom-connector-1">
            <a:extLst xmlns:a="http://schemas.openxmlformats.org/drawingml/2006/main">
              <a:ext uri="{FF2B5EF4-FFF2-40B4-BE49-F238E27FC236}">
                <a16:creationId xmlns:a16="http://schemas.microsoft.com/office/drawing/2014/main" id="{F82877CF-D540-442E-994D-CA29F88E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101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bottom-connector-2">
            <a:extLst xmlns:a="http://schemas.openxmlformats.org/drawingml/2006/main">
              <a:ext uri="{FF2B5EF4-FFF2-40B4-BE49-F238E27FC236}">
                <a16:creationId xmlns:a16="http://schemas.microsoft.com/office/drawing/2014/main" id="{499A7F0A-69F2-49D4-BEB1-A67F7D38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01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op-0-box">
            <a:extLst xmlns:a="http://schemas.openxmlformats.org/drawingml/2006/main">
              <a:ext uri="{FF2B5EF4-FFF2-40B4-BE49-F238E27FC236}">
                <a16:creationId xmlns:a16="http://schemas.microsoft.com/office/drawing/2014/main" id="{DA236283-AE94-4389-95DC-223A6284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top-0-n">
            <a:extLst xmlns:a="http://schemas.openxmlformats.org/drawingml/2006/main">
              <a:ext uri="{FF2B5EF4-FFF2-40B4-BE49-F238E27FC236}">
                <a16:creationId xmlns:a16="http://schemas.microsoft.com/office/drawing/2014/main" id="{752E1761-5CB4-4E8C-BF8B-9FFCF94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top-0-title">
            <a:extLst xmlns:a="http://schemas.openxmlformats.org/drawingml/2006/main">
              <a:ext uri="{FF2B5EF4-FFF2-40B4-BE49-F238E27FC236}">
                <a16:creationId xmlns:a16="http://schemas.microsoft.com/office/drawing/2014/main" id="{CB696B1F-E60A-48F3-B761-C2D477BC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Recepción</a:t>
            </a:r>
          </a:p>
        </p:txBody>
      </p:sp>
      <p:sp>
        <p:nvSpPr>
          <p:cNvPr id="14" name="top-0-detail">
            <a:extLst xmlns:a="http://schemas.openxmlformats.org/drawingml/2006/main">
              <a:ext uri="{FF2B5EF4-FFF2-40B4-BE49-F238E27FC236}">
                <a16:creationId xmlns:a16="http://schemas.microsoft.com/office/drawing/2014/main" id="{CC5F568C-E6A0-46C2-8763-181847AD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Gmail read-only o PDF</a:t>
            </a:r>
          </a:p>
        </p:txBody>
      </p:sp>
      <p:sp>
        <p:nvSpPr>
          <p:cNvPr id="15" name="top-1-box">
            <a:extLst xmlns:a="http://schemas.openxmlformats.org/drawingml/2006/main">
              <a:ext uri="{FF2B5EF4-FFF2-40B4-BE49-F238E27FC236}">
                <a16:creationId xmlns:a16="http://schemas.microsoft.com/office/drawing/2014/main" id="{756827FC-79AC-4A2A-813B-BB3A8C35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top-1-n">
            <a:extLst xmlns:a="http://schemas.openxmlformats.org/drawingml/2006/main">
              <a:ext uri="{FF2B5EF4-FFF2-40B4-BE49-F238E27FC236}">
                <a16:creationId xmlns:a16="http://schemas.microsoft.com/office/drawing/2014/main" id="{CD35CA53-7D1F-4160-8670-598C1E72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09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op-1-title">
            <a:extLst xmlns:a="http://schemas.openxmlformats.org/drawingml/2006/main">
              <a:ext uri="{FF2B5EF4-FFF2-40B4-BE49-F238E27FC236}">
                <a16:creationId xmlns:a16="http://schemas.microsoft.com/office/drawing/2014/main" id="{38CE0CBB-CF58-4CE0-A799-13D60999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Lectura</a:t>
            </a:r>
          </a:p>
        </p:txBody>
      </p:sp>
      <p:sp>
        <p:nvSpPr>
          <p:cNvPr id="18" name="top-1-detail">
            <a:extLst xmlns:a="http://schemas.openxmlformats.org/drawingml/2006/main">
              <a:ext uri="{FF2B5EF4-FFF2-40B4-BE49-F238E27FC236}">
                <a16:creationId xmlns:a16="http://schemas.microsoft.com/office/drawing/2014/main" id="{C8D7E7F4-60FF-4EA3-9E11-D76239B1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Document AI + evidencia</a:t>
            </a:r>
          </a:p>
        </p:txBody>
      </p:sp>
      <p:sp>
        <p:nvSpPr>
          <p:cNvPr id="19" name="top-2-box">
            <a:extLst xmlns:a="http://schemas.openxmlformats.org/drawingml/2006/main">
              <a:ext uri="{FF2B5EF4-FFF2-40B4-BE49-F238E27FC236}">
                <a16:creationId xmlns:a16="http://schemas.microsoft.com/office/drawing/2014/main" id="{7614A8C0-BCEC-4438-BE53-88AB23AA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0" name="top-2-n">
            <a:extLst xmlns:a="http://schemas.openxmlformats.org/drawingml/2006/main">
              <a:ext uri="{FF2B5EF4-FFF2-40B4-BE49-F238E27FC236}">
                <a16:creationId xmlns:a16="http://schemas.microsoft.com/office/drawing/2014/main" id="{37F25719-7BE4-46C0-8201-3337A79B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top-2-title">
            <a:extLst xmlns:a="http://schemas.openxmlformats.org/drawingml/2006/main">
              <a:ext uri="{FF2B5EF4-FFF2-40B4-BE49-F238E27FC236}">
                <a16:creationId xmlns:a16="http://schemas.microsoft.com/office/drawing/2014/main" id="{C42B4A5E-64DA-40D9-B231-CE220C50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22" name="top-2-detail">
            <a:extLst xmlns:a="http://schemas.openxmlformats.org/drawingml/2006/main">
              <a:ext uri="{FF2B5EF4-FFF2-40B4-BE49-F238E27FC236}">
                <a16:creationId xmlns:a16="http://schemas.microsoft.com/office/drawing/2014/main" id="{0D8A14F0-213A-48C1-9B26-F804D590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PO · non-PO · anticipos</a:t>
            </a:r>
          </a:p>
        </p:txBody>
      </p:sp>
      <p:sp>
        <p:nvSpPr>
          <p:cNvPr id="23" name="top-3-box">
            <a:extLst xmlns:a="http://schemas.openxmlformats.org/drawingml/2006/main">
              <a:ext uri="{FF2B5EF4-FFF2-40B4-BE49-F238E27FC236}">
                <a16:creationId xmlns:a16="http://schemas.microsoft.com/office/drawing/2014/main" id="{830518E0-0977-4F89-9F50-E7BF3BD4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top-3-n">
            <a:extLst xmlns:a="http://schemas.openxmlformats.org/drawingml/2006/main">
              <a:ext uri="{FF2B5EF4-FFF2-40B4-BE49-F238E27FC236}">
                <a16:creationId xmlns:a16="http://schemas.microsoft.com/office/drawing/2014/main" id="{398AB920-100F-4C17-B48B-61116DC6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9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top-3-title">
            <a:extLst xmlns:a="http://schemas.openxmlformats.org/drawingml/2006/main">
              <a:ext uri="{FF2B5EF4-FFF2-40B4-BE49-F238E27FC236}">
                <a16:creationId xmlns:a16="http://schemas.microsoft.com/office/drawing/2014/main" id="{302DC78B-53B1-43C0-8F7C-14792CD5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Controles</a:t>
            </a:r>
          </a:p>
        </p:txBody>
      </p:sp>
      <p:sp>
        <p:nvSpPr>
          <p:cNvPr id="26" name="top-3-detail">
            <a:extLst xmlns:a="http://schemas.openxmlformats.org/drawingml/2006/main">
              <a:ext uri="{FF2B5EF4-FFF2-40B4-BE49-F238E27FC236}">
                <a16:creationId xmlns:a16="http://schemas.microsoft.com/office/drawing/2014/main" id="{55C6B52C-BFD7-4610-B156-26E94EE3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C0–C11 · hard/soft flags</a:t>
            </a:r>
          </a:p>
        </p:txBody>
      </p:sp>
      <p:sp>
        <p:nvSpPr>
          <p:cNvPr id="27" name="bottom-0-box">
            <a:extLst xmlns:a="http://schemas.openxmlformats.org/drawingml/2006/main">
              <a:ext uri="{FF2B5EF4-FFF2-40B4-BE49-F238E27FC236}">
                <a16:creationId xmlns:a16="http://schemas.microsoft.com/office/drawing/2014/main" id="{42BD8547-70B5-4201-8522-2A9104D5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bottom-0-n">
            <a:extLst xmlns:a="http://schemas.openxmlformats.org/drawingml/2006/main">
              <a:ext uri="{FF2B5EF4-FFF2-40B4-BE49-F238E27FC236}">
                <a16:creationId xmlns:a16="http://schemas.microsoft.com/office/drawing/2014/main" id="{2C8E0CF7-FF31-4B20-B2EE-36B0EA50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9" name="bottom-0-title">
            <a:extLst xmlns:a="http://schemas.openxmlformats.org/drawingml/2006/main">
              <a:ext uri="{FF2B5EF4-FFF2-40B4-BE49-F238E27FC236}">
                <a16:creationId xmlns:a16="http://schemas.microsoft.com/office/drawing/2014/main" id="{ECF3C0C4-8B22-4E7A-A0E6-FCC0F930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30" name="bottom-0-detail">
            <a:extLst xmlns:a="http://schemas.openxmlformats.org/drawingml/2006/main">
              <a:ext uri="{FF2B5EF4-FFF2-40B4-BE49-F238E27FC236}">
                <a16:creationId xmlns:a16="http://schemas.microsoft.com/office/drawing/2014/main" id="{D0F8E7C0-DA84-47AD-94DC-6435D47A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Conciliación + audit trail</a:t>
            </a:r>
          </a:p>
        </p:txBody>
      </p:sp>
      <p:sp>
        <p:nvSpPr>
          <p:cNvPr id="31" name="bottom-1-box">
            <a:extLst xmlns:a="http://schemas.openxmlformats.org/drawingml/2006/main">
              <a:ext uri="{FF2B5EF4-FFF2-40B4-BE49-F238E27FC236}">
                <a16:creationId xmlns:a16="http://schemas.microsoft.com/office/drawing/2014/main" id="{569A2307-09B2-45D3-BEEC-A26B059E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1E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bottom-1-n">
            <a:extLst xmlns:a="http://schemas.openxmlformats.org/drawingml/2006/main">
              <a:ext uri="{FF2B5EF4-FFF2-40B4-BE49-F238E27FC236}">
                <a16:creationId xmlns:a16="http://schemas.microsoft.com/office/drawing/2014/main" id="{B9C7B27D-0524-4B88-99A3-A56B83D1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19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3" name="bottom-1-title">
            <a:extLst xmlns:a="http://schemas.openxmlformats.org/drawingml/2006/main">
              <a:ext uri="{FF2B5EF4-FFF2-40B4-BE49-F238E27FC236}">
                <a16:creationId xmlns:a16="http://schemas.microsoft.com/office/drawing/2014/main" id="{8385F921-DAFA-4E96-8568-D896E38B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6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Aprobación</a:t>
            </a:r>
          </a:p>
        </p:txBody>
      </p:sp>
      <p:sp>
        <p:nvSpPr>
          <p:cNvPr id="34" name="bottom-1-detail">
            <a:extLst xmlns:a="http://schemas.openxmlformats.org/drawingml/2006/main">
              <a:ext uri="{FF2B5EF4-FFF2-40B4-BE49-F238E27FC236}">
                <a16:creationId xmlns:a16="http://schemas.microsoft.com/office/drawing/2014/main" id="{F1D1C6B5-18AF-4422-96FA-40BA7177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911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Human gate obligatorio</a:t>
            </a:r>
          </a:p>
        </p:txBody>
      </p:sp>
      <p:sp>
        <p:nvSpPr>
          <p:cNvPr id="35" name="bottom-2-box">
            <a:extLst xmlns:a="http://schemas.openxmlformats.org/drawingml/2006/main">
              <a:ext uri="{FF2B5EF4-FFF2-40B4-BE49-F238E27FC236}">
                <a16:creationId xmlns:a16="http://schemas.microsoft.com/office/drawing/2014/main" id="{6953269A-DEAA-4BB5-B88D-A6A756CD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bottom-2-n">
            <a:extLst xmlns:a="http://schemas.openxmlformats.org/drawingml/2006/main">
              <a:ext uri="{FF2B5EF4-FFF2-40B4-BE49-F238E27FC236}">
                <a16:creationId xmlns:a16="http://schemas.microsoft.com/office/drawing/2014/main" id="{4D209D89-D26B-4DDD-BD22-7BE258E0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9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7" name="bottom-2-title">
            <a:extLst xmlns:a="http://schemas.openxmlformats.org/drawingml/2006/main">
              <a:ext uri="{FF2B5EF4-FFF2-40B4-BE49-F238E27FC236}">
                <a16:creationId xmlns:a16="http://schemas.microsoft.com/office/drawing/2014/main" id="{82430FC0-E3AE-462D-8E83-B865DDAD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Maker–checker</a:t>
            </a:r>
          </a:p>
        </p:txBody>
      </p:sp>
      <p:sp>
        <p:nvSpPr>
          <p:cNvPr id="38" name="bottom-2-detail">
            <a:extLst xmlns:a="http://schemas.openxmlformats.org/drawingml/2006/main">
              <a:ext uri="{FF2B5EF4-FFF2-40B4-BE49-F238E27FC236}">
                <a16:creationId xmlns:a16="http://schemas.microsoft.com/office/drawing/2014/main" id="{59F56F20-E8DA-4F74-9798-9B0A3860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911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Doble validación</a:t>
            </a:r>
          </a:p>
        </p:txBody>
      </p:sp>
      <p:sp>
        <p:nvSpPr>
          <p:cNvPr id="39" name="bottom-3-box">
            <a:extLst xmlns:a="http://schemas.openxmlformats.org/drawingml/2006/main">
              <a:ext uri="{FF2B5EF4-FFF2-40B4-BE49-F238E27FC236}">
                <a16:creationId xmlns:a16="http://schemas.microsoft.com/office/drawing/2014/main" id="{F0E10960-90A7-4938-932B-282FAC7D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8625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0" name="bottom-3-n">
            <a:extLst xmlns:a="http://schemas.openxmlformats.org/drawingml/2006/main">
              <a:ext uri="{FF2B5EF4-FFF2-40B4-BE49-F238E27FC236}">
                <a16:creationId xmlns:a16="http://schemas.microsoft.com/office/drawing/2014/main" id="{E5EED8A2-7597-4611-9FEC-30C8D863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19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1" name="bottom-3-title">
            <a:extLst xmlns:a="http://schemas.openxmlformats.org/drawingml/2006/main">
              <a:ext uri="{FF2B5EF4-FFF2-40B4-BE49-F238E27FC236}">
                <a16:creationId xmlns:a16="http://schemas.microsoft.com/office/drawing/2014/main" id="{2D50F2D9-32DD-427A-B8E7-A1E0E667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86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Revisión</a:t>
            </a:r>
          </a:p>
        </p:txBody>
      </p:sp>
      <p:sp>
        <p:nvSpPr>
          <p:cNvPr id="42" name="bottom-3-detail">
            <a:extLst xmlns:a="http://schemas.openxmlformats.org/drawingml/2006/main">
              <a:ext uri="{FF2B5EF4-FFF2-40B4-BE49-F238E27FC236}">
                <a16:creationId xmlns:a16="http://schemas.microsoft.com/office/drawing/2014/main" id="{B7B189F9-02C3-4F27-B983-321C9352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911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Solo datos inciertos</a:t>
            </a:r>
          </a:p>
        </p:txBody>
      </p:sp>
      <p:sp>
        <p:nvSpPr>
          <p:cNvPr id="43" name="flow-top-arrow-0">
            <a:extLst xmlns:a="http://schemas.openxmlformats.org/drawingml/2006/main">
              <a:ext uri="{FF2B5EF4-FFF2-40B4-BE49-F238E27FC236}">
                <a16:creationId xmlns:a16="http://schemas.microsoft.com/office/drawing/2014/main" id="{79E07E5D-6622-4BA6-A658-1C48323C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479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4" name="flow-bottom-arrow-0">
            <a:extLst xmlns:a="http://schemas.openxmlformats.org/drawingml/2006/main">
              <a:ext uri="{FF2B5EF4-FFF2-40B4-BE49-F238E27FC236}">
                <a16:creationId xmlns:a16="http://schemas.microsoft.com/office/drawing/2014/main" id="{6DC2DA16-AB9A-4C56-9F25-52E3D411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57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5" name="flow-top-arrow-1">
            <a:extLst xmlns:a="http://schemas.openxmlformats.org/drawingml/2006/main">
              <a:ext uri="{FF2B5EF4-FFF2-40B4-BE49-F238E27FC236}">
                <a16:creationId xmlns:a16="http://schemas.microsoft.com/office/drawing/2014/main" id="{579DC809-E88F-4A59-A071-19735542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479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flow-bottom-arrow-1">
            <a:extLst xmlns:a="http://schemas.openxmlformats.org/drawingml/2006/main">
              <a:ext uri="{FF2B5EF4-FFF2-40B4-BE49-F238E27FC236}">
                <a16:creationId xmlns:a16="http://schemas.microsoft.com/office/drawing/2014/main" id="{305169B9-6E4C-465A-A881-4336C602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57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7" name="flow-top-arrow-2">
            <a:extLst xmlns:a="http://schemas.openxmlformats.org/drawingml/2006/main">
              <a:ext uri="{FF2B5EF4-FFF2-40B4-BE49-F238E27FC236}">
                <a16:creationId xmlns:a16="http://schemas.microsoft.com/office/drawing/2014/main" id="{3920AC14-D669-42AC-A50C-91C68FEB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479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8" name="flow-bottom-arrow-2">
            <a:extLst xmlns:a="http://schemas.openxmlformats.org/drawingml/2006/main">
              <a:ext uri="{FF2B5EF4-FFF2-40B4-BE49-F238E27FC236}">
                <a16:creationId xmlns:a16="http://schemas.microsoft.com/office/drawing/2014/main" id="{93AA67ED-CC56-4128-B817-FFAA50B6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57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9" name="flow-down-arrow">
            <a:extLst xmlns:a="http://schemas.openxmlformats.org/drawingml/2006/main">
              <a:ext uri="{FF2B5EF4-FFF2-40B4-BE49-F238E27FC236}">
                <a16:creationId xmlns:a16="http://schemas.microsoft.com/office/drawing/2014/main" id="{FC2640F6-8B29-48DF-AF20-E5CC73D3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623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0" name="flow-automation-label">
            <a:extLst xmlns:a="http://schemas.openxmlformats.org/drawingml/2006/main">
              <a:ext uri="{FF2B5EF4-FFF2-40B4-BE49-F238E27FC236}">
                <a16:creationId xmlns:a16="http://schemas.microsoft.com/office/drawing/2014/main" id="{B36C4150-1500-4C16-9422-0C2D6491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AUTOMATIZACIÓN Y CONTROL</a:t>
            </a:r>
          </a:p>
        </p:txBody>
      </p:sp>
      <p:sp>
        <p:nvSpPr>
          <p:cNvPr id="51" name="flow-governance-label">
            <a:extLst xmlns:a="http://schemas.openxmlformats.org/drawingml/2006/main">
              <a:ext uri="{FF2B5EF4-FFF2-40B4-BE49-F238E27FC236}">
                <a16:creationId xmlns:a16="http://schemas.microsoft.com/office/drawing/2014/main" id="{B97B4131-B146-40FA-AFF0-C9855F6F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GOBIERNO Y DECISIÓN</a:t>
            </a:r>
          </a:p>
        </p:txBody>
      </p:sp>
      <p:sp>
        <p:nvSpPr>
          <p:cNvPr id="52" name="footer-note-4">
            <a:extLst xmlns:a="http://schemas.openxmlformats.org/drawingml/2006/main">
              <a:ext uri="{FF2B5EF4-FFF2-40B4-BE49-F238E27FC236}">
                <a16:creationId xmlns:a16="http://schemas.microsoft.com/office/drawing/2014/main" id="{4BC78CE1-1B93-4818-94FE-68FBBE41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Demo + PoC privado</a:t>
            </a:r>
          </a:p>
        </p:txBody>
      </p:sp>
      <p:sp>
        <p:nvSpPr>
          <p:cNvPr id="5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1C479FD3-565F-4D2B-A99A-18CD51FF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93302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DE5937D6-31C7-47FF-B952-90CC6565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VALIDACIÓN DEL PRODUCTO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BF9A50E-5637-4FB7-B04D-4AE81130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8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Demo y PoC responden preguntas distintas antes de integrar.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3B0A39C2-E10E-454B-928A-FEF93F8E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mo-index">
            <a:extLst xmlns:a="http://schemas.openxmlformats.org/drawingml/2006/main">
              <a:ext uri="{FF2B5EF4-FFF2-40B4-BE49-F238E27FC236}">
                <a16:creationId xmlns:a16="http://schemas.microsoft.com/office/drawing/2014/main" id="{507A90CB-A8D8-429E-8B07-0C1A6D98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demo-title">
            <a:extLst xmlns:a="http://schemas.openxmlformats.org/drawingml/2006/main">
              <a:ext uri="{FF2B5EF4-FFF2-40B4-BE49-F238E27FC236}">
                <a16:creationId xmlns:a16="http://schemas.microsoft.com/office/drawing/2014/main" id="{8CC625D7-D49D-466B-9BF8-C9C56C68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Demo guiada</a:t>
            </a:r>
          </a:p>
        </p:txBody>
      </p:sp>
      <p:sp>
        <p:nvSpPr>
          <p:cNvPr id="6" name="demo-question">
            <a:extLst xmlns:a="http://schemas.openxmlformats.org/drawingml/2006/main">
              <a:ext uri="{FF2B5EF4-FFF2-40B4-BE49-F238E27FC236}">
                <a16:creationId xmlns:a16="http://schemas.microsoft.com/office/drawing/2014/main" id="{95A022F9-7552-4425-93BD-52EC9FF8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¿Cómo funciona el circuito completo?</a:t>
            </a:r>
          </a:p>
        </p:txBody>
      </p:sp>
      <p:sp>
        <p:nvSpPr>
          <p:cNvPr id="7" name="demo-body">
            <a:extLst xmlns:a="http://schemas.openxmlformats.org/drawingml/2006/main">
              <a:ext uri="{FF2B5EF4-FFF2-40B4-BE49-F238E27FC236}">
                <a16:creationId xmlns:a16="http://schemas.microsoft.com/office/drawing/2014/main" id="{50984114-B752-47A4-80A4-D477D77A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Recorre un mes sintético: intake, controles, excepciones, maker–checker, aprobación humana y audit trail.</a:t>
            </a:r>
          </a:p>
        </p:txBody>
      </p:sp>
      <p:sp>
        <p:nvSpPr>
          <p:cNvPr id="8" name="demo-for">
            <a:extLst xmlns:a="http://schemas.openxmlformats.org/drawingml/2006/main">
              <a:ext uri="{FF2B5EF4-FFF2-40B4-BE49-F238E27FC236}">
                <a16:creationId xmlns:a16="http://schemas.microsoft.com/office/drawing/2014/main" id="{67EB7B44-8145-4CCC-B522-EF9D1E0E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Ideal para equipos de Finanzas, Operaciones, Tesorería y Riesgo.</a:t>
            </a:r>
          </a:p>
        </p:txBody>
      </p:sp>
      <p:sp>
        <p:nvSpPr>
          <p:cNvPr id="9" name="demo-link">
            <a:extLst xmlns:a="http://schemas.openxmlformats.org/drawingml/2006/main">
              <a:ext uri="{FF2B5EF4-FFF2-40B4-BE49-F238E27FC236}">
                <a16:creationId xmlns:a16="http://schemas.microsoft.com/office/drawing/2014/main" id="{4B1E0925-26AE-4955-957F-8A9B9317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3677C"/>
                </a:solidFill>
                <a:latin typeface="Aptos"/>
                <a:ea typeface="Aptos"/>
                <a:cs typeface="Aptos"/>
              </a:rPr>
              <a:t/>
            </a:r>
            <a:r>
              <a:rPr sz="1350" b="1" u="sng">
                <a:solidFill>
                  <a:srgbClr val="53677C"/>
                </a:solidFill>
                <a:latin typeface="Aptos"/>
                <a:ea typeface="Aptos"/>
                <a:cs typeface="Aptos"/>
                <a:hlinkClick xmlns:r="http://schemas.openxmlformats.org/officeDocument/2006/relationships" r:id="R6e88ed8c927846a2"/>
              </a:rPr>
              <a:t>Abrir demo guiada ↗</a:t>
            </a:r>
          </a:p>
        </p:txBody>
      </p:sp>
      <p:sp>
        <p:nvSpPr>
          <p:cNvPr id="10" name="demo-poc-divider">
            <a:extLst xmlns:a="http://schemas.openxmlformats.org/drawingml/2006/main">
              <a:ext uri="{FF2B5EF4-FFF2-40B4-BE49-F238E27FC236}">
                <a16:creationId xmlns:a16="http://schemas.microsoft.com/office/drawing/2014/main" id="{39BC6BB2-6346-42EB-A662-BE3563F2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oc-index">
            <a:extLst xmlns:a="http://schemas.openxmlformats.org/drawingml/2006/main">
              <a:ext uri="{FF2B5EF4-FFF2-40B4-BE49-F238E27FC236}">
                <a16:creationId xmlns:a16="http://schemas.microsoft.com/office/drawing/2014/main" id="{26508BE8-1A28-414F-9F69-27BE8A37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poc-title">
            <a:extLst xmlns:a="http://schemas.openxmlformats.org/drawingml/2006/main">
              <a:ext uri="{FF2B5EF4-FFF2-40B4-BE49-F238E27FC236}">
                <a16:creationId xmlns:a16="http://schemas.microsoft.com/office/drawing/2014/main" id="{AB3A9C42-4DB1-4EB7-95B0-02E4AB29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PoC con documentos</a:t>
            </a:r>
          </a:p>
        </p:txBody>
      </p:sp>
      <p:sp>
        <p:nvSpPr>
          <p:cNvPr id="13" name="poc-question">
            <a:extLst xmlns:a="http://schemas.openxmlformats.org/drawingml/2006/main">
              <a:ext uri="{FF2B5EF4-FFF2-40B4-BE49-F238E27FC236}">
                <a16:creationId xmlns:a16="http://schemas.microsoft.com/office/drawing/2014/main" id="{732DE47A-5D91-4A16-AB89-05F95527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¿Cómo responde ante nuestras facturas?</a:t>
            </a:r>
          </a:p>
        </p:txBody>
      </p:sp>
      <p:sp>
        <p:nvSpPr>
          <p:cNvPr id="14" name="poc-body">
            <a:extLst xmlns:a="http://schemas.openxmlformats.org/drawingml/2006/main">
              <a:ext uri="{FF2B5EF4-FFF2-40B4-BE49-F238E27FC236}">
                <a16:creationId xmlns:a16="http://schemas.microsoft.com/office/drawing/2014/main" id="{72EC0218-0D6C-4E7A-8E6B-3EE0999E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Permite cargar facturas reales, observar la extracción de Document AI y revisar campos inciertos antes de una propuesta controlada.</a:t>
            </a:r>
          </a:p>
        </p:txBody>
      </p:sp>
      <p:sp>
        <p:nvSpPr>
          <p:cNvPr id="15" name="poc-for">
            <a:extLst xmlns:a="http://schemas.openxmlformats.org/drawingml/2006/main">
              <a:ext uri="{FF2B5EF4-FFF2-40B4-BE49-F238E27FC236}">
                <a16:creationId xmlns:a16="http://schemas.microsoft.com/office/drawing/2014/main" id="{95B650D9-9091-46EE-A641-3307D720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006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Ideal para validar formatos, calidad de datos y rutas de excepción.</a:t>
            </a:r>
          </a:p>
        </p:txBody>
      </p:sp>
      <p:sp>
        <p:nvSpPr>
          <p:cNvPr id="16" name="poc-link">
            <a:extLst xmlns:a="http://schemas.openxmlformats.org/drawingml/2006/main">
              <a:ext uri="{FF2B5EF4-FFF2-40B4-BE49-F238E27FC236}">
                <a16:creationId xmlns:a16="http://schemas.microsoft.com/office/drawing/2014/main" id="{BC8C9B20-E789-49C0-A820-C1B9BFE5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53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3677C"/>
                </a:solidFill>
                <a:latin typeface="Aptos"/>
                <a:ea typeface="Aptos"/>
                <a:cs typeface="Aptos"/>
              </a:rPr>
              <a:t/>
            </a:r>
            <a:r>
              <a:rPr sz="1350" b="1" u="sng">
                <a:solidFill>
                  <a:srgbClr val="53677C"/>
                </a:solidFill>
                <a:latin typeface="Aptos"/>
                <a:ea typeface="Aptos"/>
                <a:cs typeface="Aptos"/>
                <a:hlinkClick xmlns:r="http://schemas.openxmlformats.org/officeDocument/2006/relationships" r:id="Ra969c0b6946b447e"/>
              </a:rPr>
              <a:t>Abrir PoC con documentos ↗</a:t>
            </a:r>
          </a:p>
        </p:txBody>
      </p:sp>
      <p:sp>
        <p:nvSpPr>
          <p:cNvPr id="17" name="footer-note-5">
            <a:extLst xmlns:a="http://schemas.openxmlformats.org/drawingml/2006/main">
              <a:ext uri="{FF2B5EF4-FFF2-40B4-BE49-F238E27FC236}">
                <a16:creationId xmlns:a16="http://schemas.microsoft.com/office/drawing/2014/main" id="{1A91E1D8-0326-441F-8784-FD999052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Demo + PoC privado</a:t>
            </a:r>
          </a:p>
        </p:txBody>
      </p:sp>
      <p:sp>
        <p:nvSpPr>
          <p:cNvPr id="18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9304D556-7479-4272-A6FF-D9B8917D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2023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F70154EC-9200-4F57-84D4-28680CCF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CASOS DE USO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6824595-DA18-4C8F-8675-45A8961D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Las excepciones dejan de ser mensajes y se convierten en trabajo controlado.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1A6E6817-FB65-4536-BF14-BF498392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se-n-0">
            <a:extLst xmlns:a="http://schemas.openxmlformats.org/drawingml/2006/main">
              <a:ext uri="{FF2B5EF4-FFF2-40B4-BE49-F238E27FC236}">
                <a16:creationId xmlns:a16="http://schemas.microsoft.com/office/drawing/2014/main" id="{E48A7220-FADC-4CF7-AE19-1F1F34CB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case-title-0">
            <a:extLst xmlns:a="http://schemas.openxmlformats.org/drawingml/2006/main">
              <a:ext uri="{FF2B5EF4-FFF2-40B4-BE49-F238E27FC236}">
                <a16:creationId xmlns:a16="http://schemas.microsoft.com/office/drawing/2014/main" id="{0246F083-3E6C-432A-A7B6-E63086E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Duplicados y casi-duplicados</a:t>
            </a:r>
          </a:p>
        </p:txBody>
      </p:sp>
      <p:sp>
        <p:nvSpPr>
          <p:cNvPr id="6" name="case-body-0">
            <a:extLst xmlns:a="http://schemas.openxmlformats.org/drawingml/2006/main">
              <a:ext uri="{FF2B5EF4-FFF2-40B4-BE49-F238E27FC236}">
                <a16:creationId xmlns:a16="http://schemas.microsoft.com/office/drawing/2014/main" id="{1FE128F6-B751-408F-9894-80A4A646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Proveedor, número, importe y proximidad temporal.</a:t>
            </a:r>
          </a:p>
        </p:txBody>
      </p:sp>
      <p:sp>
        <p:nvSpPr>
          <p:cNvPr id="7" name="case-rule-0">
            <a:extLst xmlns:a="http://schemas.openxmlformats.org/drawingml/2006/main">
              <a:ext uri="{FF2B5EF4-FFF2-40B4-BE49-F238E27FC236}">
                <a16:creationId xmlns:a16="http://schemas.microsoft.com/office/drawing/2014/main" id="{2781B842-5D77-48A3-907C-3F2A6367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se-n-1">
            <a:extLst xmlns:a="http://schemas.openxmlformats.org/drawingml/2006/main">
              <a:ext uri="{FF2B5EF4-FFF2-40B4-BE49-F238E27FC236}">
                <a16:creationId xmlns:a16="http://schemas.microsoft.com/office/drawing/2014/main" id="{017C45F4-286E-4F0A-A0CA-F710BB30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ase-title-1">
            <a:extLst xmlns:a="http://schemas.openxmlformats.org/drawingml/2006/main">
              <a:ext uri="{FF2B5EF4-FFF2-40B4-BE49-F238E27FC236}">
                <a16:creationId xmlns:a16="http://schemas.microsoft.com/office/drawing/2014/main" id="{02D0F877-AB5A-4E26-B4E7-79C413F1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Cambio de IBAN</a:t>
            </a:r>
          </a:p>
        </p:txBody>
      </p:sp>
      <p:sp>
        <p:nvSpPr>
          <p:cNvPr id="10" name="case-body-1">
            <a:extLst xmlns:a="http://schemas.openxmlformats.org/drawingml/2006/main">
              <a:ext uri="{FF2B5EF4-FFF2-40B4-BE49-F238E27FC236}">
                <a16:creationId xmlns:a16="http://schemas.microsoft.com/office/drawing/2014/main" id="{4F72B81E-3B38-4F26-998A-4E3083DD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Comparación independiente contra el maestro bancario.</a:t>
            </a:r>
          </a:p>
        </p:txBody>
      </p:sp>
      <p:sp>
        <p:nvSpPr>
          <p:cNvPr id="11" name="case-rule-1">
            <a:extLst xmlns:a="http://schemas.openxmlformats.org/drawingml/2006/main">
              <a:ext uri="{FF2B5EF4-FFF2-40B4-BE49-F238E27FC236}">
                <a16:creationId xmlns:a16="http://schemas.microsoft.com/office/drawing/2014/main" id="{F6D888F3-2D29-452B-AFA1-9CE8B57C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se-n-2">
            <a:extLst xmlns:a="http://schemas.openxmlformats.org/drawingml/2006/main">
              <a:ext uri="{FF2B5EF4-FFF2-40B4-BE49-F238E27FC236}">
                <a16:creationId xmlns:a16="http://schemas.microsoft.com/office/drawing/2014/main" id="{EF21F923-0FDB-4437-B0CF-4645BCE9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case-title-2">
            <a:extLst xmlns:a="http://schemas.openxmlformats.org/drawingml/2006/main">
              <a:ext uri="{FF2B5EF4-FFF2-40B4-BE49-F238E27FC236}">
                <a16:creationId xmlns:a16="http://schemas.microsoft.com/office/drawing/2014/main" id="{CDC8E5DF-A53D-4227-A965-FEBBF237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PO y non-PO</a:t>
            </a:r>
          </a:p>
        </p:txBody>
      </p:sp>
      <p:sp>
        <p:nvSpPr>
          <p:cNvPr id="14" name="case-body-2">
            <a:extLst xmlns:a="http://schemas.openxmlformats.org/drawingml/2006/main">
              <a:ext uri="{FF2B5EF4-FFF2-40B4-BE49-F238E27FC236}">
                <a16:creationId xmlns:a16="http://schemas.microsoft.com/office/drawing/2014/main" id="{A22E486A-81C6-4D14-8A46-14B8090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Match, saldo o ruta gobernada de aprobación e imputación.</a:t>
            </a:r>
          </a:p>
        </p:txBody>
      </p:sp>
      <p:sp>
        <p:nvSpPr>
          <p:cNvPr id="15" name="case-n-3">
            <a:extLst xmlns:a="http://schemas.openxmlformats.org/drawingml/2006/main">
              <a:ext uri="{FF2B5EF4-FFF2-40B4-BE49-F238E27FC236}">
                <a16:creationId xmlns:a16="http://schemas.microsoft.com/office/drawing/2014/main" id="{0DB16C3E-83CA-40BE-9B81-69363179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case-title-3">
            <a:extLst xmlns:a="http://schemas.openxmlformats.org/drawingml/2006/main">
              <a:ext uri="{FF2B5EF4-FFF2-40B4-BE49-F238E27FC236}">
                <a16:creationId xmlns:a16="http://schemas.microsoft.com/office/drawing/2014/main" id="{D17EDBCE-2932-42CC-8AD5-138A371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Proformas y anticipos</a:t>
            </a:r>
          </a:p>
        </p:txBody>
      </p:sp>
      <p:sp>
        <p:nvSpPr>
          <p:cNvPr id="17" name="case-body-3">
            <a:extLst xmlns:a="http://schemas.openxmlformats.org/drawingml/2006/main">
              <a:ext uri="{FF2B5EF4-FFF2-40B4-BE49-F238E27FC236}">
                <a16:creationId xmlns:a16="http://schemas.microsoft.com/office/drawing/2014/main" id="{498AFE51-AD49-4B5B-BBA8-28E1E34C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Flujo separado que nunca se confunde con una factura final.</a:t>
            </a:r>
          </a:p>
        </p:txBody>
      </p:sp>
      <p:sp>
        <p:nvSpPr>
          <p:cNvPr id="18" name="case-rule-3">
            <a:extLst xmlns:a="http://schemas.openxmlformats.org/drawingml/2006/main">
              <a:ext uri="{FF2B5EF4-FFF2-40B4-BE49-F238E27FC236}">
                <a16:creationId xmlns:a16="http://schemas.microsoft.com/office/drawing/2014/main" id="{2F1304CA-13A2-4845-B0B6-A413BC25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se-n-4">
            <a:extLst xmlns:a="http://schemas.openxmlformats.org/drawingml/2006/main">
              <a:ext uri="{FF2B5EF4-FFF2-40B4-BE49-F238E27FC236}">
                <a16:creationId xmlns:a16="http://schemas.microsoft.com/office/drawing/2014/main" id="{CC661A55-EC23-4D46-ACC4-28DDDE29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case-title-4">
            <a:extLst xmlns:a="http://schemas.openxmlformats.org/drawingml/2006/main">
              <a:ext uri="{FF2B5EF4-FFF2-40B4-BE49-F238E27FC236}">
                <a16:creationId xmlns:a16="http://schemas.microsoft.com/office/drawing/2014/main" id="{89ED4E1E-DA7D-415E-9D11-D29D96CC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814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SEPA y tarjeta</a:t>
            </a:r>
          </a:p>
        </p:txBody>
      </p:sp>
      <p:sp>
        <p:nvSpPr>
          <p:cNvPr id="21" name="case-body-4">
            <a:extLst xmlns:a="http://schemas.openxmlformats.org/drawingml/2006/main">
              <a:ext uri="{FF2B5EF4-FFF2-40B4-BE49-F238E27FC236}">
                <a16:creationId xmlns:a16="http://schemas.microsoft.com/office/drawing/2014/main" id="{D26C37DE-526B-4A43-AD1D-A214E167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00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Validación de mandato o tarea de conciliación posterior.</a:t>
            </a:r>
          </a:p>
        </p:txBody>
      </p:sp>
      <p:sp>
        <p:nvSpPr>
          <p:cNvPr id="22" name="case-rule-4">
            <a:extLst xmlns:a="http://schemas.openxmlformats.org/drawingml/2006/main">
              <a:ext uri="{FF2B5EF4-FFF2-40B4-BE49-F238E27FC236}">
                <a16:creationId xmlns:a16="http://schemas.microsoft.com/office/drawing/2014/main" id="{9C7EC94C-FC26-4450-A811-9EB0022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se-n-5">
            <a:extLst xmlns:a="http://schemas.openxmlformats.org/drawingml/2006/main">
              <a:ext uri="{FF2B5EF4-FFF2-40B4-BE49-F238E27FC236}">
                <a16:creationId xmlns:a16="http://schemas.microsoft.com/office/drawing/2014/main" id="{0A928686-3BD9-4F74-9E3B-2903D404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case-title-5">
            <a:extLst xmlns:a="http://schemas.openxmlformats.org/drawingml/2006/main">
              <a:ext uri="{FF2B5EF4-FFF2-40B4-BE49-F238E27FC236}">
                <a16:creationId xmlns:a16="http://schemas.microsoft.com/office/drawing/2014/main" id="{F4A6B686-2832-48F8-8805-C3F8AEE3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863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Cashflow versus ERP</a:t>
            </a:r>
          </a:p>
        </p:txBody>
      </p:sp>
      <p:sp>
        <p:nvSpPr>
          <p:cNvPr id="25" name="case-body-5">
            <a:extLst xmlns:a="http://schemas.openxmlformats.org/drawingml/2006/main">
              <a:ext uri="{FF2B5EF4-FFF2-40B4-BE49-F238E27FC236}">
                <a16:creationId xmlns:a16="http://schemas.microsoft.com/office/drawing/2014/main" id="{2D37135B-A474-46C6-B583-CFF05E8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054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Diferencias detectadas antes de enviar el lote al banco.</a:t>
            </a:r>
          </a:p>
        </p:txBody>
      </p:sp>
      <p:sp>
        <p:nvSpPr>
          <p:cNvPr id="26" name="cases-close">
            <a:extLst xmlns:a="http://schemas.openxmlformats.org/drawingml/2006/main">
              <a:ext uri="{FF2B5EF4-FFF2-40B4-BE49-F238E27FC236}">
                <a16:creationId xmlns:a16="http://schemas.microsoft.com/office/drawing/2014/main" id="{A9CF19C9-67EE-4A0D-ADA5-CDD6ACD3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Cada excepción conserva motivo, evidencia, responsable y decisión para auditoría.</a:t>
            </a:r>
          </a:p>
        </p:txBody>
      </p:sp>
      <p:sp>
        <p:nvSpPr>
          <p:cNvPr id="27" name="footer-note-6">
            <a:extLst xmlns:a="http://schemas.openxmlformats.org/drawingml/2006/main">
              <a:ext uri="{FF2B5EF4-FFF2-40B4-BE49-F238E27FC236}">
                <a16:creationId xmlns:a16="http://schemas.microsoft.com/office/drawing/2014/main" id="{401D5FD4-566A-40DC-870D-5C7CE4BD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Demo + PoC privado</a:t>
            </a:r>
          </a:p>
        </p:txBody>
      </p:sp>
      <p:sp>
        <p:nvSpPr>
          <p:cNvPr id="28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AFCDA68A-E290-4D0F-BD72-148CE019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06201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33A475CC-CA69-4868-A6DF-3811D64B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EVIDENCIA DE PRODUCTO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B0DB2F4-968C-4473-8052-F10587F2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La demo prueba que los controles funcionan bajo escenarios definidos.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8CBC7AD8-AB96-45F1-81C6-A673082D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Corrida sintética auditada de junio de 2026; no representa resultados históricos de un cliente.</a:t>
            </a:r>
          </a:p>
        </p:txBody>
      </p:sp>
      <p:sp>
        <p:nvSpPr>
          <p:cNvPr id="4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5872DA47-24CB-4567-B1D5-A0A4C12E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vidence-1-surface">
            <a:extLst xmlns:a="http://schemas.openxmlformats.org/drawingml/2006/main">
              <a:ext uri="{FF2B5EF4-FFF2-40B4-BE49-F238E27FC236}">
                <a16:creationId xmlns:a16="http://schemas.microsoft.com/office/drawing/2014/main" id="{652006C6-B882-4019-A732-1C2947E9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533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vidence-1-value">
            <a:extLst xmlns:a="http://schemas.openxmlformats.org/drawingml/2006/main">
              <a:ext uri="{FF2B5EF4-FFF2-40B4-BE49-F238E27FC236}">
                <a16:creationId xmlns:a16="http://schemas.microsoft.com/office/drawing/2014/main" id="{98DBE6CF-1AD4-44D6-9475-2EC9DF75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7" name="evidence-1-label">
            <a:extLst xmlns:a="http://schemas.openxmlformats.org/drawingml/2006/main">
              <a:ext uri="{FF2B5EF4-FFF2-40B4-BE49-F238E27FC236}">
                <a16:creationId xmlns:a16="http://schemas.microsoft.com/office/drawing/2014/main" id="{07CFB870-384D-454B-B475-D82DE6C9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documentos procesados</a:t>
            </a:r>
          </a:p>
        </p:txBody>
      </p:sp>
      <p:sp>
        <p:nvSpPr>
          <p:cNvPr id="8" name="evidence-2-surface">
            <a:extLst xmlns:a="http://schemas.openxmlformats.org/drawingml/2006/main">
              <a:ext uri="{FF2B5EF4-FFF2-40B4-BE49-F238E27FC236}">
                <a16:creationId xmlns:a16="http://schemas.microsoft.com/office/drawing/2014/main" id="{6BF0C0DB-D50A-4236-BAB9-48FB73FE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533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idence-2-value">
            <a:extLst xmlns:a="http://schemas.openxmlformats.org/drawingml/2006/main">
              <a:ext uri="{FF2B5EF4-FFF2-40B4-BE49-F238E27FC236}">
                <a16:creationId xmlns:a16="http://schemas.microsoft.com/office/drawing/2014/main" id="{1124B135-8DEE-493B-8FBD-894D91A0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0" name="evidence-2-label">
            <a:extLst xmlns:a="http://schemas.openxmlformats.org/drawingml/2006/main">
              <a:ext uri="{FF2B5EF4-FFF2-40B4-BE49-F238E27FC236}">
                <a16:creationId xmlns:a16="http://schemas.microsoft.com/office/drawing/2014/main" id="{5C938C0D-E527-4AAF-8FA4-05899A77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3852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facturas pagables</a:t>
            </a:r>
          </a:p>
        </p:txBody>
      </p:sp>
      <p:sp>
        <p:nvSpPr>
          <p:cNvPr id="11" name="evidence-3-surface">
            <a:extLst xmlns:a="http://schemas.openxmlformats.org/drawingml/2006/main">
              <a:ext uri="{FF2B5EF4-FFF2-40B4-BE49-F238E27FC236}">
                <a16:creationId xmlns:a16="http://schemas.microsoft.com/office/drawing/2014/main" id="{09AC8BFC-A03B-4336-8C29-EE4EA52F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533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idence-3-value">
            <a:extLst xmlns:a="http://schemas.openxmlformats.org/drawingml/2006/main">
              <a:ext uri="{FF2B5EF4-FFF2-40B4-BE49-F238E27FC236}">
                <a16:creationId xmlns:a16="http://schemas.microsoft.com/office/drawing/2014/main" id="{68408B45-5326-4C68-9DEF-410D23E8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003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€98.859,85</a:t>
            </a:r>
          </a:p>
        </p:txBody>
      </p:sp>
      <p:sp>
        <p:nvSpPr>
          <p:cNvPr id="13" name="evidence-3-label">
            <a:extLst xmlns:a="http://schemas.openxmlformats.org/drawingml/2006/main">
              <a:ext uri="{FF2B5EF4-FFF2-40B4-BE49-F238E27FC236}">
                <a16:creationId xmlns:a16="http://schemas.microsoft.com/office/drawing/2014/main" id="{0FF50C44-F774-48A2-8C91-5E3329D1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3852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propuestos para pago</a:t>
            </a:r>
          </a:p>
        </p:txBody>
      </p:sp>
      <p:sp>
        <p:nvSpPr>
          <p:cNvPr id="14" name="evidence-4-surface">
            <a:extLst xmlns:a="http://schemas.openxmlformats.org/drawingml/2006/main">
              <a:ext uri="{FF2B5EF4-FFF2-40B4-BE49-F238E27FC236}">
                <a16:creationId xmlns:a16="http://schemas.microsoft.com/office/drawing/2014/main" id="{6206E033-A931-4CA8-868C-C444ED71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28003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E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4-value">
            <a:extLst xmlns:a="http://schemas.openxmlformats.org/drawingml/2006/main">
              <a:ext uri="{FF2B5EF4-FFF2-40B4-BE49-F238E27FC236}">
                <a16:creationId xmlns:a16="http://schemas.microsoft.com/office/drawing/2014/main" id="{14FCDDA1-9C32-4016-8607-41607873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241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9A4951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9A4951"/>
                </a:solidFill>
                <a:latin typeface="Aptos"/>
                <a:ea typeface="Aptos"/>
                <a:cs typeface="Aptos"/>
              </a:rPr>
              <a:t>€42.057,30</a:t>
            </a:r>
          </a:p>
        </p:txBody>
      </p:sp>
      <p:sp>
        <p:nvSpPr>
          <p:cNvPr id="16" name="evidence-4-label">
            <a:extLst xmlns:a="http://schemas.openxmlformats.org/drawingml/2006/main">
              <a:ext uri="{FF2B5EF4-FFF2-40B4-BE49-F238E27FC236}">
                <a16:creationId xmlns:a16="http://schemas.microsoft.com/office/drawing/2014/main" id="{A929DAE5-73FD-41CC-8E09-C3F79789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3852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retenidos por controles</a:t>
            </a:r>
          </a:p>
        </p:txBody>
      </p:sp>
      <p:sp>
        <p:nvSpPr>
          <p:cNvPr id="17" name="proof-title-0">
            <a:extLst xmlns:a="http://schemas.openxmlformats.org/drawingml/2006/main">
              <a:ext uri="{FF2B5EF4-FFF2-40B4-BE49-F238E27FC236}">
                <a16:creationId xmlns:a16="http://schemas.microsoft.com/office/drawing/2014/main" id="{C1A253AB-53A4-45A3-B0E9-2E32B0AE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IBAN divergente detenido</a:t>
            </a:r>
          </a:p>
        </p:txBody>
      </p:sp>
      <p:sp>
        <p:nvSpPr>
          <p:cNvPr id="18" name="proof-body-0">
            <a:extLst xmlns:a="http://schemas.openxmlformats.org/drawingml/2006/main">
              <a:ext uri="{FF2B5EF4-FFF2-40B4-BE49-F238E27FC236}">
                <a16:creationId xmlns:a16="http://schemas.microsoft.com/office/drawing/2014/main" id="{E79447A6-78D3-4250-A933-7A8AEBC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Bloqueo automático antes del lote.</a:t>
            </a:r>
          </a:p>
        </p:txBody>
      </p:sp>
      <p:sp>
        <p:nvSpPr>
          <p:cNvPr id="19" name="proof-title-1">
            <a:extLst xmlns:a="http://schemas.openxmlformats.org/drawingml/2006/main">
              <a:ext uri="{FF2B5EF4-FFF2-40B4-BE49-F238E27FC236}">
                <a16:creationId xmlns:a16="http://schemas.microsoft.com/office/drawing/2014/main" id="{633CAD8C-DB72-496C-9F82-560574C8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72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Gate humano no salteable</a:t>
            </a:r>
          </a:p>
        </p:txBody>
      </p:sp>
      <p:sp>
        <p:nvSpPr>
          <p:cNvPr id="20" name="proof-body-1">
            <a:extLst xmlns:a="http://schemas.openxmlformats.org/drawingml/2006/main">
              <a:ext uri="{FF2B5EF4-FFF2-40B4-BE49-F238E27FC236}">
                <a16:creationId xmlns:a16="http://schemas.microsoft.com/office/drawing/2014/main" id="{18F4B9EA-B42D-49A5-B4DE-6588FF59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92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Aprobación y doble sign-off obligatorios.</a:t>
            </a:r>
          </a:p>
        </p:txBody>
      </p:sp>
      <p:sp>
        <p:nvSpPr>
          <p:cNvPr id="21" name="proof-title-2">
            <a:extLst xmlns:a="http://schemas.openxmlformats.org/drawingml/2006/main">
              <a:ext uri="{FF2B5EF4-FFF2-40B4-BE49-F238E27FC236}">
                <a16:creationId xmlns:a16="http://schemas.microsoft.com/office/drawing/2014/main" id="{AECD3148-30D5-4DEF-8A5D-69A42FCF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Audit trail verificable</a:t>
            </a:r>
          </a:p>
        </p:txBody>
      </p:sp>
      <p:sp>
        <p:nvSpPr>
          <p:cNvPr id="22" name="proof-body-2">
            <a:extLst xmlns:a="http://schemas.openxmlformats.org/drawingml/2006/main">
              <a:ext uri="{FF2B5EF4-FFF2-40B4-BE49-F238E27FC236}">
                <a16:creationId xmlns:a16="http://schemas.microsoft.com/office/drawing/2014/main" id="{1E82ED05-BFC6-439B-B169-39C64499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292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Evidencia y decisiones encadenadas.</a:t>
            </a:r>
          </a:p>
        </p:txBody>
      </p:sp>
      <p:sp>
        <p:nvSpPr>
          <p:cNvPr id="23" name="proof-link">
            <a:extLst xmlns:a="http://schemas.openxmlformats.org/drawingml/2006/main">
              <a:ext uri="{FF2B5EF4-FFF2-40B4-BE49-F238E27FC236}">
                <a16:creationId xmlns:a16="http://schemas.microsoft.com/office/drawing/2014/main" id="{66468004-E299-4355-A5E6-14340191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77C"/>
                </a:solidFill>
                <a:latin typeface="Aptos"/>
                <a:ea typeface="Aptos"/>
                <a:cs typeface="Aptos"/>
              </a:rPr>
              <a:t>Ver el circuito: </a:t>
            </a:r>
            <a:r>
              <a:rPr sz="1200" b="1" u="sng">
                <a:solidFill>
                  <a:srgbClr val="53677C"/>
                </a:solidFill>
                <a:latin typeface="Aptos"/>
                <a:ea typeface="Aptos"/>
                <a:cs typeface="Aptos"/>
                <a:hlinkClick xmlns:r="http://schemas.openxmlformats.org/officeDocument/2006/relationships" r:id="R87bc1a26bd01485e"/>
              </a:rPr>
              <a:t>abrir demo guiada ↗</a:t>
            </a:r>
          </a:p>
        </p:txBody>
      </p:sp>
      <p:sp>
        <p:nvSpPr>
          <p:cNvPr id="24" name="footer-note-7">
            <a:extLst xmlns:a="http://schemas.openxmlformats.org/drawingml/2006/main">
              <a:ext uri="{FF2B5EF4-FFF2-40B4-BE49-F238E27FC236}">
                <a16:creationId xmlns:a16="http://schemas.microsoft.com/office/drawing/2014/main" id="{FE7F2008-8DB7-4498-B2BF-9726A2B9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Fuente: corrida sintética auditada · junio de 2026</a:t>
            </a:r>
          </a:p>
        </p:txBody>
      </p:sp>
      <p:sp>
        <p:nvSpPr>
          <p:cNvPr id="25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7070EDE2-7B2B-4C4A-B535-B3A1717A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60412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2602F367-3F93-480C-85FD-5B787FE0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SEGURIDAD DE LA INFORMACIÓN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800AC93F-962F-4AD0-B017-C29B9E29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Los documentos se procesan para la operación; no para entrenar Document AI.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D21A4D17-BA2F-413A-86CC-8068252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urity-left-label">
            <a:extLst xmlns:a="http://schemas.openxmlformats.org/drawingml/2006/main">
              <a:ext uri="{FF2B5EF4-FFF2-40B4-BE49-F238E27FC236}">
                <a16:creationId xmlns:a16="http://schemas.microsoft.com/office/drawing/2014/main" id="{7015F50A-4FFB-4B9C-A8AE-94E06C31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COMPROMISOS DE GOOGLE CLOUD</a:t>
            </a:r>
          </a:p>
        </p:txBody>
      </p:sp>
      <p:sp>
        <p:nvSpPr>
          <p:cNvPr id="5" name="security-left-title">
            <a:extLst xmlns:a="http://schemas.openxmlformats.org/drawingml/2006/main">
              <a:ext uri="{FF2B5EF4-FFF2-40B4-BE49-F238E27FC236}">
                <a16:creationId xmlns:a16="http://schemas.microsoft.com/office/drawing/2014/main" id="{837EEB6A-4787-4132-B866-F9199697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Contenido y predicciones fuera del entrenamiento</a:t>
            </a:r>
          </a:p>
        </p:txBody>
      </p:sp>
      <p:sp>
        <p:nvSpPr>
          <p:cNvPr id="6" name="security-left-body">
            <a:extLst xmlns:a="http://schemas.openxmlformats.org/drawingml/2006/main">
              <a:ext uri="{FF2B5EF4-FFF2-40B4-BE49-F238E27FC236}">
                <a16:creationId xmlns:a16="http://schemas.microsoft.com/office/drawing/2014/main" id="{220CC240-6BA4-43C9-B35E-11ACAF46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Google Cloud declara que no utiliza contenido del cliente —incluidos documentos y predicciones— para entrenar sus modelos de Document AI.</a:t>
            </a:r>
          </a:p>
        </p:txBody>
      </p:sp>
      <p:sp>
        <p:nvSpPr>
          <p:cNvPr id="7" name="security-docai">
            <a:extLst xmlns:a="http://schemas.openxmlformats.org/drawingml/2006/main">
              <a:ext uri="{FF2B5EF4-FFF2-40B4-BE49-F238E27FC236}">
                <a16:creationId xmlns:a16="http://schemas.microsoft.com/office/drawing/2014/main" id="{FACC6A96-3AB2-4FAC-8431-53F2A1D8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77C"/>
                </a:solidFill>
                <a:latin typeface="Aptos"/>
                <a:ea typeface="Aptos"/>
                <a:cs typeface="Aptos"/>
              </a:rPr>
              <a:t>Política oficial: </a:t>
            </a:r>
            <a:r>
              <a:rPr sz="1200" b="1" u="sng">
                <a:solidFill>
                  <a:srgbClr val="53677C"/>
                </a:solidFill>
                <a:latin typeface="Aptos"/>
                <a:ea typeface="Aptos"/>
                <a:cs typeface="Aptos"/>
                <a:hlinkClick xmlns:r="http://schemas.openxmlformats.org/officeDocument/2006/relationships" r:id="Rd17a64af8f1048d2"/>
              </a:rPr>
              <a:t>Document AI Security ↗</a:t>
            </a:r>
          </a:p>
        </p:txBody>
      </p:sp>
      <p:sp>
        <p:nvSpPr>
          <p:cNvPr id="8" name="security-dpa">
            <a:extLst xmlns:a="http://schemas.openxmlformats.org/drawingml/2006/main">
              <a:ext uri="{FF2B5EF4-FFF2-40B4-BE49-F238E27FC236}">
                <a16:creationId xmlns:a16="http://schemas.microsoft.com/office/drawing/2014/main" id="{F9A4A59C-EC63-4630-B599-CB6BD436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77C"/>
                </a:solidFill>
                <a:latin typeface="Aptos"/>
                <a:ea typeface="Aptos"/>
                <a:cs typeface="Aptos"/>
              </a:rPr>
              <a:t>Términos de tratamiento: </a:t>
            </a:r>
            <a:r>
              <a:rPr sz="1200" b="1" u="sng">
                <a:solidFill>
                  <a:srgbClr val="53677C"/>
                </a:solidFill>
                <a:latin typeface="Aptos"/>
                <a:ea typeface="Aptos"/>
                <a:cs typeface="Aptos"/>
                <a:hlinkClick xmlns:r="http://schemas.openxmlformats.org/officeDocument/2006/relationships" r:id="R8df3fda2063c4a31"/>
              </a:rPr>
              <a:t>Cloud DPA ↗</a:t>
            </a:r>
          </a:p>
        </p:txBody>
      </p:sp>
      <p:sp>
        <p:nvSpPr>
          <p:cNvPr id="9" name="security-divider">
            <a:extLst xmlns:a="http://schemas.openxmlformats.org/drawingml/2006/main">
              <a:ext uri="{FF2B5EF4-FFF2-40B4-BE49-F238E27FC236}">
                <a16:creationId xmlns:a16="http://schemas.microsoft.com/office/drawing/2014/main" id="{301D0EA0-57A1-4517-810A-6BFCBA38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95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urity-right-label">
            <a:extLst xmlns:a="http://schemas.openxmlformats.org/drawingml/2006/main">
              <a:ext uri="{FF2B5EF4-FFF2-40B4-BE49-F238E27FC236}">
                <a16:creationId xmlns:a16="http://schemas.microsoft.com/office/drawing/2014/main" id="{3A64B597-8935-435F-8B9E-E04ED403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ARQUITECTURA DEL PRODUCTO</a:t>
            </a:r>
          </a:p>
        </p:txBody>
      </p:sp>
      <p:sp>
        <p:nvSpPr>
          <p:cNvPr id="11" name="sec-n-0">
            <a:extLst xmlns:a="http://schemas.openxmlformats.org/drawingml/2006/main">
              <a:ext uri="{FF2B5EF4-FFF2-40B4-BE49-F238E27FC236}">
                <a16:creationId xmlns:a16="http://schemas.microsoft.com/office/drawing/2014/main" id="{4B65CDC1-C2E8-49EE-A954-3A6EEBE6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sec-title-0">
            <a:extLst xmlns:a="http://schemas.openxmlformats.org/drawingml/2006/main">
              <a:ext uri="{FF2B5EF4-FFF2-40B4-BE49-F238E27FC236}">
                <a16:creationId xmlns:a16="http://schemas.microsoft.com/office/drawing/2014/main" id="{4D95DBC1-AA7C-4A63-80C3-2C49D833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Document AI</a:t>
            </a:r>
          </a:p>
        </p:txBody>
      </p:sp>
      <p:sp>
        <p:nvSpPr>
          <p:cNvPr id="13" name="sec-body-0">
            <a:extLst xmlns:a="http://schemas.openxmlformats.org/drawingml/2006/main">
              <a:ext uri="{FF2B5EF4-FFF2-40B4-BE49-F238E27FC236}">
                <a16:creationId xmlns:a16="http://schemas.microsoft.com/office/drawing/2014/main" id="{AE20D350-CD39-4EC3-9440-E8260CE0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86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Clasificación, OCR y extracción con confianza y evidencia.</a:t>
            </a:r>
          </a:p>
        </p:txBody>
      </p:sp>
      <p:sp>
        <p:nvSpPr>
          <p:cNvPr id="14" name="sec-n-1">
            <a:extLst xmlns:a="http://schemas.openxmlformats.org/drawingml/2006/main">
              <a:ext uri="{FF2B5EF4-FFF2-40B4-BE49-F238E27FC236}">
                <a16:creationId xmlns:a16="http://schemas.microsoft.com/office/drawing/2014/main" id="{DA949222-93DD-45F0-886A-6CC71E13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75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sec-title-1">
            <a:extLst xmlns:a="http://schemas.openxmlformats.org/drawingml/2006/main">
              <a:ext uri="{FF2B5EF4-FFF2-40B4-BE49-F238E27FC236}">
                <a16:creationId xmlns:a16="http://schemas.microsoft.com/office/drawing/2014/main" id="{5F3A5773-2F29-4AC6-A6C0-CD89BC2A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57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Python + Decimal</a:t>
            </a:r>
          </a:p>
        </p:txBody>
      </p:sp>
      <p:sp>
        <p:nvSpPr>
          <p:cNvPr id="16" name="sec-body-1">
            <a:extLst xmlns:a="http://schemas.openxmlformats.org/drawingml/2006/main">
              <a:ext uri="{FF2B5EF4-FFF2-40B4-BE49-F238E27FC236}">
                <a16:creationId xmlns:a16="http://schemas.microsoft.com/office/drawing/2014/main" id="{9281E228-E360-440F-8981-07018A5B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57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Reglas determinísticas para importes, controles y estados.</a:t>
            </a:r>
          </a:p>
        </p:txBody>
      </p:sp>
      <p:sp>
        <p:nvSpPr>
          <p:cNvPr id="17" name="sec-n-2">
            <a:extLst xmlns:a="http://schemas.openxmlformats.org/drawingml/2006/main">
              <a:ext uri="{FF2B5EF4-FFF2-40B4-BE49-F238E27FC236}">
                <a16:creationId xmlns:a16="http://schemas.microsoft.com/office/drawing/2014/main" id="{F432A0AF-9045-437F-81D7-09A8589F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sec-title-2">
            <a:extLst xmlns:a="http://schemas.openxmlformats.org/drawingml/2006/main">
              <a:ext uri="{FF2B5EF4-FFF2-40B4-BE49-F238E27FC236}">
                <a16:creationId xmlns:a16="http://schemas.microsoft.com/office/drawing/2014/main" id="{856A92E5-60E1-45C0-B3CD-28BB627E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Streamlit</a:t>
            </a:r>
          </a:p>
        </p:txBody>
      </p:sp>
      <p:sp>
        <p:nvSpPr>
          <p:cNvPr id="19" name="sec-body-2">
            <a:extLst xmlns:a="http://schemas.openxmlformats.org/drawingml/2006/main">
              <a:ext uri="{FF2B5EF4-FFF2-40B4-BE49-F238E27FC236}">
                <a16:creationId xmlns:a16="http://schemas.microsoft.com/office/drawing/2014/main" id="{6E997179-848B-49A0-888E-3B8074A5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29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Interfaz de revisión, excepciones y aprobación humana.</a:t>
            </a:r>
          </a:p>
        </p:txBody>
      </p:sp>
      <p:sp>
        <p:nvSpPr>
          <p:cNvPr id="20" name="sec-n-3">
            <a:extLst xmlns:a="http://schemas.openxmlformats.org/drawingml/2006/main">
              <a:ext uri="{FF2B5EF4-FFF2-40B4-BE49-F238E27FC236}">
                <a16:creationId xmlns:a16="http://schemas.microsoft.com/office/drawing/2014/main" id="{D89444ED-609E-4C7E-97A0-3F15CD67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sec-title-3">
            <a:extLst xmlns:a="http://schemas.openxmlformats.org/drawingml/2006/main">
              <a:ext uri="{FF2B5EF4-FFF2-40B4-BE49-F238E27FC236}">
                <a16:creationId xmlns:a16="http://schemas.microsoft.com/office/drawing/2014/main" id="{B02F6804-B820-4393-8A33-44190058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00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Cloud Run + Docker</a:t>
            </a:r>
          </a:p>
        </p:txBody>
      </p:sp>
      <p:sp>
        <p:nvSpPr>
          <p:cNvPr id="22" name="sec-body-3">
            <a:extLst xmlns:a="http://schemas.openxmlformats.org/drawingml/2006/main">
              <a:ext uri="{FF2B5EF4-FFF2-40B4-BE49-F238E27FC236}">
                <a16:creationId xmlns:a16="http://schemas.microsoft.com/office/drawing/2014/main" id="{601EB9AE-2ECB-4E41-B8F7-44A5BF55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00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Servicio reproducible; el PoC no persiste copias de los PDFs.</a:t>
            </a:r>
          </a:p>
        </p:txBody>
      </p:sp>
      <p:sp>
        <p:nvSpPr>
          <p:cNvPr id="23" name="sec-n-4">
            <a:extLst xmlns:a="http://schemas.openxmlformats.org/drawingml/2006/main">
              <a:ext uri="{FF2B5EF4-FFF2-40B4-BE49-F238E27FC236}">
                <a16:creationId xmlns:a16="http://schemas.microsoft.com/office/drawing/2014/main" id="{869E4583-7F93-4F7A-8902-DD86555D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sec-title-4">
            <a:extLst xmlns:a="http://schemas.openxmlformats.org/drawingml/2006/main">
              <a:ext uri="{FF2B5EF4-FFF2-40B4-BE49-F238E27FC236}">
                <a16:creationId xmlns:a16="http://schemas.microsoft.com/office/drawing/2014/main" id="{0CD94DA5-314C-4A90-B1AC-8327BEB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72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76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Secret Manager + audit trail</a:t>
            </a:r>
          </a:p>
        </p:txBody>
      </p:sp>
      <p:sp>
        <p:nvSpPr>
          <p:cNvPr id="25" name="sec-body-4">
            <a:extLst xmlns:a="http://schemas.openxmlformats.org/drawingml/2006/main">
              <a:ext uri="{FF2B5EF4-FFF2-40B4-BE49-F238E27FC236}">
                <a16:creationId xmlns:a16="http://schemas.microsoft.com/office/drawing/2014/main" id="{AA355A77-61CA-4477-810C-80B03BD9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72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Credenciales fuera del código y decisiones trazables.</a:t>
            </a:r>
          </a:p>
        </p:txBody>
      </p:sp>
      <p:sp>
        <p:nvSpPr>
          <p:cNvPr id="26" name="security-cloudrun">
            <a:extLst xmlns:a="http://schemas.openxmlformats.org/drawingml/2006/main">
              <a:ext uri="{FF2B5EF4-FFF2-40B4-BE49-F238E27FC236}">
                <a16:creationId xmlns:a16="http://schemas.microsoft.com/office/drawing/2014/main" id="{42B32473-98DB-419D-B392-CA0E7727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911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3677C"/>
                </a:solidFill>
                <a:latin typeface="Aptos"/>
                <a:ea typeface="Aptos"/>
                <a:cs typeface="Aptos"/>
              </a:rPr>
              <a:t>Referencia: </a:t>
            </a:r>
            <a:r>
              <a:rPr sz="1125" b="1" u="sng">
                <a:solidFill>
                  <a:srgbClr val="53677C"/>
                </a:solidFill>
                <a:latin typeface="Aptos"/>
                <a:ea typeface="Aptos"/>
                <a:cs typeface="Aptos"/>
                <a:hlinkClick xmlns:r="http://schemas.openxmlformats.org/officeDocument/2006/relationships" r:id="R8f674e8a4b7d475f"/>
              </a:rPr>
              <a:t>Cloud Run container contract ↗</a:t>
            </a:r>
          </a:p>
        </p:txBody>
      </p:sp>
      <p:sp>
        <p:nvSpPr>
          <p:cNvPr id="27" name="security-disclaimer">
            <a:extLst xmlns:a="http://schemas.openxmlformats.org/drawingml/2006/main">
              <a:ext uri="{FF2B5EF4-FFF2-40B4-BE49-F238E27FC236}">
                <a16:creationId xmlns:a16="http://schemas.microsoft.com/office/drawing/2014/main" id="{D7EC243D-EE5B-4AB6-871D-AE448783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1">
                <a:solidFill>
                  <a:srgbClr val="7C8A99"/>
                </a:solidFill>
                <a:latin typeface="Aptos"/>
                <a:ea typeface="Aptos"/>
                <a:cs typeface="Aptos"/>
              </a:rPr>
              <a:t>“Sin persistencia” describe esta aplicación. Google Cloud puede tratar datos operativos conforme a sus términos y políticas aplicables.</a:t>
            </a:r>
          </a:p>
        </p:txBody>
      </p:sp>
      <p:sp>
        <p:nvSpPr>
          <p:cNvPr id="28" name="footer-note-8">
            <a:extLst xmlns:a="http://schemas.openxmlformats.org/drawingml/2006/main">
              <a:ext uri="{FF2B5EF4-FFF2-40B4-BE49-F238E27FC236}">
                <a16:creationId xmlns:a16="http://schemas.microsoft.com/office/drawing/2014/main" id="{989C6300-93A3-423A-94A2-D03C4F64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Demo + PoC privado</a:t>
            </a:r>
          </a:p>
        </p:txBody>
      </p:sp>
      <p:sp>
        <p:nvSpPr>
          <p:cNvPr id="29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574E0249-A68E-4F03-8035-CB348E35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0321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531978A4-A23E-4AF3-9BE7-B8B293F6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CAMINO A DECISIÓN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7C524514-3DA7-464B-90B5-CC2313F3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Una muestra controlada convierte interés en una decisión de producto.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20854CF2-A126-4F48-B22B-D23A95FC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-main">
            <a:extLst xmlns:a="http://schemas.openxmlformats.org/drawingml/2006/main">
              <a:ext uri="{FF2B5EF4-FFF2-40B4-BE49-F238E27FC236}">
                <a16:creationId xmlns:a16="http://schemas.microsoft.com/office/drawing/2014/main" id="{A75AD826-FF1F-451B-89FE-4E29DBE2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24A20707-07E8-422A-8902-8B810EC9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28B"/>
          </a:solidFill>
          <a:ln xmlns:a="http://schemas.openxmlformats.org/drawingml/2006/main" w="19050">
            <a:solidFill>
              <a:srgbClr val="1B728B"/>
            </a:solidFill>
            <a:prstDash val="solid"/>
          </a:ln>
        </p:spPr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D46C5C18-E220-4204-80B8-F82CF306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7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E91768F1-630B-4EF8-B53C-321646DA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8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CD25940B-995A-4F3C-BF72-580BE375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9" name="stage-1-n">
            <a:extLst xmlns:a="http://schemas.openxmlformats.org/drawingml/2006/main">
              <a:ext uri="{FF2B5EF4-FFF2-40B4-BE49-F238E27FC236}">
                <a16:creationId xmlns:a16="http://schemas.microsoft.com/office/drawing/2014/main" id="{7B2730FA-25FF-4038-93BB-F19F7066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 · 90 minutos</a:t>
            </a:r>
          </a:p>
        </p:txBody>
      </p:sp>
      <p:sp>
        <p:nvSpPr>
          <p:cNvPr id="10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08614E61-85DC-468A-B5EB-6F7F80F6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Discovery ejecutivo</a:t>
            </a:r>
          </a:p>
        </p:txBody>
      </p:sp>
      <p:sp>
        <p:nvSpPr>
          <p:cNvPr id="11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1C00EB84-DE2B-4507-8D8D-BAB4A735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Volumen, tiempos, excepciones, sistemas y controles prioritarios.</a:t>
            </a:r>
          </a:p>
        </p:txBody>
      </p:sp>
      <p:sp>
        <p:nvSpPr>
          <p:cNvPr id="12" name="stage-2-n">
            <a:extLst xmlns:a="http://schemas.openxmlformats.org/drawingml/2006/main">
              <a:ext uri="{FF2B5EF4-FFF2-40B4-BE49-F238E27FC236}">
                <a16:creationId xmlns:a16="http://schemas.microsoft.com/office/drawing/2014/main" id="{54B40B38-4E2A-4FDD-B0D4-75E17B02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33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 · muestra</a:t>
            </a:r>
          </a:p>
        </p:txBody>
      </p:sp>
      <p:sp>
        <p:nvSpPr>
          <p:cNvPr id="13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80A87D3D-672F-4451-A1A5-D1D46361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671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Validación controlada</a:t>
            </a:r>
          </a:p>
        </p:txBody>
      </p:sp>
      <p:sp>
        <p:nvSpPr>
          <p:cNvPr id="14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8B007CF3-487E-4A4C-80C3-FC25F3EC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148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Documentos representativos, calidad de extracción y rutas de excepción.</a:t>
            </a:r>
          </a:p>
        </p:txBody>
      </p:sp>
      <p:sp>
        <p:nvSpPr>
          <p:cNvPr id="15" name="stage-3-n">
            <a:extLst xmlns:a="http://schemas.openxmlformats.org/drawingml/2006/main">
              <a:ext uri="{FF2B5EF4-FFF2-40B4-BE49-F238E27FC236}">
                <a16:creationId xmlns:a16="http://schemas.microsoft.com/office/drawing/2014/main" id="{BFE133AC-AFDD-44CA-B8B9-B4F82BB1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 · diseño</a:t>
            </a:r>
          </a:p>
        </p:txBody>
      </p:sp>
      <p:sp>
        <p:nvSpPr>
          <p:cNvPr id="16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9DB9104B-CDDD-4AB1-8946-E820FBEE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35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Producto e integración</a:t>
            </a:r>
          </a:p>
        </p:txBody>
      </p:sp>
      <p:sp>
        <p:nvSpPr>
          <p:cNvPr id="17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84B65F89-62CF-4F43-9776-02DA6A90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Arquitectura objetivo, responsabilidades, controles y alcance.</a:t>
            </a:r>
          </a:p>
        </p:txBody>
      </p:sp>
      <p:sp>
        <p:nvSpPr>
          <p:cNvPr id="18" name="stage-4-n">
            <a:extLst xmlns:a="http://schemas.openxmlformats.org/drawingml/2006/main">
              <a:ext uri="{FF2B5EF4-FFF2-40B4-BE49-F238E27FC236}">
                <a16:creationId xmlns:a16="http://schemas.microsoft.com/office/drawing/2014/main" id="{936835D0-98D9-400D-B16D-70555FD3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04 · piloto</a:t>
            </a:r>
          </a:p>
        </p:txBody>
      </p:sp>
      <p:sp>
        <p:nvSpPr>
          <p:cNvPr id="19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1581A07D-304A-4491-946E-E5BFDA1A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0671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Decisión informada</a:t>
            </a:r>
          </a:p>
        </p:txBody>
      </p:sp>
      <p:sp>
        <p:nvSpPr>
          <p:cNvPr id="20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F5B04E12-F23F-4EAF-8C1E-2DA4F305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5148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Criterios de éxito, plan de despliegue y gobierno operativo.</a:t>
            </a:r>
          </a:p>
        </p:txBody>
      </p:sp>
      <p:sp>
        <p:nvSpPr>
          <p:cNvPr id="21" name="timeline-live">
            <a:extLst xmlns:a="http://schemas.openxmlformats.org/drawingml/2006/main">
              <a:ext uri="{FF2B5EF4-FFF2-40B4-BE49-F238E27FC236}">
                <a16:creationId xmlns:a16="http://schemas.microsoft.com/office/drawing/2014/main" id="{3408500A-4961-47C1-9650-DF2B6F19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Disponible hoy: demo guiada + PoC con documentos</a:t>
            </a:r>
          </a:p>
        </p:txBody>
      </p:sp>
      <p:sp>
        <p:nvSpPr>
          <p:cNvPr id="22" name="timeline-principle">
            <a:extLst xmlns:a="http://schemas.openxmlformats.org/drawingml/2006/main">
              <a:ext uri="{FF2B5EF4-FFF2-40B4-BE49-F238E27FC236}">
                <a16:creationId xmlns:a16="http://schemas.microsoft.com/office/drawing/2014/main" id="{D4F3E4CE-BED3-4BEB-9CDF-0E6999A9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150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833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La integración productiva se define después de validar documentos y controles.</a:t>
            </a:r>
          </a:p>
        </p:txBody>
      </p:sp>
      <p:sp>
        <p:nvSpPr>
          <p:cNvPr id="23" name="footer-note-9">
            <a:extLst xmlns:a="http://schemas.openxmlformats.org/drawingml/2006/main">
              <a:ext uri="{FF2B5EF4-FFF2-40B4-BE49-F238E27FC236}">
                <a16:creationId xmlns:a16="http://schemas.microsoft.com/office/drawing/2014/main" id="{540642E0-4338-4C0C-A544-6D1A5D07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Demo + PoC privado</a:t>
            </a:r>
          </a:p>
        </p:txBody>
      </p:sp>
      <p:sp>
        <p:nvSpPr>
          <p:cNvPr id="2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5C06CEEA-C8DD-4F20-8741-2350367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036604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4A147700-B1C5-41EB-89E3-1349E96F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PRÓXIMO PASO RECOMENDADO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D4A4B76-8FAF-4CD5-97EB-E6F3E15A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Empecemos con una muestra controlada de documentos</a:t>
            </a:r>
          </a:p>
        </p:txBody>
      </p:sp>
      <p:sp>
        <p:nvSpPr>
          <p:cNvPr id="3" name="closing-sub">
            <a:extLst xmlns:a="http://schemas.openxmlformats.org/drawingml/2006/main">
              <a:ext uri="{FF2B5EF4-FFF2-40B4-BE49-F238E27FC236}">
                <a16:creationId xmlns:a16="http://schemas.microsoft.com/office/drawing/2014/main" id="{F19E54AB-C069-44FA-9473-6FFD582E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AFC0D1"/>
                </a:solidFill>
                <a:latin typeface="Aptos"/>
                <a:ea typeface="Aptos"/>
                <a:cs typeface="Aptos"/>
              </a:rPr>
              <a:t>Validamos formatos, extracción, excepciones y controles prioritarios antes de definir una integración productiva.</a:t>
            </a:r>
          </a:p>
        </p:txBody>
      </p:sp>
      <p:sp>
        <p:nvSpPr>
          <p:cNvPr id="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ACE4BFDC-3CE5-48F2-BED9-BD94F30A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demo">
            <a:extLst xmlns:a="http://schemas.openxmlformats.org/drawingml/2006/main">
              <a:ext uri="{FF2B5EF4-FFF2-40B4-BE49-F238E27FC236}">
                <a16:creationId xmlns:a16="http://schemas.microsoft.com/office/drawing/2014/main" id="{928ECE7A-9C5A-4677-B80E-790BBC9C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FC0D1"/>
                </a:solidFill>
                <a:latin typeface="Aptos"/>
                <a:ea typeface="Aptos"/>
                <a:cs typeface="Aptos"/>
              </a:rPr>
              <a:t>Demo guiada: </a:t>
            </a:r>
            <a:r>
              <a:rPr sz="1350" b="1" u="sng">
                <a:solidFill>
                  <a:srgbClr val="AFC0D1"/>
                </a:solidFill>
                <a:latin typeface="Aptos"/>
                <a:ea typeface="Aptos"/>
                <a:cs typeface="Aptos"/>
                <a:hlinkClick xmlns:r="http://schemas.openxmlformats.org/officeDocument/2006/relationships" r:id="Rf28be88062204250"/>
              </a:rPr>
              <a:t>abrir experiencia ↗</a:t>
            </a:r>
          </a:p>
        </p:txBody>
      </p:sp>
      <p:sp>
        <p:nvSpPr>
          <p:cNvPr id="6" name="closing-poc">
            <a:extLst xmlns:a="http://schemas.openxmlformats.org/drawingml/2006/main">
              <a:ext uri="{FF2B5EF4-FFF2-40B4-BE49-F238E27FC236}">
                <a16:creationId xmlns:a16="http://schemas.microsoft.com/office/drawing/2014/main" id="{81609419-824F-4760-8411-A35DB337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FC0D1"/>
                </a:solidFill>
                <a:latin typeface="Aptos"/>
                <a:ea typeface="Aptos"/>
                <a:cs typeface="Aptos"/>
              </a:rPr>
              <a:t>PoC con documentos: </a:t>
            </a:r>
            <a:r>
              <a:rPr sz="1350" b="1" u="sng">
                <a:solidFill>
                  <a:srgbClr val="AFC0D1"/>
                </a:solidFill>
                <a:latin typeface="Aptos"/>
                <a:ea typeface="Aptos"/>
                <a:cs typeface="Aptos"/>
                <a:hlinkClick xmlns:r="http://schemas.openxmlformats.org/officeDocument/2006/relationships" r:id="R5f4f95ea204d432e"/>
              </a:rPr>
              <a:t>abrir prueba ↗</a:t>
            </a:r>
          </a:p>
        </p:txBody>
      </p:sp>
      <p:sp>
        <p:nvSpPr>
          <p:cNvPr id="7" name="closing-access">
            <a:extLst xmlns:a="http://schemas.openxmlformats.org/drawingml/2006/main">
              <a:ext uri="{FF2B5EF4-FFF2-40B4-BE49-F238E27FC236}">
                <a16:creationId xmlns:a16="http://schemas.microsoft.com/office/drawing/2014/main" id="{DECFE51D-745B-4C86-9284-5E97A10E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F95A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F95AA"/>
                </a:solidFill>
                <a:latin typeface="Aptos"/>
                <a:ea typeface="Aptos"/>
                <a:cs typeface="Aptos"/>
              </a:rPr>
              <a:t>Accesos protegidos con contraseña · solicitar la clave al equipo</a:t>
            </a:r>
          </a:p>
        </p:txBody>
      </p:sp>
      <p:sp>
        <p:nvSpPr>
          <p:cNvPr id="8" name="closing-contact-label">
            <a:extLst xmlns:a="http://schemas.openxmlformats.org/drawingml/2006/main">
              <a:ext uri="{FF2B5EF4-FFF2-40B4-BE49-F238E27FC236}">
                <a16:creationId xmlns:a16="http://schemas.microsoft.com/office/drawing/2014/main" id="{DC7AD022-14B5-4C0F-950D-5551279E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CONTACTOS COMERCIALES</a:t>
            </a:r>
          </a:p>
        </p:txBody>
      </p:sp>
      <p:sp>
        <p:nvSpPr>
          <p:cNvPr id="9" name="closing-mariana">
            <a:extLst xmlns:a="http://schemas.openxmlformats.org/drawingml/2006/main">
              <a:ext uri="{FF2B5EF4-FFF2-40B4-BE49-F238E27FC236}">
                <a16:creationId xmlns:a16="http://schemas.microsoft.com/office/drawing/2014/main" id="{417766F8-9C66-49CD-A9A1-54FB8EF3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AFC0D1"/>
                </a:solidFill>
                <a:latin typeface="Aptos"/>
                <a:ea typeface="Aptos"/>
                <a:cs typeface="Aptos"/>
              </a:rPr>
              <a:t/>
            </a:r>
            <a:r>
              <a:rPr sz="1575" b="1" u="sng">
                <a:solidFill>
                  <a:srgbClr val="AFC0D1"/>
                </a:solidFill>
                <a:latin typeface="Aptos"/>
                <a:ea typeface="Aptos"/>
                <a:cs typeface="Aptos"/>
                <a:hlinkClick xmlns:r="http://schemas.openxmlformats.org/officeDocument/2006/relationships" r:id="Re06185f717c940bf"/>
              </a:rPr>
              <a:t>Mariana Soledad Giordano ↗</a:t>
            </a:r>
          </a:p>
        </p:txBody>
      </p:sp>
      <p:sp>
        <p:nvSpPr>
          <p:cNvPr id="10" name="closing-nicolas">
            <a:extLst xmlns:a="http://schemas.openxmlformats.org/drawingml/2006/main">
              <a:ext uri="{FF2B5EF4-FFF2-40B4-BE49-F238E27FC236}">
                <a16:creationId xmlns:a16="http://schemas.microsoft.com/office/drawing/2014/main" id="{5AF2106D-543A-460E-89D3-0CB5DB9B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816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AFC0D1"/>
                </a:solidFill>
                <a:latin typeface="Aptos"/>
                <a:ea typeface="Aptos"/>
                <a:cs typeface="Aptos"/>
              </a:rPr>
              <a:t/>
            </a:r>
            <a:r>
              <a:rPr sz="1575" b="1" u="sng">
                <a:solidFill>
                  <a:srgbClr val="AFC0D1"/>
                </a:solidFill>
                <a:latin typeface="Aptos"/>
                <a:ea typeface="Aptos"/>
                <a:cs typeface="Aptos"/>
                <a:hlinkClick xmlns:r="http://schemas.openxmlformats.org/officeDocument/2006/relationships" r:id="R1e742cdab800447c"/>
              </a:rPr>
              <a:t>Nicolas M Amato ↗</a:t>
            </a:r>
          </a:p>
        </p:txBody>
      </p:sp>
      <p:sp>
        <p:nvSpPr>
          <p:cNvPr id="11" name="footer-note-10">
            <a:extLst xmlns:a="http://schemas.openxmlformats.org/drawingml/2006/main">
              <a:ext uri="{FF2B5EF4-FFF2-40B4-BE49-F238E27FC236}">
                <a16:creationId xmlns:a16="http://schemas.microsoft.com/office/drawing/2014/main" id="{E2420543-BA93-4EC5-B423-D1C99D33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AP Control Tower · Demo + PoC privado</a:t>
            </a:r>
          </a:p>
        </p:txBody>
      </p:sp>
      <p:sp>
        <p:nvSpPr>
          <p:cNvPr id="12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663563E7-5A59-426F-AD6E-B65D6813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3651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2026-07-15T22:52:57.3580000Z</dcterms:created>
  <dcterms:modified xsi:type="dcterms:W3CDTF">2026-07-15T22:52:57.3600000Z</dcterms:modified>
</coreProperties>
</file>