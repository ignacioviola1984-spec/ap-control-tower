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44b309c5c34046" /><Relationship Type="http://schemas.openxmlformats.org/officeDocument/2006/relationships/extended-properties" Target="/docProps/app.xml" Id="R8c413c650c93494b" /><Relationship Type="http://schemas.openxmlformats.org/officeDocument/2006/relationships/officeDocument" Target="/ppt/presentation.xml" Id="R2851de7965f9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72ae11e3bd4747"/>
  </p:sldMasterIdLst>
  <p:notesMasterIdLst>
    <p:notesMasterId xmlns:r="http://schemas.openxmlformats.org/officeDocument/2006/relationships" r:id="R464d62feeccd414b"/>
  </p:notesMasterIdLst>
  <p:sldIdLst>
    <p:sldId xmlns:r="http://schemas.openxmlformats.org/officeDocument/2006/relationships" id="256" r:id="Rf9658b6c0ce942da"/>
    <p:sldId xmlns:r="http://schemas.openxmlformats.org/officeDocument/2006/relationships" id="257" r:id="R9a2c36f774fa424d"/>
    <p:sldId xmlns:r="http://schemas.openxmlformats.org/officeDocument/2006/relationships" id="258" r:id="R5e80ec9147494e18"/>
    <p:sldId xmlns:r="http://schemas.openxmlformats.org/officeDocument/2006/relationships" id="259" r:id="R51403f4abb9e41e4"/>
    <p:sldId xmlns:r="http://schemas.openxmlformats.org/officeDocument/2006/relationships" id="260" r:id="R862dad7670194998"/>
    <p:sldId xmlns:r="http://schemas.openxmlformats.org/officeDocument/2006/relationships" id="261" r:id="R0ca97d858b674f69"/>
    <p:sldId xmlns:r="http://schemas.openxmlformats.org/officeDocument/2006/relationships" id="262" r:id="R723ac377b7cd42a0"/>
    <p:sldId xmlns:r="http://schemas.openxmlformats.org/officeDocument/2006/relationships" id="263" r:id="Rf04b5209299742d7"/>
    <p:sldId xmlns:r="http://schemas.openxmlformats.org/officeDocument/2006/relationships" id="264" r:id="Rd7794a53def648de"/>
    <p:sldId xmlns:r="http://schemas.openxmlformats.org/officeDocument/2006/relationships" id="265" r:id="Rfccb0311464440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c64145368450e" /><Relationship Type="http://schemas.openxmlformats.org/officeDocument/2006/relationships/slideMaster" Target="/ppt/slideMasters/slideMaster1.xml" Id="R1b72ae11e3bd4747" /><Relationship Type="http://schemas.openxmlformats.org/officeDocument/2006/relationships/notesMaster" Target="/ppt/notesMasters/notesMaster1.xml" Id="R464d62feeccd414b" /><Relationship Type="http://schemas.openxmlformats.org/officeDocument/2006/relationships/presProps" Target="/ppt/presProps.xml" Id="R54e3b9b1285746b1" /><Relationship Type="http://schemas.openxmlformats.org/officeDocument/2006/relationships/tableStyles" Target="/ppt/tableStyles.xml" Id="R1ad5f96561b84bd8" /><Relationship Type="http://schemas.openxmlformats.org/officeDocument/2006/relationships/slide" Target="/ppt/slides/slide1.xml" Id="Rf9658b6c0ce942da" /><Relationship Type="http://schemas.openxmlformats.org/officeDocument/2006/relationships/slide" Target="/ppt/slides/slide2.xml" Id="R9a2c36f774fa424d" /><Relationship Type="http://schemas.openxmlformats.org/officeDocument/2006/relationships/slide" Target="/ppt/slides/slide3.xml" Id="R5e80ec9147494e18" /><Relationship Type="http://schemas.openxmlformats.org/officeDocument/2006/relationships/slide" Target="/ppt/slides/slide4.xml" Id="R51403f4abb9e41e4" /><Relationship Type="http://schemas.openxmlformats.org/officeDocument/2006/relationships/slide" Target="/ppt/slides/slide5.xml" Id="R862dad7670194998" /><Relationship Type="http://schemas.openxmlformats.org/officeDocument/2006/relationships/slide" Target="/ppt/slides/slide6.xml" Id="R0ca97d858b674f69" /><Relationship Type="http://schemas.openxmlformats.org/officeDocument/2006/relationships/slide" Target="/ppt/slides/slide7.xml" Id="R723ac377b7cd42a0" /><Relationship Type="http://schemas.openxmlformats.org/officeDocument/2006/relationships/slide" Target="/ppt/slides/slide8.xml" Id="Rf04b5209299742d7" /><Relationship Type="http://schemas.openxmlformats.org/officeDocument/2006/relationships/slide" Target="/ppt/slides/slide9.xml" Id="Rd7794a53def648de" /><Relationship Type="http://schemas.openxmlformats.org/officeDocument/2006/relationships/slide" Target="/ppt/slides/slide10.xml" Id="Rfccb03114644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ef78ad82d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dba70b01048c5" /><Relationship Type="http://schemas.openxmlformats.org/officeDocument/2006/relationships/notesMaster" Target="/ppt/notesMasters/notesMaster1.xml" Id="R5140ce2a76ea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a1933375d24a98" /><Relationship Type="http://schemas.openxmlformats.org/officeDocument/2006/relationships/notesMaster" Target="/ppt/notesMasters/notesMaster1.xml" Id="R44e88f45b553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8f6e9b51d411c" /><Relationship Type="http://schemas.openxmlformats.org/officeDocument/2006/relationships/notesMaster" Target="/ppt/notesMasters/notesMaster1.xml" Id="Red75d558d2ce47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cb8c2b70247ac" /><Relationship Type="http://schemas.openxmlformats.org/officeDocument/2006/relationships/notesMaster" Target="/ppt/notesMasters/notesMaster1.xml" Id="R4da2f4dd7e1a4a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9a7bcb8711471d" /><Relationship Type="http://schemas.openxmlformats.org/officeDocument/2006/relationships/notesMaster" Target="/ppt/notesMasters/notesMaster1.xml" Id="Re7cd766301004e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e815067cf84b77" /><Relationship Type="http://schemas.openxmlformats.org/officeDocument/2006/relationships/notesMaster" Target="/ppt/notesMasters/notesMaster1.xml" Id="R83dcfa742bba47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6e674209a4f9e" /><Relationship Type="http://schemas.openxmlformats.org/officeDocument/2006/relationships/notesMaster" Target="/ppt/notesMasters/notesMaster1.xml" Id="Re2ddcb44c4c94e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db774faa740a0" /><Relationship Type="http://schemas.openxmlformats.org/officeDocument/2006/relationships/notesMaster" Target="/ppt/notesMasters/notesMaster1.xml" Id="Re583bc2349c346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eab0eaa06425b" /><Relationship Type="http://schemas.openxmlformats.org/officeDocument/2006/relationships/notesMaster" Target="/ppt/notesMasters/notesMaster1.xml" Id="R337bd949ab7e4e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2fe1eea9ba4618" /><Relationship Type="http://schemas.openxmlformats.org/officeDocument/2006/relationships/notesMaster" Target="/ppt/notesMasters/notesMaster1.xml" Id="R6d7036f6726541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2d4968802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86a78d4c0544f7" /><Relationship Type="http://schemas.openxmlformats.org/officeDocument/2006/relationships/slideLayout" Target="/ppt/slideLayouts/slideLayout1.xml" Id="Rba1d2968ce42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d2968ce42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49d6e57a943fa" /><Relationship Type="http://schemas.openxmlformats.org/officeDocument/2006/relationships/image" Target="/ppt/media/image.png" Id="R6f8f8c78c1c8480e" /><Relationship Type="http://schemas.openxmlformats.org/officeDocument/2006/relationships/notesSlide" Target="/ppt/notesSlides/notesSlide1.xml" Id="R5da44f6a53c3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74f74c2b349ae" /><Relationship Type="http://schemas.openxmlformats.org/officeDocument/2006/relationships/notesSlide" Target="/ppt/notesSlides/notesSlide2.xml" Id="R404d51c074524f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9fa8a4314578" /><Relationship Type="http://schemas.openxmlformats.org/officeDocument/2006/relationships/notesSlide" Target="/ppt/notesSlides/notesSlide3.xml" Id="R29e73e3e78af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53124ad99446d" /><Relationship Type="http://schemas.openxmlformats.org/officeDocument/2006/relationships/notesSlide" Target="/ppt/notesSlides/notesSlide4.xml" Id="Ra9d260290b69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5be616d494d92" /><Relationship Type="http://schemas.openxmlformats.org/officeDocument/2006/relationships/notesSlide" Target="/ppt/notesSlides/notesSlide5.xml" Id="R5da80322266b44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8b9b369a7474a" /><Relationship Type="http://schemas.openxmlformats.org/officeDocument/2006/relationships/hyperlink" Target="https://ap-control-tower-597507822266.us-central1.run.app" TargetMode="External" Id="Rc9e6ba2f4d6d4505" /><Relationship Type="http://schemas.openxmlformats.org/officeDocument/2006/relationships/notesSlide" Target="/ppt/notesSlides/notesSlide6.xml" Id="Rfe7845fdfc5945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08b3d3edd48fd" /><Relationship Type="http://schemas.openxmlformats.org/officeDocument/2006/relationships/chart" Target="/ppt/slides/charts/chart1.xml" Id="R8ad706702cd84a7a" /><Relationship Type="http://schemas.openxmlformats.org/officeDocument/2006/relationships/notesSlide" Target="/ppt/notesSlides/notesSlide7.xml" Id="R566ad5337eeb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e3e1cc8b34e3e" /><Relationship Type="http://schemas.openxmlformats.org/officeDocument/2006/relationships/hyperlink" Target="https://docs.cloud.google.com/document-ai/docs/security" TargetMode="External" Id="Ra99f7af178ae42fd" /><Relationship Type="http://schemas.openxmlformats.org/officeDocument/2006/relationships/hyperlink" Target="https://cloud.google.com/terms/data-processing-addendum/" TargetMode="External" Id="R11b3a770d2544b39" /><Relationship Type="http://schemas.openxmlformats.org/officeDocument/2006/relationships/hyperlink" Target="https://docs.cloud.google.com/run/docs/container-contract#file_system" TargetMode="External" Id="R289bced7c46447df" /><Relationship Type="http://schemas.openxmlformats.org/officeDocument/2006/relationships/notesSlide" Target="/ppt/notesSlides/notesSlide8.xml" Id="R840aa89101a4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9273d9c0e49fa" /><Relationship Type="http://schemas.openxmlformats.org/officeDocument/2006/relationships/notesSlide" Target="/ppt/notesSlides/notesSlide9.xml" Id="Rd869eecb30d64f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eb10f04243e1" /><Relationship Type="http://schemas.openxmlformats.org/officeDocument/2006/relationships/hyperlink" Target="https://ap-control-tower-bc-sales-pitch.netlify.app/" TargetMode="External" Id="R9187ca86dec747af" /><Relationship Type="http://schemas.openxmlformats.org/officeDocument/2006/relationships/hyperlink" Target="https://ap-control-tower-597507822266.us-central1.run.app" TargetMode="External" Id="R121596cadfef4a02" /><Relationship Type="http://schemas.openxmlformats.org/officeDocument/2006/relationships/hyperlink" Target="https://ap-control-tower-trial-597507822266.us-central1.run.app" TargetMode="External" Id="Re64261e4812c4715" /><Relationship Type="http://schemas.openxmlformats.org/officeDocument/2006/relationships/hyperlink" Target="https://www.linkedin.com/in/ACoAAA0pGygBDxsieuNVAJ9SDPjnIPBfLUZdMjs?lipi=urn%3Ali%3Apage%3Ad_flagship3_messaging_conversation_detail%3BR6VirGSETdC2whWCh4UlVQ%3D%3D" TargetMode="External" Id="R343f29a39ad143ef" /><Relationship Type="http://schemas.openxmlformats.org/officeDocument/2006/relationships/hyperlink" Target="https://www.linkedin.com/in/ACoAAAbsP7AB-PCw0iKRDEU44Sl5i_1YrcU_SfE" TargetMode="External" Id="R7e58b2cc1a154e0c" /><Relationship Type="http://schemas.openxmlformats.org/officeDocument/2006/relationships/notesSlide" Target="/ppt/notesSlides/notesSlide10.xml" Id="R3352337aea9b4d6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Beneficio acumulado (€)</c:v>
          </c:tx>
          <c:spPr>
            <a:solidFill xmlns:a="http://schemas.openxmlformats.org/drawingml/2006/main">
              <a:srgbClr val="1B728B"/>
            </a:solidFill>
          </c:spPr>
          <c:marker>
            <c:symbol val="none"/>
          </c:marker>
          <c:cat>
            <c:strLit>
              <c:ptCount val="7"/>
              <c:pt idx="0">
                <c:v>Inicio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 meses</c:v>
              </c:pt>
            </c:strLit>
          </c:cat>
          <c:val>
            <c:numLit>
              <c:formatCode>General</c:formatCode>
              <c:ptCount val="7"/>
              <c:pt idx="0">
                <c:v>-10000</c:v>
              </c:pt>
              <c:pt idx="1">
                <c:v>-5069</c:v>
              </c:pt>
              <c:pt idx="2">
                <c:v>-138</c:v>
              </c:pt>
              <c:pt idx="3">
                <c:v>4794</c:v>
              </c:pt>
              <c:pt idx="4">
                <c:v>9725</c:v>
              </c:pt>
              <c:pt idx="5">
                <c:v>14656</c:v>
              </c:pt>
              <c:pt idx="6">
                <c:v>19588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Mes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Valor acumulado (€)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71B4524D-73CA-4C66-B9F2-9C5B722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7FDCB31-A3E7-45DF-ACF3-52AC2DC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WORKING PRIVATE PoC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250D2B6-C4DA-4B70-A61A-B331895F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8D783B8C-C6E0-4AA7-AD1D-51FDCDC0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 30 pasos manuales a un circuito de pagos controlado y auditable.</a:t>
            </a:r>
          </a:p>
        </p:txBody>
      </p:sp>
      <p:sp>
        <p:nvSpPr>
          <p:cNvPr id="5" name="cover-sub">
            <a:extLst xmlns:a="http://schemas.openxmlformats.org/drawingml/2006/main">
              <a:ext uri="{FF2B5EF4-FFF2-40B4-BE49-F238E27FC236}">
                <a16:creationId xmlns:a16="http://schemas.microsoft.com/office/drawing/2014/main" id="{3F24E422-1D14-4004-99AC-D7BD4734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Automatiza lectura y controles. Concentra excepciones. Mantiene la liberación de dinero en manos de una persona.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A67EEE10-453F-486E-8B42-E2D15E7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Business case ejecutivo · Demo + PoC disponibles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4D23BDB-9041-441D-AA84-F37FAA7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38200"/>
            <a:ext cx="52959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C1A2B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f8c78c1c8480e"/>
          <a:stretch xmlns:a="http://schemas.openxmlformats.org/drawingml/2006/main"/>
        </p:blipFill>
        <p:spPr>
          <a:xfrm xmlns:a="http://schemas.openxmlformats.org/drawingml/2006/main">
            <a:off x="6591300" y="1464384"/>
            <a:ext cx="4686300" cy="3605383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9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FF92ED7A-08DB-4604-AE81-336F9358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1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51B53977-FC33-4A45-BCDD-4728EC9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1801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77AFA39B-03F5-4FA1-A4D2-CF40A1D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PUNTO DE PARTIDA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2FB2C85-FE0C-4456-966D-B2E2272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operación crítica sigue fragmentada entre sistemas y trabajo manual.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7CAA5C21-0908-485B-B37D-629B46DD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Proceso AS-IS de referencia anonimizado; los datos describen el punto de partida, no una promesa de ahorro.</a:t>
            </a:r>
          </a:p>
        </p:txBody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80C1C60D-EC51-4F42-8341-BEDADE8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seline-1-surface">
            <a:extLst xmlns:a="http://schemas.openxmlformats.org/drawingml/2006/main">
              <a:ext uri="{FF2B5EF4-FFF2-40B4-BE49-F238E27FC236}">
                <a16:creationId xmlns:a16="http://schemas.microsoft.com/office/drawing/2014/main" id="{1B225225-7305-4304-B04A-342879E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seline-1-value">
            <a:extLst xmlns:a="http://schemas.openxmlformats.org/drawingml/2006/main">
              <a:ext uri="{FF2B5EF4-FFF2-40B4-BE49-F238E27FC236}">
                <a16:creationId xmlns:a16="http://schemas.microsoft.com/office/drawing/2014/main" id="{4DCE2218-428D-4952-A0FE-4B31C69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~35</a:t>
            </a:r>
          </a:p>
        </p:txBody>
      </p:sp>
      <p:sp>
        <p:nvSpPr>
          <p:cNvPr id="7" name="baseline-1-label">
            <a:extLst xmlns:a="http://schemas.openxmlformats.org/drawingml/2006/main">
              <a:ext uri="{FF2B5EF4-FFF2-40B4-BE49-F238E27FC236}">
                <a16:creationId xmlns:a16="http://schemas.microsoft.com/office/drawing/2014/main" id="{59CEA530-9777-47CF-9965-2585321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mes</a:t>
            </a:r>
          </a:p>
        </p:txBody>
      </p:sp>
      <p:sp>
        <p:nvSpPr>
          <p:cNvPr id="8" name="baseline-2-surface">
            <a:extLst xmlns:a="http://schemas.openxmlformats.org/drawingml/2006/main">
              <a:ext uri="{FF2B5EF4-FFF2-40B4-BE49-F238E27FC236}">
                <a16:creationId xmlns:a16="http://schemas.microsoft.com/office/drawing/2014/main" id="{4899C790-FDA6-4375-8608-C03DC13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seline-2-value">
            <a:extLst xmlns:a="http://schemas.openxmlformats.org/drawingml/2006/main">
              <a:ext uri="{FF2B5EF4-FFF2-40B4-BE49-F238E27FC236}">
                <a16:creationId xmlns:a16="http://schemas.microsoft.com/office/drawing/2014/main" id="{572AADBC-DF64-4E74-ABF9-C27B7BEB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0" name="baseline-2-label">
            <a:extLst xmlns:a="http://schemas.openxmlformats.org/drawingml/2006/main">
              <a:ext uri="{FF2B5EF4-FFF2-40B4-BE49-F238E27FC236}">
                <a16:creationId xmlns:a16="http://schemas.microsoft.com/office/drawing/2014/main" id="{23C326B0-B04D-4C37-96E8-B232E41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5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pasos manuales end-to-end</a:t>
            </a:r>
          </a:p>
        </p:txBody>
      </p:sp>
      <p:sp>
        <p:nvSpPr>
          <p:cNvPr id="11" name="baseline-3-surface">
            <a:extLst xmlns:a="http://schemas.openxmlformats.org/drawingml/2006/main">
              <a:ext uri="{FF2B5EF4-FFF2-40B4-BE49-F238E27FC236}">
                <a16:creationId xmlns:a16="http://schemas.microsoft.com/office/drawing/2014/main" id="{405D9CB4-70F5-4733-8148-19044CD7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seline-3-value">
            <a:extLst xmlns:a="http://schemas.openxmlformats.org/drawingml/2006/main">
              <a:ext uri="{FF2B5EF4-FFF2-40B4-BE49-F238E27FC236}">
                <a16:creationId xmlns:a16="http://schemas.microsoft.com/office/drawing/2014/main" id="{5B58E792-AE17-487C-ACB2-661D69B6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2–4</a:t>
            </a:r>
          </a:p>
        </p:txBody>
      </p:sp>
      <p:sp>
        <p:nvSpPr>
          <p:cNvPr id="13" name="baseline-3-label">
            <a:extLst xmlns:a="http://schemas.openxmlformats.org/drawingml/2006/main">
              <a:ext uri="{FF2B5EF4-FFF2-40B4-BE49-F238E27FC236}">
                <a16:creationId xmlns:a16="http://schemas.microsoft.com/office/drawing/2014/main" id="{4D94CED5-D4E9-45B5-99FA-316D179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personas involucradas</a:t>
            </a:r>
          </a:p>
        </p:txBody>
      </p:sp>
      <p:sp>
        <p:nvSpPr>
          <p:cNvPr id="14" name="baseline-4-surface">
            <a:extLst xmlns:a="http://schemas.openxmlformats.org/drawingml/2006/main">
              <a:ext uri="{FF2B5EF4-FFF2-40B4-BE49-F238E27FC236}">
                <a16:creationId xmlns:a16="http://schemas.microsoft.com/office/drawing/2014/main" id="{CD208F0E-AF57-4F7B-883B-78D3D0B6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800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seline-4-value">
            <a:extLst xmlns:a="http://schemas.openxmlformats.org/drawingml/2006/main">
              <a:ext uri="{FF2B5EF4-FFF2-40B4-BE49-F238E27FC236}">
                <a16:creationId xmlns:a16="http://schemas.microsoft.com/office/drawing/2014/main" id="{F39EB5BE-05B3-4C99-8F01-88A80758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baseline-4-label">
            <a:extLst xmlns:a="http://schemas.openxmlformats.org/drawingml/2006/main">
              <a:ext uri="{FF2B5EF4-FFF2-40B4-BE49-F238E27FC236}">
                <a16:creationId xmlns:a16="http://schemas.microsoft.com/office/drawing/2014/main" id="{E6AE4691-6C86-407C-A21F-8E91F91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sistemas y canales</a:t>
            </a:r>
          </a:p>
        </p:txBody>
      </p:sp>
      <p:sp>
        <p:nvSpPr>
          <p:cNvPr id="17" name="systems-label">
            <a:extLst xmlns:a="http://schemas.openxmlformats.org/drawingml/2006/main">
              <a:ext uri="{FF2B5EF4-FFF2-40B4-BE49-F238E27FC236}">
                <a16:creationId xmlns:a16="http://schemas.microsoft.com/office/drawing/2014/main" id="{620A728A-3FFC-4BED-ACAE-2AB7523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trabajo se reparte entre</a:t>
            </a:r>
          </a:p>
        </p:txBody>
      </p:sp>
      <p:sp>
        <p:nvSpPr>
          <p:cNvPr id="18" name="system-0">
            <a:extLst xmlns:a="http://schemas.openxmlformats.org/drawingml/2006/main">
              <a:ext uri="{FF2B5EF4-FFF2-40B4-BE49-F238E27FC236}">
                <a16:creationId xmlns:a16="http://schemas.microsoft.com/office/drawing/2014/main" id="{D06EFBF4-D3C8-48B7-B9A3-D0693706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9" name="system-plus-0">
            <a:extLst xmlns:a="http://schemas.openxmlformats.org/drawingml/2006/main">
              <a:ext uri="{FF2B5EF4-FFF2-40B4-BE49-F238E27FC236}">
                <a16:creationId xmlns:a16="http://schemas.microsoft.com/office/drawing/2014/main" id="{70E9FD87-86A6-4411-A204-541B009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0" name="system-1">
            <a:extLst xmlns:a="http://schemas.openxmlformats.org/drawingml/2006/main">
              <a:ext uri="{FF2B5EF4-FFF2-40B4-BE49-F238E27FC236}">
                <a16:creationId xmlns:a16="http://schemas.microsoft.com/office/drawing/2014/main" id="{63AE22DC-86B4-49BC-9C76-8DE5245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53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Gestor documental</a:t>
            </a:r>
          </a:p>
        </p:txBody>
      </p:sp>
      <p:sp>
        <p:nvSpPr>
          <p:cNvPr id="21" name="system-plus-1">
            <a:extLst xmlns:a="http://schemas.openxmlformats.org/drawingml/2006/main">
              <a:ext uri="{FF2B5EF4-FFF2-40B4-BE49-F238E27FC236}">
                <a16:creationId xmlns:a16="http://schemas.microsoft.com/office/drawing/2014/main" id="{F61BA317-C5D1-4B69-82B8-214A30D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33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2" name="system-2">
            <a:extLst xmlns:a="http://schemas.openxmlformats.org/drawingml/2006/main">
              <a:ext uri="{FF2B5EF4-FFF2-40B4-BE49-F238E27FC236}">
                <a16:creationId xmlns:a16="http://schemas.microsoft.com/office/drawing/2014/main" id="{BEC4B00C-DBBC-4847-85D0-99EEEFD1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Planilla de tesorería</a:t>
            </a:r>
          </a:p>
        </p:txBody>
      </p:sp>
      <p:sp>
        <p:nvSpPr>
          <p:cNvPr id="23" name="system-plus-2">
            <a:extLst xmlns:a="http://schemas.openxmlformats.org/drawingml/2006/main">
              <a:ext uri="{FF2B5EF4-FFF2-40B4-BE49-F238E27FC236}">
                <a16:creationId xmlns:a16="http://schemas.microsoft.com/office/drawing/2014/main" id="{D535E2A0-25A0-499E-923F-40A247B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4" name="system-3">
            <a:extLst xmlns:a="http://schemas.openxmlformats.org/drawingml/2006/main">
              <a:ext uri="{FF2B5EF4-FFF2-40B4-BE49-F238E27FC236}">
                <a16:creationId xmlns:a16="http://schemas.microsoft.com/office/drawing/2014/main" id="{F2CEA11A-F6CE-4EF3-957C-E21CCC86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ERP financiero</a:t>
            </a:r>
          </a:p>
        </p:txBody>
      </p:sp>
      <p:sp>
        <p:nvSpPr>
          <p:cNvPr id="25" name="system-plus-3">
            <a:extLst xmlns:a="http://schemas.openxmlformats.org/drawingml/2006/main">
              <a:ext uri="{FF2B5EF4-FFF2-40B4-BE49-F238E27FC236}">
                <a16:creationId xmlns:a16="http://schemas.microsoft.com/office/drawing/2014/main" id="{F0B8F528-8973-4721-9282-D749FF61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6" name="system-4">
            <a:extLst xmlns:a="http://schemas.openxmlformats.org/drawingml/2006/main">
              <a:ext uri="{FF2B5EF4-FFF2-40B4-BE49-F238E27FC236}">
                <a16:creationId xmlns:a16="http://schemas.microsoft.com/office/drawing/2014/main" id="{EC453449-AC46-483D-BB72-57FF32BE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Banca electrónica</a:t>
            </a:r>
          </a:p>
        </p:txBody>
      </p:sp>
      <p:sp>
        <p:nvSpPr>
          <p:cNvPr id="27" name="baseline-consequence">
            <a:extLst xmlns:a="http://schemas.openxmlformats.org/drawingml/2006/main">
              <a:ext uri="{FF2B5EF4-FFF2-40B4-BE49-F238E27FC236}">
                <a16:creationId xmlns:a16="http://schemas.microsoft.com/office/drawing/2014/main" id="{D5035FE0-580C-4DB2-9AEF-BA0E0E00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Consecuencia: la atención se consume en leer, buscar y recargar datos, en lugar de resolver excepciones y proteger el pago.</a:t>
            </a:r>
          </a:p>
        </p:txBody>
      </p:sp>
      <p:sp>
        <p:nvSpPr>
          <p:cNvPr id="28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02363A08-9776-43E5-BE0D-35DA4085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Fuente: proceso AS-IS de referencia anonimizado</a:t>
            </a:r>
          </a:p>
        </p:txBody>
      </p:sp>
      <p:sp>
        <p:nvSpPr>
          <p:cNvPr id="2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99D7444-83FA-4B9C-8AC7-4461DBE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2020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F0950CCC-CEF1-488F-A86E-767D636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PROPUESTA DE VALOR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16182A1-E473-411B-89E4-5E9D560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Automatizamos el trabajo repetitivo; la responsabilidad sigue siendo humana.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0B6C519-C69A-4069-BB88-D3219D9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ue-n-0">
            <a:extLst xmlns:a="http://schemas.openxmlformats.org/drawingml/2006/main">
              <a:ext uri="{FF2B5EF4-FFF2-40B4-BE49-F238E27FC236}">
                <a16:creationId xmlns:a16="http://schemas.microsoft.com/office/drawing/2014/main" id="{A7462BCA-B620-4A0A-8F8E-BA7C0C70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 xmlns:a="http://schemas.openxmlformats.org/drawingml/2006/main">
              <a:ext uri="{FF2B5EF4-FFF2-40B4-BE49-F238E27FC236}">
                <a16:creationId xmlns:a16="http://schemas.microsoft.com/office/drawing/2014/main" id="{C1B7283B-A991-4B1D-9A79-11D7F66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Capacidad operativa</a:t>
            </a:r>
          </a:p>
        </p:txBody>
      </p:sp>
      <p:sp>
        <p:nvSpPr>
          <p:cNvPr id="6" name="value-body-0">
            <a:extLst xmlns:a="http://schemas.openxmlformats.org/drawingml/2006/main">
              <a:ext uri="{FF2B5EF4-FFF2-40B4-BE49-F238E27FC236}">
                <a16:creationId xmlns:a16="http://schemas.microsoft.com/office/drawing/2014/main" id="{64B7C230-F671-4707-9534-670E1EE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Lectura, extracción y búsqueda se automatizan. El equipo trabaja sobre una cola priorizada, no sobre el 100% de las facturas.</a:t>
            </a:r>
          </a:p>
        </p:txBody>
      </p:sp>
      <p:sp>
        <p:nvSpPr>
          <p:cNvPr id="7" name="value-n-1">
            <a:extLst xmlns:a="http://schemas.openxmlformats.org/drawingml/2006/main">
              <a:ext uri="{FF2B5EF4-FFF2-40B4-BE49-F238E27FC236}">
                <a16:creationId xmlns:a16="http://schemas.microsoft.com/office/drawing/2014/main" id="{B379BDD1-3087-4F11-B15C-E62FFB6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 xmlns:a="http://schemas.openxmlformats.org/drawingml/2006/main">
              <a:ext uri="{FF2B5EF4-FFF2-40B4-BE49-F238E27FC236}">
                <a16:creationId xmlns:a16="http://schemas.microsoft.com/office/drawing/2014/main" id="{7D3D38FA-0EC5-42AE-A0E8-E95FDFF5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Riesgo antes del pago</a:t>
            </a:r>
          </a:p>
        </p:txBody>
      </p:sp>
      <p:sp>
        <p:nvSpPr>
          <p:cNvPr id="9" name="value-body-1">
            <a:extLst xmlns:a="http://schemas.openxmlformats.org/drawingml/2006/main">
              <a:ext uri="{FF2B5EF4-FFF2-40B4-BE49-F238E27FC236}">
                <a16:creationId xmlns:a16="http://schemas.microsoft.com/office/drawing/2014/main" id="{AEF2B26B-FC8E-4339-BD88-AB5D497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Duplicados, desvíos, cambios de IBAN y diferencias contra ERP se detienen antes de integrar el lote.</a:t>
            </a:r>
          </a:p>
        </p:txBody>
      </p:sp>
      <p:sp>
        <p:nvSpPr>
          <p:cNvPr id="10" name="value-n-2">
            <a:extLst xmlns:a="http://schemas.openxmlformats.org/drawingml/2006/main">
              <a:ext uri="{FF2B5EF4-FFF2-40B4-BE49-F238E27FC236}">
                <a16:creationId xmlns:a16="http://schemas.microsoft.com/office/drawing/2014/main" id="{69886505-E6B0-4F32-93CD-479294A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 xmlns:a="http://schemas.openxmlformats.org/drawingml/2006/main">
              <a:ext uri="{FF2B5EF4-FFF2-40B4-BE49-F238E27FC236}">
                <a16:creationId xmlns:a16="http://schemas.microsoft.com/office/drawing/2014/main" id="{38FD3419-A0A2-4D0A-B0AD-FF1361C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Gobierno y trazabilidad</a:t>
            </a:r>
          </a:p>
        </p:txBody>
      </p:sp>
      <p:sp>
        <p:nvSpPr>
          <p:cNvPr id="12" name="value-body-2">
            <a:extLst xmlns:a="http://schemas.openxmlformats.org/drawingml/2006/main">
              <a:ext uri="{FF2B5EF4-FFF2-40B4-BE49-F238E27FC236}">
                <a16:creationId xmlns:a16="http://schemas.microsoft.com/office/drawing/2014/main" id="{2FB0F902-DA09-4428-9C82-0C92191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Cada control, corrección, sign-off y decisión queda asociado a evidencia, responsable y timestamp.</a:t>
            </a:r>
          </a:p>
        </p:txBody>
      </p:sp>
      <p:sp>
        <p:nvSpPr>
          <p:cNvPr id="13" name="value-bottom-rule">
            <a:extLst xmlns:a="http://schemas.openxmlformats.org/drawingml/2006/main">
              <a:ext uri="{FF2B5EF4-FFF2-40B4-BE49-F238E27FC236}">
                <a16:creationId xmlns:a16="http://schemas.microsoft.com/office/drawing/2014/main" id="{CEDFF8FE-5076-4D34-99CB-7B70D0A5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uman-gate-claim">
            <a:extLst xmlns:a="http://schemas.openxmlformats.org/drawingml/2006/main">
              <a:ext uri="{FF2B5EF4-FFF2-40B4-BE49-F238E27FC236}">
                <a16:creationId xmlns:a16="http://schemas.microsoft.com/office/drawing/2014/main" id="{805063E1-6E30-4564-8F17-5C8CB824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1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Límite operativo: el sistema prepara y controla; una persona aprueba o rechaza. No existe autopago.</a:t>
            </a:r>
          </a:p>
        </p:txBody>
      </p:sp>
      <p:sp>
        <p:nvSpPr>
          <p:cNvPr id="15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7436127D-58AB-471F-AC8A-F358CCA7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1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B2F0B98-AF59-4358-A9DA-813D511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6114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2327DD94-C7D4-49FD-89BB-59ABAD7C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FLUJO CONTROLADO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351254D-E3C9-4C6C-B009-62559807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automatización llega hasta el límite correcto; el gate humano no se puede saltear.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88179E4-4E8E-4106-8591-170415C4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top-connector-0">
            <a:extLst xmlns:a="http://schemas.openxmlformats.org/drawingml/2006/main">
              <a:ext uri="{FF2B5EF4-FFF2-40B4-BE49-F238E27FC236}">
                <a16:creationId xmlns:a16="http://schemas.microsoft.com/office/drawing/2014/main" id="{5F6F34D1-1662-413F-B51E-BBA64CC5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top-connector-1">
            <a:extLst xmlns:a="http://schemas.openxmlformats.org/drawingml/2006/main">
              <a:ext uri="{FF2B5EF4-FFF2-40B4-BE49-F238E27FC236}">
                <a16:creationId xmlns:a16="http://schemas.microsoft.com/office/drawing/2014/main" id="{20B686A8-063E-4290-AB0E-4CB7AB29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top-connector-2">
            <a:extLst xmlns:a="http://schemas.openxmlformats.org/drawingml/2006/main">
              <a:ext uri="{FF2B5EF4-FFF2-40B4-BE49-F238E27FC236}">
                <a16:creationId xmlns:a16="http://schemas.microsoft.com/office/drawing/2014/main" id="{6E053171-22F5-4893-9C0D-CD0200E3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turn-down">
            <a:extLst xmlns:a="http://schemas.openxmlformats.org/drawingml/2006/main">
              <a:ext uri="{FF2B5EF4-FFF2-40B4-BE49-F238E27FC236}">
                <a16:creationId xmlns:a16="http://schemas.microsoft.com/office/drawing/2014/main" id="{61AC949C-A6CD-4B94-A041-29CB64F4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433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8" name="flow-bottom-connector-0">
            <a:extLst xmlns:a="http://schemas.openxmlformats.org/drawingml/2006/main">
              <a:ext uri="{FF2B5EF4-FFF2-40B4-BE49-F238E27FC236}">
                <a16:creationId xmlns:a16="http://schemas.microsoft.com/office/drawing/2014/main" id="{58DE0FBA-08B4-417C-B86D-0F5AC0A0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bottom-connector-1">
            <a:extLst xmlns:a="http://schemas.openxmlformats.org/drawingml/2006/main">
              <a:ext uri="{FF2B5EF4-FFF2-40B4-BE49-F238E27FC236}">
                <a16:creationId xmlns:a16="http://schemas.microsoft.com/office/drawing/2014/main" id="{5B240427-C190-4891-B138-F098B289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bottom-connector-2">
            <a:extLst xmlns:a="http://schemas.openxmlformats.org/drawingml/2006/main">
              <a:ext uri="{FF2B5EF4-FFF2-40B4-BE49-F238E27FC236}">
                <a16:creationId xmlns:a16="http://schemas.microsoft.com/office/drawing/2014/main" id="{F89B68DD-A19B-4685-8138-F23042D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0-box">
            <a:extLst xmlns:a="http://schemas.openxmlformats.org/drawingml/2006/main">
              <a:ext uri="{FF2B5EF4-FFF2-40B4-BE49-F238E27FC236}">
                <a16:creationId xmlns:a16="http://schemas.microsoft.com/office/drawing/2014/main" id="{B69DC042-F631-4CB4-AADF-A2395AE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top-0-n">
            <a:extLst xmlns:a="http://schemas.openxmlformats.org/drawingml/2006/main">
              <a:ext uri="{FF2B5EF4-FFF2-40B4-BE49-F238E27FC236}">
                <a16:creationId xmlns:a16="http://schemas.microsoft.com/office/drawing/2014/main" id="{93BFE30F-03A7-456C-9048-8925E672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top-0-title">
            <a:extLst xmlns:a="http://schemas.openxmlformats.org/drawingml/2006/main">
              <a:ext uri="{FF2B5EF4-FFF2-40B4-BE49-F238E27FC236}">
                <a16:creationId xmlns:a16="http://schemas.microsoft.com/office/drawing/2014/main" id="{4970F708-CA27-48B6-B5C2-030D2520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Recepción</a:t>
            </a:r>
          </a:p>
        </p:txBody>
      </p:sp>
      <p:sp>
        <p:nvSpPr>
          <p:cNvPr id="14" name="top-0-detail">
            <a:extLst xmlns:a="http://schemas.openxmlformats.org/drawingml/2006/main">
              <a:ext uri="{FF2B5EF4-FFF2-40B4-BE49-F238E27FC236}">
                <a16:creationId xmlns:a16="http://schemas.microsoft.com/office/drawing/2014/main" id="{B7DEC12A-8CDC-417C-9F73-3EEE9A59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Gmail read-only o PDF</a:t>
            </a:r>
          </a:p>
        </p:txBody>
      </p:sp>
      <p:sp>
        <p:nvSpPr>
          <p:cNvPr id="15" name="top-1-box">
            <a:extLst xmlns:a="http://schemas.openxmlformats.org/drawingml/2006/main">
              <a:ext uri="{FF2B5EF4-FFF2-40B4-BE49-F238E27FC236}">
                <a16:creationId xmlns:a16="http://schemas.microsoft.com/office/drawing/2014/main" id="{1D5129E5-B2A1-44AD-A681-37796956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top-1-n">
            <a:extLst xmlns:a="http://schemas.openxmlformats.org/drawingml/2006/main">
              <a:ext uri="{FF2B5EF4-FFF2-40B4-BE49-F238E27FC236}">
                <a16:creationId xmlns:a16="http://schemas.microsoft.com/office/drawing/2014/main" id="{45EFB89A-3AD8-46E3-A89F-FB81A6A6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 xmlns:a="http://schemas.openxmlformats.org/drawingml/2006/main">
              <a:ext uri="{FF2B5EF4-FFF2-40B4-BE49-F238E27FC236}">
                <a16:creationId xmlns:a16="http://schemas.microsoft.com/office/drawing/2014/main" id="{D8F47466-D8D9-4FD5-8048-DD5BF58F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Lectura</a:t>
            </a:r>
          </a:p>
        </p:txBody>
      </p:sp>
      <p:sp>
        <p:nvSpPr>
          <p:cNvPr id="18" name="top-1-detail">
            <a:extLst xmlns:a="http://schemas.openxmlformats.org/drawingml/2006/main">
              <a:ext uri="{FF2B5EF4-FFF2-40B4-BE49-F238E27FC236}">
                <a16:creationId xmlns:a16="http://schemas.microsoft.com/office/drawing/2014/main" id="{2488B7FD-C1EC-471D-9399-E5A7FA43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 AI + evidencia</a:t>
            </a:r>
          </a:p>
        </p:txBody>
      </p:sp>
      <p:sp>
        <p:nvSpPr>
          <p:cNvPr id="19" name="top-2-box">
            <a:extLst xmlns:a="http://schemas.openxmlformats.org/drawingml/2006/main">
              <a:ext uri="{FF2B5EF4-FFF2-40B4-BE49-F238E27FC236}">
                <a16:creationId xmlns:a16="http://schemas.microsoft.com/office/drawing/2014/main" id="{A88F7705-3FFE-466D-BDA2-AD080146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top-2-n">
            <a:extLst xmlns:a="http://schemas.openxmlformats.org/drawingml/2006/main">
              <a:ext uri="{FF2B5EF4-FFF2-40B4-BE49-F238E27FC236}">
                <a16:creationId xmlns:a16="http://schemas.microsoft.com/office/drawing/2014/main" id="{B7BD8197-C859-4F75-9503-49245C06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 xmlns:a="http://schemas.openxmlformats.org/drawingml/2006/main">
              <a:ext uri="{FF2B5EF4-FFF2-40B4-BE49-F238E27FC236}">
                <a16:creationId xmlns:a16="http://schemas.microsoft.com/office/drawing/2014/main" id="{DC5A5139-48B3-4832-8C92-ADB459F8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2" name="top-2-detail">
            <a:extLst xmlns:a="http://schemas.openxmlformats.org/drawingml/2006/main">
              <a:ext uri="{FF2B5EF4-FFF2-40B4-BE49-F238E27FC236}">
                <a16:creationId xmlns:a16="http://schemas.microsoft.com/office/drawing/2014/main" id="{B540118B-95EC-4382-BE32-4900ECF5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 · non-PO · anticipos</a:t>
            </a:r>
          </a:p>
        </p:txBody>
      </p:sp>
      <p:sp>
        <p:nvSpPr>
          <p:cNvPr id="23" name="top-3-box">
            <a:extLst xmlns:a="http://schemas.openxmlformats.org/drawingml/2006/main">
              <a:ext uri="{FF2B5EF4-FFF2-40B4-BE49-F238E27FC236}">
                <a16:creationId xmlns:a16="http://schemas.microsoft.com/office/drawing/2014/main" id="{04ACC48C-3473-4BA6-ABDA-FE98510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top-3-n">
            <a:extLst xmlns:a="http://schemas.openxmlformats.org/drawingml/2006/main">
              <a:ext uri="{FF2B5EF4-FFF2-40B4-BE49-F238E27FC236}">
                <a16:creationId xmlns:a16="http://schemas.microsoft.com/office/drawing/2014/main" id="{FA058BC5-BAEB-4D07-9EDD-CBE0FD2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 xmlns:a="http://schemas.openxmlformats.org/drawingml/2006/main">
              <a:ext uri="{FF2B5EF4-FFF2-40B4-BE49-F238E27FC236}">
                <a16:creationId xmlns:a16="http://schemas.microsoft.com/office/drawing/2014/main" id="{51993BBD-DE11-497F-942B-15DA4051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26" name="top-3-detail">
            <a:extLst xmlns:a="http://schemas.openxmlformats.org/drawingml/2006/main">
              <a:ext uri="{FF2B5EF4-FFF2-40B4-BE49-F238E27FC236}">
                <a16:creationId xmlns:a16="http://schemas.microsoft.com/office/drawing/2014/main" id="{EFCA31B4-FB35-4554-BA5B-FC6E48C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C0–C11 · hard/soft flags</a:t>
            </a:r>
          </a:p>
        </p:txBody>
      </p:sp>
      <p:sp>
        <p:nvSpPr>
          <p:cNvPr id="27" name="bottom-0-box">
            <a:extLst xmlns:a="http://schemas.openxmlformats.org/drawingml/2006/main">
              <a:ext uri="{FF2B5EF4-FFF2-40B4-BE49-F238E27FC236}">
                <a16:creationId xmlns:a16="http://schemas.microsoft.com/office/drawing/2014/main" id="{3EA17A5D-0B01-4D02-B6EB-DC2B04D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bottom-0-n">
            <a:extLst xmlns:a="http://schemas.openxmlformats.org/drawingml/2006/main">
              <a:ext uri="{FF2B5EF4-FFF2-40B4-BE49-F238E27FC236}">
                <a16:creationId xmlns:a16="http://schemas.microsoft.com/office/drawing/2014/main" id="{2DDC2655-80DF-444F-A0E1-69A7A90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 xmlns:a="http://schemas.openxmlformats.org/drawingml/2006/main">
              <a:ext uri="{FF2B5EF4-FFF2-40B4-BE49-F238E27FC236}">
                <a16:creationId xmlns:a16="http://schemas.microsoft.com/office/drawing/2014/main" id="{B9BAF657-4FC8-4C8C-AE83-D5EDD2E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0" name="bottom-0-detail">
            <a:extLst xmlns:a="http://schemas.openxmlformats.org/drawingml/2006/main">
              <a:ext uri="{FF2B5EF4-FFF2-40B4-BE49-F238E27FC236}">
                <a16:creationId xmlns:a16="http://schemas.microsoft.com/office/drawing/2014/main" id="{E6F4D2E5-628B-4039-9673-660ABE5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Conciliación + audit trail</a:t>
            </a:r>
          </a:p>
        </p:txBody>
      </p:sp>
      <p:sp>
        <p:nvSpPr>
          <p:cNvPr id="31" name="bottom-1-box">
            <a:extLst xmlns:a="http://schemas.openxmlformats.org/drawingml/2006/main">
              <a:ext uri="{FF2B5EF4-FFF2-40B4-BE49-F238E27FC236}">
                <a16:creationId xmlns:a16="http://schemas.microsoft.com/office/drawing/2014/main" id="{A91C8CA6-EE82-4F57-BF1C-493367A7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bottom-1-n">
            <a:extLst xmlns:a="http://schemas.openxmlformats.org/drawingml/2006/main">
              <a:ext uri="{FF2B5EF4-FFF2-40B4-BE49-F238E27FC236}">
                <a16:creationId xmlns:a16="http://schemas.microsoft.com/office/drawing/2014/main" id="{2D574130-A2DE-4F3B-9D71-FBC7BC06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 xmlns:a="http://schemas.openxmlformats.org/drawingml/2006/main">
              <a:ext uri="{FF2B5EF4-FFF2-40B4-BE49-F238E27FC236}">
                <a16:creationId xmlns:a16="http://schemas.microsoft.com/office/drawing/2014/main" id="{FD7C699A-1D33-4AA8-A864-22B7126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</a:t>
            </a:r>
          </a:p>
        </p:txBody>
      </p:sp>
      <p:sp>
        <p:nvSpPr>
          <p:cNvPr id="34" name="bottom-1-detail">
            <a:extLst xmlns:a="http://schemas.openxmlformats.org/drawingml/2006/main">
              <a:ext uri="{FF2B5EF4-FFF2-40B4-BE49-F238E27FC236}">
                <a16:creationId xmlns:a16="http://schemas.microsoft.com/office/drawing/2014/main" id="{0C5A9990-C063-48C0-B79F-A9DA7BB5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Human gate obligatorio</a:t>
            </a:r>
          </a:p>
        </p:txBody>
      </p:sp>
      <p:sp>
        <p:nvSpPr>
          <p:cNvPr id="35" name="bottom-2-box">
            <a:extLst xmlns:a="http://schemas.openxmlformats.org/drawingml/2006/main">
              <a:ext uri="{FF2B5EF4-FFF2-40B4-BE49-F238E27FC236}">
                <a16:creationId xmlns:a16="http://schemas.microsoft.com/office/drawing/2014/main" id="{2CED8593-4397-427A-9129-A036411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bottom-2-n">
            <a:extLst xmlns:a="http://schemas.openxmlformats.org/drawingml/2006/main">
              <a:ext uri="{FF2B5EF4-FFF2-40B4-BE49-F238E27FC236}">
                <a16:creationId xmlns:a16="http://schemas.microsoft.com/office/drawing/2014/main" id="{8CE08DF1-4711-4BB6-B7FF-2880BF0E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 xmlns:a="http://schemas.openxmlformats.org/drawingml/2006/main">
              <a:ext uri="{FF2B5EF4-FFF2-40B4-BE49-F238E27FC236}">
                <a16:creationId xmlns:a16="http://schemas.microsoft.com/office/drawing/2014/main" id="{2069199C-D599-4BC1-8C3C-96808B15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Maker–checker</a:t>
            </a:r>
          </a:p>
        </p:txBody>
      </p:sp>
      <p:sp>
        <p:nvSpPr>
          <p:cNvPr id="38" name="bottom-2-detail">
            <a:extLst xmlns:a="http://schemas.openxmlformats.org/drawingml/2006/main">
              <a:ext uri="{FF2B5EF4-FFF2-40B4-BE49-F238E27FC236}">
                <a16:creationId xmlns:a16="http://schemas.microsoft.com/office/drawing/2014/main" id="{5DBB5F40-7E28-4A71-8721-5215BAF1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Doble validación</a:t>
            </a:r>
          </a:p>
        </p:txBody>
      </p:sp>
      <p:sp>
        <p:nvSpPr>
          <p:cNvPr id="39" name="bottom-3-box">
            <a:extLst xmlns:a="http://schemas.openxmlformats.org/drawingml/2006/main">
              <a:ext uri="{FF2B5EF4-FFF2-40B4-BE49-F238E27FC236}">
                <a16:creationId xmlns:a16="http://schemas.microsoft.com/office/drawing/2014/main" id="{2EDC5336-3C40-4FC2-9B48-8A062EB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2514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0" name="bottom-3-n">
            <a:extLst xmlns:a="http://schemas.openxmlformats.org/drawingml/2006/main">
              <a:ext uri="{FF2B5EF4-FFF2-40B4-BE49-F238E27FC236}">
                <a16:creationId xmlns:a16="http://schemas.microsoft.com/office/drawing/2014/main" id="{A50D60F9-CD00-46CB-ACE8-D17423F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 xmlns:a="http://schemas.openxmlformats.org/drawingml/2006/main">
              <a:ext uri="{FF2B5EF4-FFF2-40B4-BE49-F238E27FC236}">
                <a16:creationId xmlns:a16="http://schemas.microsoft.com/office/drawing/2014/main" id="{7F04D6CE-54B2-48DA-903D-8FB49AD4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86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42" name="bottom-3-detail">
            <a:extLst xmlns:a="http://schemas.openxmlformats.org/drawingml/2006/main">
              <a:ext uri="{FF2B5EF4-FFF2-40B4-BE49-F238E27FC236}">
                <a16:creationId xmlns:a16="http://schemas.microsoft.com/office/drawing/2014/main" id="{AB873113-D0B0-4D87-922A-EE8B154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911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Solo datos inciertos</a:t>
            </a:r>
          </a:p>
        </p:txBody>
      </p:sp>
      <p:sp>
        <p:nvSpPr>
          <p:cNvPr id="43" name="flow-top-arrow-0">
            <a:extLst xmlns:a="http://schemas.openxmlformats.org/drawingml/2006/main">
              <a:ext uri="{FF2B5EF4-FFF2-40B4-BE49-F238E27FC236}">
                <a16:creationId xmlns:a16="http://schemas.microsoft.com/office/drawing/2014/main" id="{62A57F31-F9C6-4ED8-9E28-122B3234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 xmlns:a="http://schemas.openxmlformats.org/drawingml/2006/main">
              <a:ext uri="{FF2B5EF4-FFF2-40B4-BE49-F238E27FC236}">
                <a16:creationId xmlns:a16="http://schemas.microsoft.com/office/drawing/2014/main" id="{92CF8F2A-F3F9-4E0F-ACE9-67BBE793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 xmlns:a="http://schemas.openxmlformats.org/drawingml/2006/main">
              <a:ext uri="{FF2B5EF4-FFF2-40B4-BE49-F238E27FC236}">
                <a16:creationId xmlns:a16="http://schemas.microsoft.com/office/drawing/2014/main" id="{1FE6635C-4625-4DB1-A614-77D63D8B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 xmlns:a="http://schemas.openxmlformats.org/drawingml/2006/main">
              <a:ext uri="{FF2B5EF4-FFF2-40B4-BE49-F238E27FC236}">
                <a16:creationId xmlns:a16="http://schemas.microsoft.com/office/drawing/2014/main" id="{465CE3E6-CB0F-47C0-B46A-65FDDF3B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 xmlns:a="http://schemas.openxmlformats.org/drawingml/2006/main">
              <a:ext uri="{FF2B5EF4-FFF2-40B4-BE49-F238E27FC236}">
                <a16:creationId xmlns:a16="http://schemas.microsoft.com/office/drawing/2014/main" id="{440C6CCF-65E1-4470-9BAF-75D05AEC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479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 xmlns:a="http://schemas.openxmlformats.org/drawingml/2006/main">
              <a:ext uri="{FF2B5EF4-FFF2-40B4-BE49-F238E27FC236}">
                <a16:creationId xmlns:a16="http://schemas.microsoft.com/office/drawing/2014/main" id="{A1B9411D-FA76-4D94-B685-5C306EB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577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 xmlns:a="http://schemas.openxmlformats.org/drawingml/2006/main">
              <a:ext uri="{FF2B5EF4-FFF2-40B4-BE49-F238E27FC236}">
                <a16:creationId xmlns:a16="http://schemas.microsoft.com/office/drawing/2014/main" id="{682B222F-87C7-4FB7-AAF7-3046C84D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62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 xmlns:a="http://schemas.openxmlformats.org/drawingml/2006/main">
              <a:ext uri="{FF2B5EF4-FFF2-40B4-BE49-F238E27FC236}">
                <a16:creationId xmlns:a16="http://schemas.microsoft.com/office/drawing/2014/main" id="{12D640C2-A376-4540-BAF7-953A08B6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AUTOMATIZACIÓN Y CONTROL</a:t>
            </a:r>
          </a:p>
        </p:txBody>
      </p:sp>
      <p:sp>
        <p:nvSpPr>
          <p:cNvPr id="51" name="flow-governance-label">
            <a:extLst xmlns:a="http://schemas.openxmlformats.org/drawingml/2006/main">
              <a:ext uri="{FF2B5EF4-FFF2-40B4-BE49-F238E27FC236}">
                <a16:creationId xmlns:a16="http://schemas.microsoft.com/office/drawing/2014/main" id="{BFD43626-1146-4376-9CCB-8BC9EB9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Y DECISIÓN</a:t>
            </a:r>
          </a:p>
        </p:txBody>
      </p:sp>
      <p:sp>
        <p:nvSpPr>
          <p:cNvPr id="52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810ADCE8-C0DA-4C93-A23B-8B3EA343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5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02D0F9F-0F96-4FE4-8134-55EDE164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732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6AFCA6AC-FB45-45E6-8962-4B54D80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CASOS DE USO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0B27B2E-A970-4FED-863F-DCE7890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control tower concentra las excepciones que realmente aparecen en Accounts Payable.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08787772-F51F-49D2-AF98-1DA8CDA1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rols-thesis">
            <a:extLst xmlns:a="http://schemas.openxmlformats.org/drawingml/2006/main">
              <a:ext uri="{FF2B5EF4-FFF2-40B4-BE49-F238E27FC236}">
                <a16:creationId xmlns:a16="http://schemas.microsoft.com/office/drawing/2014/main" id="{D3206695-3E5E-4533-91A2-4CC0976D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4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Una sola cola operativa reúne riesgo, evidencia y responsable antes de que la factura llegue al lote de pago.</a:t>
            </a:r>
          </a:p>
        </p:txBody>
      </p:sp>
      <p:sp>
        <p:nvSpPr>
          <p:cNvPr id="5" name="controls-support">
            <a:extLst xmlns:a="http://schemas.openxmlformats.org/drawingml/2006/main">
              <a:ext uri="{FF2B5EF4-FFF2-40B4-BE49-F238E27FC236}">
                <a16:creationId xmlns:a16="http://schemas.microsoft.com/office/drawing/2014/main" id="{E8DA9354-067E-4643-A8F5-B9CF6612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Las reglas son explícitas, configurables y auditables.</a:t>
            </a:r>
          </a:p>
        </p:txBody>
      </p:sp>
      <p:sp>
        <p:nvSpPr>
          <p:cNvPr id="6" name="control-index-0">
            <a:extLst xmlns:a="http://schemas.openxmlformats.org/drawingml/2006/main">
              <a:ext uri="{FF2B5EF4-FFF2-40B4-BE49-F238E27FC236}">
                <a16:creationId xmlns:a16="http://schemas.microsoft.com/office/drawing/2014/main" id="{7442C46C-8754-4B29-969C-AF6D1FB2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control-title-0">
            <a:extLst xmlns:a="http://schemas.openxmlformats.org/drawingml/2006/main">
              <a:ext uri="{FF2B5EF4-FFF2-40B4-BE49-F238E27FC236}">
                <a16:creationId xmlns:a16="http://schemas.microsoft.com/office/drawing/2014/main" id="{C3501780-71A6-4C7C-B84D-F539FBCE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Duplicados</a:t>
            </a:r>
          </a:p>
        </p:txBody>
      </p:sp>
      <p:sp>
        <p:nvSpPr>
          <p:cNvPr id="8" name="control-body-0">
            <a:extLst xmlns:a="http://schemas.openxmlformats.org/drawingml/2006/main">
              <a:ext uri="{FF2B5EF4-FFF2-40B4-BE49-F238E27FC236}">
                <a16:creationId xmlns:a16="http://schemas.microsoft.com/office/drawing/2014/main" id="{2484887D-4C29-4167-85C1-AC9D6AD0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Número, proveedor, importe y proximidad temporal.</a:t>
            </a:r>
          </a:p>
        </p:txBody>
      </p:sp>
      <p:sp>
        <p:nvSpPr>
          <p:cNvPr id="9" name="control-row-rule-0">
            <a:extLst xmlns:a="http://schemas.openxmlformats.org/drawingml/2006/main">
              <a:ext uri="{FF2B5EF4-FFF2-40B4-BE49-F238E27FC236}">
                <a16:creationId xmlns:a16="http://schemas.microsoft.com/office/drawing/2014/main" id="{FCB412E8-80CF-4661-BC3A-5CB0689F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trol-index-1">
            <a:extLst xmlns:a="http://schemas.openxmlformats.org/drawingml/2006/main">
              <a:ext uri="{FF2B5EF4-FFF2-40B4-BE49-F238E27FC236}">
                <a16:creationId xmlns:a16="http://schemas.microsoft.com/office/drawing/2014/main" id="{FF76AB20-B3B6-41EB-B327-CEB2146C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control-title-1">
            <a:extLst xmlns:a="http://schemas.openxmlformats.org/drawingml/2006/main">
              <a:ext uri="{FF2B5EF4-FFF2-40B4-BE49-F238E27FC236}">
                <a16:creationId xmlns:a16="http://schemas.microsoft.com/office/drawing/2014/main" id="{14BD9124-50F2-4CDD-8220-65FEC932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Cambio de IBAN</a:t>
            </a:r>
          </a:p>
        </p:txBody>
      </p:sp>
      <p:sp>
        <p:nvSpPr>
          <p:cNvPr id="12" name="control-body-1">
            <a:extLst xmlns:a="http://schemas.openxmlformats.org/drawingml/2006/main">
              <a:ext uri="{FF2B5EF4-FFF2-40B4-BE49-F238E27FC236}">
                <a16:creationId xmlns:a16="http://schemas.microsoft.com/office/drawing/2014/main" id="{8EA474F8-557B-4531-A929-4A6A6C3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956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Comparación contra maestro y bloqueo con evidencia divergente.</a:t>
            </a:r>
          </a:p>
        </p:txBody>
      </p:sp>
      <p:sp>
        <p:nvSpPr>
          <p:cNvPr id="13" name="control-row-rule-1">
            <a:extLst xmlns:a="http://schemas.openxmlformats.org/drawingml/2006/main">
              <a:ext uri="{FF2B5EF4-FFF2-40B4-BE49-F238E27FC236}">
                <a16:creationId xmlns:a16="http://schemas.microsoft.com/office/drawing/2014/main" id="{602D833F-FA6A-4B8F-96D5-10C65107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ol-index-2">
            <a:extLst xmlns:a="http://schemas.openxmlformats.org/drawingml/2006/main">
              <a:ext uri="{FF2B5EF4-FFF2-40B4-BE49-F238E27FC236}">
                <a16:creationId xmlns:a16="http://schemas.microsoft.com/office/drawing/2014/main" id="{5AF9C3B3-F38B-481D-A330-8073391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control-title-2">
            <a:extLst xmlns:a="http://schemas.openxmlformats.org/drawingml/2006/main">
              <a:ext uri="{FF2B5EF4-FFF2-40B4-BE49-F238E27FC236}">
                <a16:creationId xmlns:a16="http://schemas.microsoft.com/office/drawing/2014/main" id="{D9CDA1D9-8387-4C82-A14A-F61172DA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91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/ non-PO</a:t>
            </a:r>
          </a:p>
        </p:txBody>
      </p:sp>
      <p:sp>
        <p:nvSpPr>
          <p:cNvPr id="16" name="control-body-2">
            <a:extLst xmlns:a="http://schemas.openxmlformats.org/drawingml/2006/main">
              <a:ext uri="{FF2B5EF4-FFF2-40B4-BE49-F238E27FC236}">
                <a16:creationId xmlns:a16="http://schemas.microsoft.com/office/drawing/2014/main" id="{DDF86641-E228-455B-9314-DEF3EF2E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Match y saldo o ruta gobernada de aprobación e imputación.</a:t>
            </a:r>
          </a:p>
        </p:txBody>
      </p:sp>
      <p:sp>
        <p:nvSpPr>
          <p:cNvPr id="17" name="control-row-rule-2">
            <a:extLst xmlns:a="http://schemas.openxmlformats.org/drawingml/2006/main">
              <a:ext uri="{FF2B5EF4-FFF2-40B4-BE49-F238E27FC236}">
                <a16:creationId xmlns:a16="http://schemas.microsoft.com/office/drawing/2014/main" id="{F9940865-F9B1-4005-A5BD-898CD8C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ol-index-3">
            <a:extLst xmlns:a="http://schemas.openxmlformats.org/drawingml/2006/main">
              <a:ext uri="{FF2B5EF4-FFF2-40B4-BE49-F238E27FC236}">
                <a16:creationId xmlns:a16="http://schemas.microsoft.com/office/drawing/2014/main" id="{3E089F8D-B288-4BED-BE2F-18A941B7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86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control-title-3">
            <a:extLst xmlns:a="http://schemas.openxmlformats.org/drawingml/2006/main">
              <a:ext uri="{FF2B5EF4-FFF2-40B4-BE49-F238E27FC236}">
                <a16:creationId xmlns:a16="http://schemas.microsoft.com/office/drawing/2014/main" id="{49330192-8617-46F4-8129-DF3066D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86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Cashflow vs. ERP</a:t>
            </a:r>
          </a:p>
        </p:txBody>
      </p:sp>
      <p:sp>
        <p:nvSpPr>
          <p:cNvPr id="20" name="control-body-3">
            <a:extLst xmlns:a="http://schemas.openxmlformats.org/drawingml/2006/main">
              <a:ext uri="{FF2B5EF4-FFF2-40B4-BE49-F238E27FC236}">
                <a16:creationId xmlns:a16="http://schemas.microsoft.com/office/drawing/2014/main" id="{F2720A9B-69C9-4C6D-BD0C-5195A91B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8635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Diferencias detectadas antes de enviar el lote al banco.</a:t>
            </a:r>
          </a:p>
        </p:txBody>
      </p:sp>
      <p:sp>
        <p:nvSpPr>
          <p:cNvPr id="21" name="controls-extra">
            <a:extLst xmlns:a="http://schemas.openxmlformats.org/drawingml/2006/main">
              <a:ext uri="{FF2B5EF4-FFF2-40B4-BE49-F238E27FC236}">
                <a16:creationId xmlns:a16="http://schemas.microsoft.com/office/drawing/2014/main" id="{DF8F9F4C-BEEC-4DE1-A6EE-4594EF50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48375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7C8A99"/>
                </a:solidFill>
                <a:latin typeface="Aptos"/>
                <a:ea typeface="Aptos"/>
                <a:cs typeface="Aptos"/>
              </a:rPr>
              <a:t>También contempla proformas, anticipos, SEPA, tarjeta, IVA, autorizaciones y conciliación.</a:t>
            </a:r>
          </a:p>
        </p:txBody>
      </p:sp>
      <p:sp>
        <p:nvSpPr>
          <p:cNvPr id="22" name="footer-note-5">
            <a:extLst xmlns:a="http://schemas.openxmlformats.org/drawingml/2006/main">
              <a:ext uri="{FF2B5EF4-FFF2-40B4-BE49-F238E27FC236}">
                <a16:creationId xmlns:a16="http://schemas.microsoft.com/office/drawing/2014/main" id="{8EDB34AE-9CD9-4DBA-A593-7E254CBE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2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919D0467-E89F-4226-AB22-C052F5F2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953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0DAD5B21-733D-49E2-930F-DE730463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EVIDENCIA CONTROLADA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7D57D93-9B17-49B3-A27B-848C897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demo muestra el circuito funcionando.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38E076CA-902A-4183-8DD4-C43D45D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Resultados de una corrida sintética auditada de junio de 2026; no representan resultados históricos de un cliente.</a:t>
            </a:r>
          </a:p>
        </p:txBody>
      </p:sp>
      <p:sp>
        <p:nvSpPr>
          <p:cNvPr id="4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FF79F41C-13F0-45A0-B47B-27B803F3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vidence-1-surface">
            <a:extLst xmlns:a="http://schemas.openxmlformats.org/drawingml/2006/main">
              <a:ext uri="{FF2B5EF4-FFF2-40B4-BE49-F238E27FC236}">
                <a16:creationId xmlns:a16="http://schemas.microsoft.com/office/drawing/2014/main" id="{143449B6-F125-412F-876D-2A9C1718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1-value">
            <a:extLst xmlns:a="http://schemas.openxmlformats.org/drawingml/2006/main">
              <a:ext uri="{FF2B5EF4-FFF2-40B4-BE49-F238E27FC236}">
                <a16:creationId xmlns:a16="http://schemas.microsoft.com/office/drawing/2014/main" id="{03BCE962-C3F2-43DB-906C-1053AD8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evidence-1-label">
            <a:extLst xmlns:a="http://schemas.openxmlformats.org/drawingml/2006/main">
              <a:ext uri="{FF2B5EF4-FFF2-40B4-BE49-F238E27FC236}">
                <a16:creationId xmlns:a16="http://schemas.microsoft.com/office/drawing/2014/main" id="{43A8A313-6C1D-4B32-A99B-ECF6641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documentos procesados</a:t>
            </a:r>
          </a:p>
        </p:txBody>
      </p:sp>
      <p:sp>
        <p:nvSpPr>
          <p:cNvPr id="8" name="evidence-2-surface">
            <a:extLst xmlns:a="http://schemas.openxmlformats.org/drawingml/2006/main">
              <a:ext uri="{FF2B5EF4-FFF2-40B4-BE49-F238E27FC236}">
                <a16:creationId xmlns:a16="http://schemas.microsoft.com/office/drawing/2014/main" id="{F84C3B8C-922A-40E9-8476-2F0AB2B7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idence-2-value">
            <a:extLst xmlns:a="http://schemas.openxmlformats.org/drawingml/2006/main">
              <a:ext uri="{FF2B5EF4-FFF2-40B4-BE49-F238E27FC236}">
                <a16:creationId xmlns:a16="http://schemas.microsoft.com/office/drawing/2014/main" id="{B0F7D6A4-3A35-418C-AF6C-6731441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0" name="evidence-2-label">
            <a:extLst xmlns:a="http://schemas.openxmlformats.org/drawingml/2006/main">
              <a:ext uri="{FF2B5EF4-FFF2-40B4-BE49-F238E27FC236}">
                <a16:creationId xmlns:a16="http://schemas.microsoft.com/office/drawing/2014/main" id="{58620611-55D5-49CD-96A9-AE55F56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pagables</a:t>
            </a:r>
          </a:p>
        </p:txBody>
      </p:sp>
      <p:sp>
        <p:nvSpPr>
          <p:cNvPr id="11" name="evidence-3-surface">
            <a:extLst xmlns:a="http://schemas.openxmlformats.org/drawingml/2006/main">
              <a:ext uri="{FF2B5EF4-FFF2-40B4-BE49-F238E27FC236}">
                <a16:creationId xmlns:a16="http://schemas.microsoft.com/office/drawing/2014/main" id="{6AEB8A73-3216-4654-8C6B-0B45DB6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533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3-value">
            <a:extLst xmlns:a="http://schemas.openxmlformats.org/drawingml/2006/main">
              <a:ext uri="{FF2B5EF4-FFF2-40B4-BE49-F238E27FC236}">
                <a16:creationId xmlns:a16="http://schemas.microsoft.com/office/drawing/2014/main" id="{7611560C-B651-4723-B18D-C0FAF9E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00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€98.859,85</a:t>
            </a:r>
          </a:p>
        </p:txBody>
      </p:sp>
      <p:sp>
        <p:nvSpPr>
          <p:cNvPr id="13" name="evidence-3-label">
            <a:extLst xmlns:a="http://schemas.openxmlformats.org/drawingml/2006/main">
              <a:ext uri="{FF2B5EF4-FFF2-40B4-BE49-F238E27FC236}">
                <a16:creationId xmlns:a16="http://schemas.microsoft.com/office/drawing/2014/main" id="{C4481911-3C08-4132-8ADE-3E9D05F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propuestos para pago</a:t>
            </a:r>
          </a:p>
        </p:txBody>
      </p:sp>
      <p:sp>
        <p:nvSpPr>
          <p:cNvPr id="14" name="evidence-4-surface">
            <a:extLst xmlns:a="http://schemas.openxmlformats.org/drawingml/2006/main">
              <a:ext uri="{FF2B5EF4-FFF2-40B4-BE49-F238E27FC236}">
                <a16:creationId xmlns:a16="http://schemas.microsoft.com/office/drawing/2014/main" id="{BEFA3A9E-C807-433C-BCA9-3C586EB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800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4-value">
            <a:extLst xmlns:a="http://schemas.openxmlformats.org/drawingml/2006/main">
              <a:ext uri="{FF2B5EF4-FFF2-40B4-BE49-F238E27FC236}">
                <a16:creationId xmlns:a16="http://schemas.microsoft.com/office/drawing/2014/main" id="{6768E0F4-E946-4431-A4E1-34B3B69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€42.057,30</a:t>
            </a:r>
          </a:p>
        </p:txBody>
      </p:sp>
      <p:sp>
        <p:nvSpPr>
          <p:cNvPr id="16" name="evidence-4-label">
            <a:extLst xmlns:a="http://schemas.openxmlformats.org/drawingml/2006/main">
              <a:ext uri="{FF2B5EF4-FFF2-40B4-BE49-F238E27FC236}">
                <a16:creationId xmlns:a16="http://schemas.microsoft.com/office/drawing/2014/main" id="{E4B26A03-C880-47EE-821D-9B7F9AB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3852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retenidos por controles</a:t>
            </a:r>
          </a:p>
        </p:txBody>
      </p:sp>
      <p:sp>
        <p:nvSpPr>
          <p:cNvPr id="17" name="evidence-note-title-0">
            <a:extLst xmlns:a="http://schemas.openxmlformats.org/drawingml/2006/main">
              <a:ext uri="{FF2B5EF4-FFF2-40B4-BE49-F238E27FC236}">
                <a16:creationId xmlns:a16="http://schemas.microsoft.com/office/drawing/2014/main" id="{86976F65-EA60-4493-98E6-35D8D92B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IBAN divergente detenido</a:t>
            </a:r>
          </a:p>
        </p:txBody>
      </p:sp>
      <p:sp>
        <p:nvSpPr>
          <p:cNvPr id="18" name="evidence-note-body-0">
            <a:extLst xmlns:a="http://schemas.openxmlformats.org/drawingml/2006/main">
              <a:ext uri="{FF2B5EF4-FFF2-40B4-BE49-F238E27FC236}">
                <a16:creationId xmlns:a16="http://schemas.microsoft.com/office/drawing/2014/main" id="{500C3BB5-760D-4AE3-9620-B9F6D73A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sistema bloqueó automáticamente el cambio antes del lote.</a:t>
            </a:r>
          </a:p>
        </p:txBody>
      </p:sp>
      <p:sp>
        <p:nvSpPr>
          <p:cNvPr id="19" name="evidence-note-title-1">
            <a:extLst xmlns:a="http://schemas.openxmlformats.org/drawingml/2006/main">
              <a:ext uri="{FF2B5EF4-FFF2-40B4-BE49-F238E27FC236}">
                <a16:creationId xmlns:a16="http://schemas.microsoft.com/office/drawing/2014/main" id="{9E76D562-436B-452A-A20A-958875C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Gate humano no salteable</a:t>
            </a:r>
          </a:p>
        </p:txBody>
      </p:sp>
      <p:sp>
        <p:nvSpPr>
          <p:cNvPr id="20" name="evidence-note-body-1">
            <a:extLst xmlns:a="http://schemas.openxmlformats.org/drawingml/2006/main">
              <a:ext uri="{FF2B5EF4-FFF2-40B4-BE49-F238E27FC236}">
                <a16:creationId xmlns:a16="http://schemas.microsoft.com/office/drawing/2014/main" id="{76E31704-5CFA-45D7-A592-8E6897E4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815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Las pruebas exigen aprobación y doble sign-off para avanzar.</a:t>
            </a:r>
          </a:p>
        </p:txBody>
      </p:sp>
      <p:sp>
        <p:nvSpPr>
          <p:cNvPr id="21" name="evidence-note-title-2">
            <a:extLst xmlns:a="http://schemas.openxmlformats.org/drawingml/2006/main">
              <a:ext uri="{FF2B5EF4-FFF2-40B4-BE49-F238E27FC236}">
                <a16:creationId xmlns:a16="http://schemas.microsoft.com/office/drawing/2014/main" id="{798F3E1B-2DAE-4DC2-9DE9-D18C6F2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Trazabilidad completa</a:t>
            </a:r>
          </a:p>
        </p:txBody>
      </p:sp>
      <p:sp>
        <p:nvSpPr>
          <p:cNvPr id="22" name="evidence-note-body-2">
            <a:extLst xmlns:a="http://schemas.openxmlformats.org/drawingml/2006/main">
              <a:ext uri="{FF2B5EF4-FFF2-40B4-BE49-F238E27FC236}">
                <a16:creationId xmlns:a16="http://schemas.microsoft.com/office/drawing/2014/main" id="{FA1CE94C-7505-4E2A-B023-F1E571F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815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Controles, evidencia y decisiones forman un audit trail verificable.</a:t>
            </a:r>
          </a:p>
        </p:txBody>
      </p:sp>
      <p:sp>
        <p:nvSpPr>
          <p:cNvPr id="23" name="evidence-demo-link">
            <a:extLst xmlns:a="http://schemas.openxmlformats.org/drawingml/2006/main">
              <a:ext uri="{FF2B5EF4-FFF2-40B4-BE49-F238E27FC236}">
                <a16:creationId xmlns:a16="http://schemas.microsoft.com/office/drawing/2014/main" id="{D71AD148-C2E2-4C1A-BDA0-AE74302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Experiencia disponible: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c9e6ba2f4d6d4505"/>
              </a:rPr>
              <a:t>abrir demo guiada ↗</a:t>
            </a:r>
          </a:p>
        </p:txBody>
      </p:sp>
      <p:sp>
        <p:nvSpPr>
          <p:cNvPr id="24" name="footer-note-6">
            <a:extLst xmlns:a="http://schemas.openxmlformats.org/drawingml/2006/main">
              <a:ext uri="{FF2B5EF4-FFF2-40B4-BE49-F238E27FC236}">
                <a16:creationId xmlns:a16="http://schemas.microsoft.com/office/drawing/2014/main" id="{17D26951-B0A0-493A-8764-4458408C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Fuente: corrida sintética auditada · junio de 2026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C31399C0-6996-4574-A0DD-A99A1B18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2127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4CE89DE3-21EF-4AA9-B09A-0F44C28F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 ECONÓMICO DE REFERENCIA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B9992AC-0FE3-441F-A0F0-A842CE4E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 supuestos conservadores, el payback se alcanza alrededor del mes 12.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677B9DD2-5A61-4D55-B0CD-44FF758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d706702cd84a7a"/>
          </a:graphicData>
        </a:graphic>
      </p:graphicFrame>
      <p:sp>
        <p:nvSpPr>
          <p:cNvPr id="5" name="roi-chart-caption">
            <a:extLst xmlns:a="http://schemas.openxmlformats.org/drawingml/2006/main">
              <a:ext uri="{FF2B5EF4-FFF2-40B4-BE49-F238E27FC236}">
                <a16:creationId xmlns:a16="http://schemas.microsoft.com/office/drawing/2014/main" id="{D3150BB1-5F70-4987-BE6F-F37610F9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Beneficio acumulado neto después de inversión inicial</a:t>
            </a:r>
          </a:p>
        </p:txBody>
      </p:sp>
      <p:sp>
        <p:nvSpPr>
          <p:cNvPr id="6" name="roi-stat-1-bg">
            <a:extLst xmlns:a="http://schemas.openxmlformats.org/drawingml/2006/main">
              <a:ext uri="{FF2B5EF4-FFF2-40B4-BE49-F238E27FC236}">
                <a16:creationId xmlns:a16="http://schemas.microsoft.com/office/drawing/2014/main" id="{148BC78D-9D13-4535-BBDB-F9FDCAAD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1695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i-stat-1">
            <a:extLst xmlns:a="http://schemas.openxmlformats.org/drawingml/2006/main">
              <a:ext uri="{FF2B5EF4-FFF2-40B4-BE49-F238E27FC236}">
                <a16:creationId xmlns:a16="http://schemas.microsoft.com/office/drawing/2014/main" id="{3B937360-F76D-4B01-A0CB-0A53DE8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31 h</a:t>
            </a:r>
          </a:p>
        </p:txBody>
      </p:sp>
      <p:sp>
        <p:nvSpPr>
          <p:cNvPr id="8" name="roi-stat-1-label">
            <a:extLst xmlns:a="http://schemas.openxmlformats.org/drawingml/2006/main">
              <a:ext uri="{FF2B5EF4-FFF2-40B4-BE49-F238E27FC236}">
                <a16:creationId xmlns:a16="http://schemas.microsoft.com/office/drawing/2014/main" id="{B89B196B-B50A-4B40-92AD-78D0C37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recuperadas por mes</a:t>
            </a:r>
          </a:p>
        </p:txBody>
      </p:sp>
      <p:sp>
        <p:nvSpPr>
          <p:cNvPr id="9" name="roi-stat-2-bg">
            <a:extLst xmlns:a="http://schemas.openxmlformats.org/drawingml/2006/main">
              <a:ext uri="{FF2B5EF4-FFF2-40B4-BE49-F238E27FC236}">
                <a16:creationId xmlns:a16="http://schemas.microsoft.com/office/drawing/2014/main" id="{F8F15EAB-28C3-46D6-99E2-F704BA59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885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i-stat-2">
            <a:extLst xmlns:a="http://schemas.openxmlformats.org/drawingml/2006/main">
              <a:ext uri="{FF2B5EF4-FFF2-40B4-BE49-F238E27FC236}">
                <a16:creationId xmlns:a16="http://schemas.microsoft.com/office/drawing/2014/main" id="{766F37F6-D585-49D8-AC72-FB70A2DA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146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196%</a:t>
            </a:r>
          </a:p>
        </p:txBody>
      </p:sp>
      <p:sp>
        <p:nvSpPr>
          <p:cNvPr id="11" name="roi-stat-2-label">
            <a:extLst xmlns:a="http://schemas.openxmlformats.org/drawingml/2006/main">
              <a:ext uri="{FF2B5EF4-FFF2-40B4-BE49-F238E27FC236}">
                <a16:creationId xmlns:a16="http://schemas.microsoft.com/office/drawing/2014/main" id="{E21C1927-DA86-4CC8-8EEF-96141410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ROI estimado a 3 años</a:t>
            </a:r>
          </a:p>
        </p:txBody>
      </p:sp>
      <p:sp>
        <p:nvSpPr>
          <p:cNvPr id="12" name="roi-assumptions-title">
            <a:extLst xmlns:a="http://schemas.openxmlformats.org/drawingml/2006/main">
              <a:ext uri="{FF2B5EF4-FFF2-40B4-BE49-F238E27FC236}">
                <a16:creationId xmlns:a16="http://schemas.microsoft.com/office/drawing/2014/main" id="{B9018731-9FF1-4F1F-B1EC-8EAD95A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Supuestos visibles</a:t>
            </a:r>
          </a:p>
        </p:txBody>
      </p:sp>
      <p:sp>
        <p:nvSpPr>
          <p:cNvPr id="13" name="roi-assumptions">
            <a:extLst xmlns:a="http://schemas.openxmlformats.org/drawingml/2006/main">
              <a:ext uri="{FF2B5EF4-FFF2-40B4-BE49-F238E27FC236}">
                <a16:creationId xmlns:a16="http://schemas.microsoft.com/office/drawing/2014/main" id="{40C7E0D4-9BCE-4D88-AE2A-21BF1B4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377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35 facturas/mes · 75 min manuales/factura · €35/h · 70% automatizable · €10.000 iniciales · €250/mes</a:t>
            </a:r>
          </a:p>
        </p:txBody>
      </p:sp>
      <p:sp>
        <p:nvSpPr>
          <p:cNvPr id="14" name="roi-disclaimer">
            <a:extLst xmlns:a="http://schemas.openxmlformats.org/drawingml/2006/main">
              <a:ext uri="{FF2B5EF4-FFF2-40B4-BE49-F238E27FC236}">
                <a16:creationId xmlns:a16="http://schemas.microsoft.com/office/drawing/2014/main" id="{EF61F9F1-7371-4132-8CE4-11584DEE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77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7C8A99"/>
                </a:solidFill>
                <a:latin typeface="Aptos"/>
                <a:ea typeface="Aptos"/>
                <a:cs typeface="Aptos"/>
              </a:rPr>
              <a:t>Modelo de capacidad, no cotización. No monetiza fraude, duplicados ni pagos tardíos.</a:t>
            </a:r>
          </a:p>
        </p:txBody>
      </p:sp>
      <p:sp>
        <p:nvSpPr>
          <p:cNvPr id="15" name="footer-note-7">
            <a:extLst xmlns:a="http://schemas.openxmlformats.org/drawingml/2006/main">
              <a:ext uri="{FF2B5EF4-FFF2-40B4-BE49-F238E27FC236}">
                <a16:creationId xmlns:a16="http://schemas.microsoft.com/office/drawing/2014/main" id="{ED675E68-3DA0-4F5F-A249-F346576A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Escenario ilustrativo; validar durante discovery</a:t>
            </a:r>
          </a:p>
        </p:txBody>
      </p:sp>
      <p:sp>
        <p:nvSpPr>
          <p:cNvPr id="1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73E2553-BF4D-4BA7-A79D-C76818E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6500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40CEA755-B94B-4791-B7BF-ABA2484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SEGURIDAD DE LA INFORMACIÓN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E467F42-1076-44F9-B312-4EB2A69F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Los documentos se procesan para la operación; no para entrenar Document AI.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FB7A5872-FA78-4445-94CD-F27DF7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urity-left-label">
            <a:extLst xmlns:a="http://schemas.openxmlformats.org/drawingml/2006/main">
              <a:ext uri="{FF2B5EF4-FFF2-40B4-BE49-F238E27FC236}">
                <a16:creationId xmlns:a16="http://schemas.microsoft.com/office/drawing/2014/main" id="{DEDBFB9A-C9A8-40C8-9D38-C69BB764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COMPROMISOS DE GOOGLE CLOUD</a:t>
            </a:r>
          </a:p>
        </p:txBody>
      </p:sp>
      <p:sp>
        <p:nvSpPr>
          <p:cNvPr id="5" name="security-left-title">
            <a:extLst xmlns:a="http://schemas.openxmlformats.org/drawingml/2006/main">
              <a:ext uri="{FF2B5EF4-FFF2-40B4-BE49-F238E27FC236}">
                <a16:creationId xmlns:a16="http://schemas.microsoft.com/office/drawing/2014/main" id="{746B0DF7-27C7-4D07-94A6-E194CD1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Contenido y predicciones fuera del entrenamiento</a:t>
            </a:r>
          </a:p>
        </p:txBody>
      </p:sp>
      <p:sp>
        <p:nvSpPr>
          <p:cNvPr id="6" name="security-left-body">
            <a:extLst xmlns:a="http://schemas.openxmlformats.org/drawingml/2006/main">
              <a:ext uri="{FF2B5EF4-FFF2-40B4-BE49-F238E27FC236}">
                <a16:creationId xmlns:a16="http://schemas.microsoft.com/office/drawing/2014/main" id="{8F62D80E-1FC6-483F-A028-DEF6EC5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Google Cloud declara que no utiliza contenido del cliente —incluidos documentos y predicciones— para entrenar sus modelos de Document AI.</a:t>
            </a:r>
          </a:p>
        </p:txBody>
      </p:sp>
      <p:sp>
        <p:nvSpPr>
          <p:cNvPr id="7" name="security-docai">
            <a:extLst xmlns:a="http://schemas.openxmlformats.org/drawingml/2006/main">
              <a:ext uri="{FF2B5EF4-FFF2-40B4-BE49-F238E27FC236}">
                <a16:creationId xmlns:a16="http://schemas.microsoft.com/office/drawing/2014/main" id="{82EB888E-BF10-432F-BFF6-71068519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Política oficial: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a99f7af178ae42fd"/>
              </a:rPr>
              <a:t>Document AI Security ↗</a:t>
            </a:r>
          </a:p>
        </p:txBody>
      </p:sp>
      <p:sp>
        <p:nvSpPr>
          <p:cNvPr id="8" name="security-dpa">
            <a:extLst xmlns:a="http://schemas.openxmlformats.org/drawingml/2006/main">
              <a:ext uri="{FF2B5EF4-FFF2-40B4-BE49-F238E27FC236}">
                <a16:creationId xmlns:a16="http://schemas.microsoft.com/office/drawing/2014/main" id="{A253DB7F-AD00-446B-A228-89AD575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Términos de tratamiento: </a:t>
            </a:r>
            <a:r>
              <a:rPr sz="1200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11b3a770d2544b39"/>
              </a:rPr>
              <a:t>Cloud DPA ↗</a:t>
            </a:r>
          </a:p>
        </p:txBody>
      </p:sp>
      <p:sp>
        <p:nvSpPr>
          <p:cNvPr id="9" name="security-divider">
            <a:extLst xmlns:a="http://schemas.openxmlformats.org/drawingml/2006/main">
              <a:ext uri="{FF2B5EF4-FFF2-40B4-BE49-F238E27FC236}">
                <a16:creationId xmlns:a16="http://schemas.microsoft.com/office/drawing/2014/main" id="{B1D841E4-4F24-4B83-A921-DF173744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95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urity-right-label">
            <a:extLst xmlns:a="http://schemas.openxmlformats.org/drawingml/2006/main">
              <a:ext uri="{FF2B5EF4-FFF2-40B4-BE49-F238E27FC236}">
                <a16:creationId xmlns:a16="http://schemas.microsoft.com/office/drawing/2014/main" id="{A33E1B86-95B5-4B92-A075-B1C24BB7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CONFIGURACIÓN DEL PoC</a:t>
            </a:r>
          </a:p>
        </p:txBody>
      </p:sp>
      <p:sp>
        <p:nvSpPr>
          <p:cNvPr id="11" name="sec-n-0">
            <a:extLst xmlns:a="http://schemas.openxmlformats.org/drawingml/2006/main">
              <a:ext uri="{FF2B5EF4-FFF2-40B4-BE49-F238E27FC236}">
                <a16:creationId xmlns:a16="http://schemas.microsoft.com/office/drawing/2014/main" id="{62484EDC-9E3E-4125-B2B1-DC90B15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sec-title-0">
            <a:extLst xmlns:a="http://schemas.openxmlformats.org/drawingml/2006/main">
              <a:ext uri="{FF2B5EF4-FFF2-40B4-BE49-F238E27FC236}">
                <a16:creationId xmlns:a16="http://schemas.microsoft.com/office/drawing/2014/main" id="{01208F1F-8679-458E-B277-6EC565E3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Procesamiento temporal</a:t>
            </a:r>
          </a:p>
        </p:txBody>
      </p:sp>
      <p:sp>
        <p:nvSpPr>
          <p:cNvPr id="13" name="sec-body-0">
            <a:extLst xmlns:a="http://schemas.openxmlformats.org/drawingml/2006/main">
              <a:ext uri="{FF2B5EF4-FFF2-40B4-BE49-F238E27FC236}">
                <a16:creationId xmlns:a16="http://schemas.microsoft.com/office/drawing/2014/main" id="{73D8E9E1-B8BF-4C74-852C-109B9CB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aplicación no guarda una copia del PDF en base de datos ni bucket.</a:t>
            </a:r>
          </a:p>
        </p:txBody>
      </p:sp>
      <p:sp>
        <p:nvSpPr>
          <p:cNvPr id="14" name="sec-n-1">
            <a:extLst xmlns:a="http://schemas.openxmlformats.org/drawingml/2006/main">
              <a:ext uri="{FF2B5EF4-FFF2-40B4-BE49-F238E27FC236}">
                <a16:creationId xmlns:a16="http://schemas.microsoft.com/office/drawing/2014/main" id="{DDED2198-111F-48BF-8C6F-5B51C4BF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sec-title-1">
            <a:extLst xmlns:a="http://schemas.openxmlformats.org/drawingml/2006/main">
              <a:ext uri="{FF2B5EF4-FFF2-40B4-BE49-F238E27FC236}">
                <a16:creationId xmlns:a16="http://schemas.microsoft.com/office/drawing/2014/main" id="{C7FF388D-50FA-4BCF-9B3E-C8A13E9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Cloud Run efímero</a:t>
            </a:r>
          </a:p>
        </p:txBody>
      </p:sp>
      <p:sp>
        <p:nvSpPr>
          <p:cNvPr id="16" name="sec-body-1">
            <a:extLst xmlns:a="http://schemas.openxmlformats.org/drawingml/2006/main">
              <a:ext uri="{FF2B5EF4-FFF2-40B4-BE49-F238E27FC236}">
                <a16:creationId xmlns:a16="http://schemas.microsoft.com/office/drawing/2014/main" id="{B58E8016-644D-4B1D-B688-4531E10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9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9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sistema de archivos opera en memoria y no persiste al detener la instancia.</a:t>
            </a:r>
          </a:p>
        </p:txBody>
      </p:sp>
      <p:sp>
        <p:nvSpPr>
          <p:cNvPr id="17" name="sec-n-2">
            <a:extLst xmlns:a="http://schemas.openxmlformats.org/drawingml/2006/main">
              <a:ext uri="{FF2B5EF4-FFF2-40B4-BE49-F238E27FC236}">
                <a16:creationId xmlns:a16="http://schemas.microsoft.com/office/drawing/2014/main" id="{D8B9F6CB-9DD9-469F-BDE7-83E2160C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ec-title-2">
            <a:extLst xmlns:a="http://schemas.openxmlformats.org/drawingml/2006/main">
              <a:ext uri="{FF2B5EF4-FFF2-40B4-BE49-F238E27FC236}">
                <a16:creationId xmlns:a16="http://schemas.microsoft.com/office/drawing/2014/main" id="{A492F32C-DB28-499F-B9FF-E0AFC278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0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Credenciales fuera del código</a:t>
            </a:r>
          </a:p>
        </p:txBody>
      </p:sp>
      <p:sp>
        <p:nvSpPr>
          <p:cNvPr id="19" name="sec-body-2">
            <a:extLst xmlns:a="http://schemas.openxmlformats.org/drawingml/2006/main">
              <a:ext uri="{FF2B5EF4-FFF2-40B4-BE49-F238E27FC236}">
                <a16:creationId xmlns:a16="http://schemas.microsoft.com/office/drawing/2014/main" id="{704DA74E-A2F0-4B84-AE9C-C2FB1F3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Las claves se administran mediante Secret Manager.</a:t>
            </a:r>
          </a:p>
        </p:txBody>
      </p:sp>
      <p:sp>
        <p:nvSpPr>
          <p:cNvPr id="20" name="sec-n-3">
            <a:extLst xmlns:a="http://schemas.openxmlformats.org/drawingml/2006/main">
              <a:ext uri="{FF2B5EF4-FFF2-40B4-BE49-F238E27FC236}">
                <a16:creationId xmlns:a16="http://schemas.microsoft.com/office/drawing/2014/main" id="{7B6B1959-C62B-4E05-9A6C-926B87C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81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sec-title-3">
            <a:extLst xmlns:a="http://schemas.openxmlformats.org/drawingml/2006/main">
              <a:ext uri="{FF2B5EF4-FFF2-40B4-BE49-F238E27FC236}">
                <a16:creationId xmlns:a16="http://schemas.microsoft.com/office/drawing/2014/main" id="{8496BBFA-3646-44DC-8CBC-8924CEDE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Acceso restringido</a:t>
            </a:r>
          </a:p>
        </p:txBody>
      </p:sp>
      <p:sp>
        <p:nvSpPr>
          <p:cNvPr id="22" name="sec-body-3">
            <a:extLst xmlns:a="http://schemas.openxmlformats.org/drawingml/2006/main">
              <a:ext uri="{FF2B5EF4-FFF2-40B4-BE49-F238E27FC236}">
                <a16:creationId xmlns:a16="http://schemas.microsoft.com/office/drawing/2014/main" id="{38428F9D-BA83-4706-8E9C-1A42CB4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815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Demo, PoC y business case requieren contraseña.</a:t>
            </a:r>
          </a:p>
        </p:txBody>
      </p:sp>
      <p:sp>
        <p:nvSpPr>
          <p:cNvPr id="23" name="security-cloudrun">
            <a:extLst xmlns:a="http://schemas.openxmlformats.org/drawingml/2006/main">
              <a:ext uri="{FF2B5EF4-FFF2-40B4-BE49-F238E27FC236}">
                <a16:creationId xmlns:a16="http://schemas.microsoft.com/office/drawing/2014/main" id="{BD280B3D-A38E-4F5D-8596-F43C94A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911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3677C"/>
                </a:solidFill>
                <a:latin typeface="Aptos"/>
                <a:ea typeface="Aptos"/>
                <a:cs typeface="Aptos"/>
              </a:rPr>
              <a:t>Referencia: </a:t>
            </a:r>
            <a:r>
              <a:rPr sz="1125" b="1" u="sng">
                <a:solidFill>
                  <a:srgbClr val="53677C"/>
                </a:solidFill>
                <a:latin typeface="Aptos"/>
                <a:ea typeface="Aptos"/>
                <a:cs typeface="Aptos"/>
                <a:hlinkClick xmlns:r="http://schemas.openxmlformats.org/officeDocument/2006/relationships" r:id="R289bced7c46447df"/>
              </a:rPr>
              <a:t>Cloud Run container contract ↗</a:t>
            </a:r>
          </a:p>
        </p:txBody>
      </p:sp>
      <p:sp>
        <p:nvSpPr>
          <p:cNvPr id="24" name="security-disclaimer">
            <a:extLst xmlns:a="http://schemas.openxmlformats.org/drawingml/2006/main">
              <a:ext uri="{FF2B5EF4-FFF2-40B4-BE49-F238E27FC236}">
                <a16:creationId xmlns:a16="http://schemas.microsoft.com/office/drawing/2014/main" id="{5C4BC0DF-F464-417B-888A-3C925794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7C8A99"/>
                </a:solidFill>
                <a:latin typeface="Aptos"/>
                <a:ea typeface="Aptos"/>
                <a:cs typeface="Aptos"/>
              </a:rPr>
              <a:t>“Sin persistencia” describe esta aplicación. Google Cloud puede tratar datos operativos conforme a sus términos y políticas aplicables.</a:t>
            </a:r>
          </a:p>
        </p:txBody>
      </p:sp>
      <p:sp>
        <p:nvSpPr>
          <p:cNvPr id="25" name="footer-note-8">
            <a:extLst xmlns:a="http://schemas.openxmlformats.org/drawingml/2006/main">
              <a:ext uri="{FF2B5EF4-FFF2-40B4-BE49-F238E27FC236}">
                <a16:creationId xmlns:a16="http://schemas.microsoft.com/office/drawing/2014/main" id="{83C8D12A-342E-4D95-BA98-D289B11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2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5A9B462-0D6B-4388-8A39-1172F27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7181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8F0344A5-7657-4388-87E9-6E2A9D7F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CAMINO A DECISIÓN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FEA7F6C-2770-404F-A4F3-69850B4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Una muestra controlada convierte el caso genérico en un business case propio.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ED9B0BE8-293D-4741-B809-688498B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main">
            <a:extLst xmlns:a="http://schemas.openxmlformats.org/drawingml/2006/main">
              <a:ext uri="{FF2B5EF4-FFF2-40B4-BE49-F238E27FC236}">
                <a16:creationId xmlns:a16="http://schemas.microsoft.com/office/drawing/2014/main" id="{28DFEDE3-0BAD-4BBD-9AC1-9425D761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DE40AB95-DBA0-4BC7-8966-8CCD972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28B"/>
          </a:solidFill>
          <a:ln xmlns:a="http://schemas.openxmlformats.org/drawingml/2006/main" w="19050">
            <a:solidFill>
              <a:srgbClr val="1B728B"/>
            </a:solidFill>
            <a:prstDash val="solid"/>
          </a:ln>
        </p:spPr>
      </p: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187E616-2B65-449F-BF61-E1C8FCF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7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6640980E-1056-43D2-8E9F-B7A59F6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8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4E4BA4DC-7DB8-4234-931D-A02055E8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0E8"/>
            </a:solidFill>
            <a:prstDash val="solid"/>
          </a:ln>
        </p:spPr>
      </p:sp>
      <p:sp>
        <p:nvSpPr>
          <p:cNvPr id="9" name="stage-1-n">
            <a:extLst xmlns:a="http://schemas.openxmlformats.org/drawingml/2006/main">
              <a:ext uri="{FF2B5EF4-FFF2-40B4-BE49-F238E27FC236}">
                <a16:creationId xmlns:a16="http://schemas.microsoft.com/office/drawing/2014/main" id="{00AA1893-FA81-42A9-8D1D-D649998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90 minutos</a:t>
            </a:r>
          </a:p>
        </p:txBody>
      </p:sp>
      <p:sp>
        <p:nvSpPr>
          <p:cNvPr id="10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25AAC86D-AECB-4EAC-B947-CB4A3273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Discovery ejecutivo</a:t>
            </a:r>
          </a:p>
        </p:txBody>
      </p:sp>
      <p:sp>
        <p:nvSpPr>
          <p:cNvPr id="1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3ACF0F21-EE43-44C0-BC4D-64E34E77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Volumen, tiempos, excepciones, sistemas y controles prioritarios.</a:t>
            </a:r>
          </a:p>
        </p:txBody>
      </p:sp>
      <p:sp>
        <p:nvSpPr>
          <p:cNvPr id="12" name="stage-2-n">
            <a:extLst xmlns:a="http://schemas.openxmlformats.org/drawingml/2006/main">
              <a:ext uri="{FF2B5EF4-FFF2-40B4-BE49-F238E27FC236}">
                <a16:creationId xmlns:a16="http://schemas.microsoft.com/office/drawing/2014/main" id="{FDA2A4A4-58ED-4B65-9BF3-564C5D9C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33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muestra</a:t>
            </a:r>
          </a:p>
        </p:txBody>
      </p:sp>
      <p:sp>
        <p:nvSpPr>
          <p:cNvPr id="13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52CB978D-8D1D-4DAF-B5A5-E50D8BA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671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Validación controlada</a:t>
            </a:r>
          </a:p>
        </p:txBody>
      </p:sp>
      <p:sp>
        <p:nvSpPr>
          <p:cNvPr id="14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4AC87E96-CE77-4587-8493-69E6DCAB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14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Documentos representativos, calidad de extracción y rutas de excepción.</a:t>
            </a:r>
          </a:p>
        </p:txBody>
      </p:sp>
      <p:sp>
        <p:nvSpPr>
          <p:cNvPr id="15" name="stage-3-n">
            <a:extLst xmlns:a="http://schemas.openxmlformats.org/drawingml/2006/main">
              <a:ext uri="{FF2B5EF4-FFF2-40B4-BE49-F238E27FC236}">
                <a16:creationId xmlns:a16="http://schemas.microsoft.com/office/drawing/2014/main" id="{6B78025E-F7DC-4FFD-9553-3DA78366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diseño</a:t>
            </a:r>
          </a:p>
        </p:txBody>
      </p:sp>
      <p:sp>
        <p:nvSpPr>
          <p:cNvPr id="16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311645B-9CE2-41FC-9C6D-80A2285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Caso e integración</a:t>
            </a:r>
          </a:p>
        </p:txBody>
      </p:sp>
      <p:sp>
        <p:nvSpPr>
          <p:cNvPr id="17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BC9CDC20-982C-41C3-A812-D1F9939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ROI validado, arquitectura objetivo, responsabilidades y alcance.</a:t>
            </a:r>
          </a:p>
        </p:txBody>
      </p:sp>
      <p:sp>
        <p:nvSpPr>
          <p:cNvPr id="18" name="stage-4-n">
            <a:extLst xmlns:a="http://schemas.openxmlformats.org/drawingml/2006/main">
              <a:ext uri="{FF2B5EF4-FFF2-40B4-BE49-F238E27FC236}">
                <a16:creationId xmlns:a16="http://schemas.microsoft.com/office/drawing/2014/main" id="{894E0E04-477F-4B87-A112-AE01034E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piloto</a:t>
            </a:r>
          </a:p>
        </p:txBody>
      </p:sp>
      <p:sp>
        <p:nvSpPr>
          <p:cNvPr id="1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DD1DDE60-7053-48CC-B9E2-BF77235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671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Decisión informada</a:t>
            </a:r>
          </a:p>
        </p:txBody>
      </p:sp>
      <p:sp>
        <p:nvSpPr>
          <p:cNvPr id="2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16FFB0C4-8B02-41F2-A8E4-015A19F5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148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Criterios de éxito, plan de despliegue y gobierno operativo.</a:t>
            </a:r>
          </a:p>
        </p:txBody>
      </p:sp>
      <p:sp>
        <p:nvSpPr>
          <p:cNvPr id="21" name="timeline-live">
            <a:extLst xmlns:a="http://schemas.openxmlformats.org/drawingml/2006/main">
              <a:ext uri="{FF2B5EF4-FFF2-40B4-BE49-F238E27FC236}">
                <a16:creationId xmlns:a16="http://schemas.microsoft.com/office/drawing/2014/main" id="{2B392AF9-0521-4B67-80B3-AE382FF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Disponible hoy: demo guiada + PoC con documentos</a:t>
            </a:r>
          </a:p>
        </p:txBody>
      </p:sp>
      <p:sp>
        <p:nvSpPr>
          <p:cNvPr id="22" name="timeline-principle">
            <a:extLst xmlns:a="http://schemas.openxmlformats.org/drawingml/2006/main">
              <a:ext uri="{FF2B5EF4-FFF2-40B4-BE49-F238E27FC236}">
                <a16:creationId xmlns:a16="http://schemas.microsoft.com/office/drawing/2014/main" id="{CBA3F4DE-5FB6-4D2A-8DCE-12D00AE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150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87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integración productiva se define después de validar el caso, no antes.</a:t>
            </a:r>
          </a:p>
        </p:txBody>
      </p:sp>
      <p:sp>
        <p:nvSpPr>
          <p:cNvPr id="23" name="footer-note-9">
            <a:extLst xmlns:a="http://schemas.openxmlformats.org/drawingml/2006/main">
              <a:ext uri="{FF2B5EF4-FFF2-40B4-BE49-F238E27FC236}">
                <a16:creationId xmlns:a16="http://schemas.microsoft.com/office/drawing/2014/main" id="{4D21B169-9084-4BA7-8D9E-B4ECA7A4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Business Case privado · Información comercial confidencial</a:t>
            </a:r>
          </a:p>
        </p:txBody>
      </p:sp>
      <p:sp>
        <p:nvSpPr>
          <p:cNvPr id="2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FA587D60-41D1-45FE-B97A-8F393AC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1961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41B73E31-1C0F-4F2F-AC37-E1BB4F1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PRÓXIMO PASO RECOMENDADO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D612C7A-14D8-47D6-8C75-A405CFE5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 de 90 minutos + muestra controlada de documentos</a:t>
            </a:r>
          </a:p>
        </p:txBody>
      </p:sp>
      <p:sp>
        <p:nvSpPr>
          <p:cNvPr id="3" name="closing-sub">
            <a:extLst xmlns:a="http://schemas.openxmlformats.org/drawingml/2006/main">
              <a:ext uri="{FF2B5EF4-FFF2-40B4-BE49-F238E27FC236}">
                <a16:creationId xmlns:a16="http://schemas.microsoft.com/office/drawing/2014/main" id="{27C873CE-8F73-43E2-B186-D713F56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Validamos el caso económico, los controles prioritarios y el alcance de integración con datos del cliente.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2D52290-448C-4E4E-97E5-780BF3E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microsite">
            <a:extLst xmlns:a="http://schemas.openxmlformats.org/drawingml/2006/main">
              <a:ext uri="{FF2B5EF4-FFF2-40B4-BE49-F238E27FC236}">
                <a16:creationId xmlns:a16="http://schemas.microsoft.com/office/drawing/2014/main" id="{5D3A179F-B604-4468-826F-EAB7D42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</a:rPr>
              <a:t>Business case: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9187ca86dec747af"/>
              </a:rPr>
              <a:t>abrir micrositio ↗</a:t>
            </a:r>
          </a:p>
        </p:txBody>
      </p:sp>
      <p:sp>
        <p:nvSpPr>
          <p:cNvPr id="6" name="closing-demo">
            <a:extLst xmlns:a="http://schemas.openxmlformats.org/drawingml/2006/main">
              <a:ext uri="{FF2B5EF4-FFF2-40B4-BE49-F238E27FC236}">
                <a16:creationId xmlns:a16="http://schemas.microsoft.com/office/drawing/2014/main" id="{A28B67BB-AA68-4D2F-BFBF-973D1B01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</a:rPr>
              <a:t>Demo guiada: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121596cadfef4a02"/>
              </a:rPr>
              <a:t>abrir experiencia ↗</a:t>
            </a:r>
          </a:p>
        </p:txBody>
      </p:sp>
      <p:sp>
        <p:nvSpPr>
          <p:cNvPr id="7" name="closing-poc">
            <a:extLst xmlns:a="http://schemas.openxmlformats.org/drawingml/2006/main">
              <a:ext uri="{FF2B5EF4-FFF2-40B4-BE49-F238E27FC236}">
                <a16:creationId xmlns:a16="http://schemas.microsoft.com/office/drawing/2014/main" id="{1C2C5E0D-C9A2-4A72-8474-1F1D8D0B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</a:rPr>
              <a:t>PoC con documentos: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e64261e4812c4715"/>
              </a:rPr>
              <a:t>abrir prueba ↗</a:t>
            </a:r>
          </a:p>
        </p:txBody>
      </p:sp>
      <p:sp>
        <p:nvSpPr>
          <p:cNvPr id="8" name="closing-access">
            <a:extLst xmlns:a="http://schemas.openxmlformats.org/drawingml/2006/main">
              <a:ext uri="{FF2B5EF4-FFF2-40B4-BE49-F238E27FC236}">
                <a16:creationId xmlns:a16="http://schemas.microsoft.com/office/drawing/2014/main" id="{F42FABA7-B6E4-478D-A62B-58BA4F0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95A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F95AA"/>
                </a:solidFill>
                <a:latin typeface="Aptos"/>
                <a:ea typeface="Aptos"/>
                <a:cs typeface="Aptos"/>
              </a:rPr>
              <a:t>Accesos protegidos con contraseña · solicitar la clave al equipo</a:t>
            </a:r>
          </a:p>
        </p:txBody>
      </p:sp>
      <p:sp>
        <p:nvSpPr>
          <p:cNvPr id="9" name="closing-contact-label">
            <a:extLst xmlns:a="http://schemas.openxmlformats.org/drawingml/2006/main">
              <a:ext uri="{FF2B5EF4-FFF2-40B4-BE49-F238E27FC236}">
                <a16:creationId xmlns:a16="http://schemas.microsoft.com/office/drawing/2014/main" id="{AFDC3304-E7DE-41DB-B137-716DA5B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CONTACTOS COMERCIALES</a:t>
            </a:r>
          </a:p>
        </p:txBody>
      </p:sp>
      <p:sp>
        <p:nvSpPr>
          <p:cNvPr id="10" name="closing-mariana">
            <a:extLst xmlns:a="http://schemas.openxmlformats.org/drawingml/2006/main">
              <a:ext uri="{FF2B5EF4-FFF2-40B4-BE49-F238E27FC236}">
                <a16:creationId xmlns:a16="http://schemas.microsoft.com/office/drawing/2014/main" id="{22FA17D6-11F4-4A8B-8E21-AEE6AC3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AFC0D1"/>
                </a:solidFill>
                <a:latin typeface="Aptos"/>
                <a:ea typeface="Aptos"/>
                <a:cs typeface="Aptos"/>
              </a:rPr>
              <a:t/>
            </a:r>
            <a:r>
              <a:rPr sz="1575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343f29a39ad143ef"/>
              </a:rPr>
              <a:t>Mariana Soledad Giordano ↗</a:t>
            </a:r>
          </a:p>
        </p:txBody>
      </p:sp>
      <p:sp>
        <p:nvSpPr>
          <p:cNvPr id="11" name="closing-nicolas">
            <a:extLst xmlns:a="http://schemas.openxmlformats.org/drawingml/2006/main">
              <a:ext uri="{FF2B5EF4-FFF2-40B4-BE49-F238E27FC236}">
                <a16:creationId xmlns:a16="http://schemas.microsoft.com/office/drawing/2014/main" id="{1C45CF35-3E28-42F3-ACFA-4D9F2E0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AFC0D1"/>
                </a:solidFill>
                <a:latin typeface="Aptos"/>
                <a:ea typeface="Aptos"/>
                <a:cs typeface="Aptos"/>
              </a:rPr>
              <a:t/>
            </a:r>
            <a:r>
              <a:rPr sz="1575" b="1" u="sng">
                <a:solidFill>
                  <a:srgbClr val="AFC0D1"/>
                </a:solidFill>
                <a:latin typeface="Aptos"/>
                <a:ea typeface="Aptos"/>
                <a:cs typeface="Aptos"/>
                <a:hlinkClick xmlns:r="http://schemas.openxmlformats.org/officeDocument/2006/relationships" r:id="R7e58b2cc1a154e0c"/>
              </a:rPr>
              <a:t>Nicolas M Amato ↗</a:t>
            </a:r>
          </a:p>
        </p:txBody>
      </p:sp>
      <p:sp>
        <p:nvSpPr>
          <p:cNvPr id="12" name="footer-note-10">
            <a:extLst xmlns:a="http://schemas.openxmlformats.org/drawingml/2006/main">
              <a:ext uri="{FF2B5EF4-FFF2-40B4-BE49-F238E27FC236}">
                <a16:creationId xmlns:a16="http://schemas.microsoft.com/office/drawing/2014/main" id="{47B7B137-96CC-47A7-9904-B5BA493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Business Case privado</a:t>
            </a:r>
          </a:p>
        </p:txBody>
      </p:sp>
      <p:sp>
        <p:nvSpPr>
          <p:cNvPr id="13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2BF9B09-9D14-40F8-9C2D-FA69F65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5135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2026-07-15T18:24:01.6510000Z</dcterms:created>
  <dcterms:modified xsi:type="dcterms:W3CDTF">2026-07-15T18:24:01.6510000Z</dcterms:modified>
</coreProperties>
</file>